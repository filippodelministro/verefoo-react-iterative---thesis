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68" r:id="rId5"/>
    <p:sldId id="272" r:id="rId6"/>
    <p:sldId id="261" r:id="rId7"/>
    <p:sldId id="262" r:id="rId8"/>
    <p:sldId id="270" r:id="rId9"/>
    <p:sldId id="264" r:id="rId10"/>
    <p:sldId id="269" r:id="rId11"/>
    <p:sldId id="271" r:id="rId12"/>
    <p:sldId id="267" r:id="rId13"/>
    <p:sldId id="273"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596"/>
    <p:restoredTop sz="64110"/>
  </p:normalViewPr>
  <p:slideViewPr>
    <p:cSldViewPr snapToGrid="0" snapToObjects="1">
      <p:cViewPr varScale="1">
        <p:scale>
          <a:sx n="79" d="100"/>
          <a:sy n="79" d="100"/>
        </p:scale>
        <p:origin x="63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6646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thank you for being here. My name is Filippo Del Ministro and today I'll present my thesis, "An Incremental Approach to Automatic Firewall Configuration," supervised by professors Fulvio Valenza, Daniele Bringhenti, Francesco Pizzato, and Riccardo Sisto.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context. Modern networks are complex, and the growing complexity is the reason why security is shifting from a single perimeter firewall to a distributed approach, namely micro segmentation.</a:t>
            </a:r>
          </a:p>
          <a:p>
            <a:r>
              <a:rPr lang="en-US" dirty="0"/>
              <a:t>This shift brings well-known benefits: finer-grained control over traffic, containment of lateral movement if one segment is compromised, and policies tailored to each part of the network — for instance, a stricter policy for the data centre than for a general office segment. But it also complicates configuration: there are more firewall instances to manage, and if that configuration is kept manual, it becomes error-prone and offers no guarantee of correctness — a single mistake can silently violate a security requirement, or block legitimate traffic.</a:t>
            </a:r>
          </a:p>
          <a:p>
            <a:endParaRPr lang="en-US" dirty="0"/>
          </a:p>
          <a:p>
            <a:r>
              <a:rPr lang="en-US" dirty="0"/>
              <a:t>- Context; we are talking about securing IT network</a:t>
            </a:r>
          </a:p>
          <a:p>
            <a:pPr marL="171450" indent="-171450">
              <a:buFontTx/>
              <a:buChar char="-"/>
            </a:pPr>
            <a:r>
              <a:rPr lang="en-IT" dirty="0"/>
              <a:t>Modern networks are complex → shift from perimeter firewall to microsegmentation</a:t>
            </a:r>
          </a:p>
          <a:p>
            <a:pPr marL="171450" indent="-171450">
              <a:buFontTx/>
              <a:buChar char="-"/>
            </a:pPr>
            <a:r>
              <a:rPr lang="en-IT" dirty="0"/>
              <a:t>Distributed firewalls brings benefits (finer control, lateral-movement containment, per-segment policies) </a:t>
            </a:r>
          </a:p>
          <a:p>
            <a:pPr marL="628650" lvl="1" indent="-171450">
              <a:buFontTx/>
              <a:buChar char="-"/>
            </a:pPr>
            <a:r>
              <a:rPr lang="en-GB" dirty="0"/>
              <a:t>E</a:t>
            </a:r>
            <a:r>
              <a:rPr lang="en-IT" dirty="0"/>
              <a:t>xample: stricter policies for data centre or general office segment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IT" dirty="0"/>
              <a:t>but also new challenges </a:t>
            </a:r>
            <a:r>
              <a:rPr lang="en-US" dirty="0"/>
              <a:t>=&gt; error in configuration can cause malfunctions such as blocking legitimate traffic or worse, allowing illegitimate traffic</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T" dirty="0"/>
              <a:t>In this context, help network administrators manage their network without configuration errors. VEREFOO is an automated tools for firewall placement and configuration</a:t>
            </a:r>
            <a:endParaRPr lang="en-US" dirty="0"/>
          </a:p>
          <a:p>
            <a:r>
              <a:rPr lang="en-IT" dirty="0"/>
              <a:t>VEREFOO takes two inputs: the network topology, formally described through a Service Graph — its nodes and links — and a set of Network Security Requirements, the NSRs, which describe which traffic flows must be allowed or denied</a:t>
            </a:r>
            <a:endParaRPr lang="en-US" dirty="0"/>
          </a:p>
          <a:p>
            <a:r>
              <a:rPr lang="en-IT" dirty="0"/>
              <a:t>From these, it produces two outputs: a firewall allocation scheme, meaning where the firewalls are placed in the topology, and a filtering policy for each firewall, meaning how to configure it to properly enforce the security requirements.</a:t>
            </a:r>
            <a:endParaRPr lang="en-US" dirty="0"/>
          </a:p>
          <a:p>
            <a:r>
              <a:rPr lang="en-IT" dirty="0"/>
              <a:t>VEREFOO guarantees optimality — minimizing the number of firewalls and configuration rules — and formal correctness: every requirement is guaranteed to be enforced. </a:t>
            </a:r>
            <a:endParaRPr lang="en-US" dirty="0"/>
          </a:p>
          <a:p>
            <a:r>
              <a:rPr lang="en-IT" dirty="0"/>
              <a:t>The main limitation of a tool built this way is that it doesn't handle change well: modern networks are dynamic, with nodes added and removed and traffic requirements evolving continuously. The original version of VEREFOO does not address this probel at all, re-computing the new configuration from scratch every time a novel security requirement is added, </a:t>
            </a:r>
            <a:endParaRPr lang="en-US" dirty="0"/>
          </a:p>
          <a:p>
            <a:endParaRPr lang="en-US"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b="0" kern="1200" dirty="0">
                <a:solidFill>
                  <a:srgbClr val="232A4D"/>
                </a:solidFill>
                <a:effectLst/>
                <a:latin typeface="Calibri" pitchFamily="34" charset="0"/>
                <a:ea typeface="+mn-ea"/>
                <a:cs typeface="Calibri" pitchFamily="34" charset="-120"/>
              </a:rPr>
              <a:t>-----------------------------</a:t>
            </a:r>
          </a:p>
          <a:p>
            <a:endParaRPr lang="en-US" dirty="0"/>
          </a:p>
          <a:p>
            <a:pPr marL="171450" indent="-171450">
              <a:buFontTx/>
              <a:buChar char="-"/>
            </a:pPr>
            <a:r>
              <a:rPr lang="en-IT" sz="1200" b="0" kern="1200" dirty="0">
                <a:solidFill>
                  <a:schemeClr val="tx1"/>
                </a:solidFill>
                <a:effectLst/>
                <a:latin typeface="+mn-lt"/>
                <a:ea typeface="+mn-ea"/>
                <a:cs typeface="+mn-cs"/>
              </a:rPr>
              <a:t>In this context, automated tools for FW placement and configuration, such as VEREFOO, can help network admin to administrate their network without any configuration errors.</a:t>
            </a:r>
          </a:p>
          <a:p>
            <a:pPr marL="171450" indent="-171450">
              <a:buFontTx/>
              <a:buChar char="-"/>
            </a:pPr>
            <a:r>
              <a:rPr lang="en-IT" sz="1200" b="0" kern="1200" dirty="0">
                <a:solidFill>
                  <a:schemeClr val="tx1"/>
                </a:solidFill>
                <a:effectLst/>
                <a:latin typeface="+mn-lt"/>
                <a:ea typeface="+mn-ea"/>
                <a:cs typeface="+mn-cs"/>
              </a:rPr>
              <a:t>VEREFOO ipnut:</a:t>
            </a:r>
          </a:p>
          <a:p>
            <a:pPr marL="628650" lvl="1" indent="-171450">
              <a:buFontTx/>
              <a:buChar char="-"/>
            </a:pPr>
            <a:r>
              <a:rPr lang="en-IT" sz="1200" b="0" kern="1200" dirty="0">
                <a:solidFill>
                  <a:schemeClr val="tx1"/>
                </a:solidFill>
                <a:effectLst/>
                <a:latin typeface="+mn-lt"/>
                <a:ea typeface="+mn-ea"/>
                <a:cs typeface="+mn-cs"/>
              </a:rPr>
              <a:t>Netowrk topology =&gt; through a Service Graph which describe the topology of the network (nodes and links)</a:t>
            </a:r>
          </a:p>
          <a:p>
            <a:pPr marL="628650" lvl="1" indent="-171450">
              <a:buFontTx/>
              <a:buChar char="-"/>
            </a:pPr>
            <a:r>
              <a:rPr lang="en-IT" sz="1200" b="0" kern="1200" dirty="0">
                <a:solidFill>
                  <a:schemeClr val="tx1"/>
                </a:solidFill>
                <a:effectLst/>
                <a:latin typeface="+mn-lt"/>
                <a:ea typeface="+mn-ea"/>
                <a:cs typeface="+mn-cs"/>
              </a:rPr>
              <a:t>Security Requirements =&gt; called NSRs in the tool and in the following slides: </a:t>
            </a:r>
            <a:r>
              <a:rPr lang="en-US" sz="1200" dirty="0">
                <a:solidFill>
                  <a:srgbClr val="232A4D"/>
                </a:solidFill>
                <a:latin typeface="Calibri" pitchFamily="34" charset="0"/>
                <a:ea typeface="Calibri" pitchFamily="34" charset="-122"/>
                <a:cs typeface="Calibri" pitchFamily="34" charset="-120"/>
              </a:rPr>
              <a:t>which traffic flows must be allowed or denied</a:t>
            </a:r>
          </a:p>
          <a:p>
            <a:pPr marL="171450" lvl="0" indent="-171450">
              <a:buFontTx/>
              <a:buChar char="-"/>
            </a:pPr>
            <a:r>
              <a:rPr lang="en-US" sz="1200" b="0" kern="1200" dirty="0">
                <a:solidFill>
                  <a:srgbClr val="232A4D"/>
                </a:solidFill>
                <a:effectLst/>
                <a:latin typeface="Calibri" pitchFamily="34" charset="0"/>
                <a:ea typeface="+mn-ea"/>
                <a:cs typeface="Calibri" pitchFamily="34" charset="-120"/>
              </a:rPr>
              <a:t>VEREFOOO Output: </a:t>
            </a:r>
          </a:p>
          <a:p>
            <a:pPr marL="628650" lvl="1" indent="-171450">
              <a:buFontTx/>
              <a:buChar char="-"/>
            </a:pPr>
            <a:r>
              <a:rPr lang="en-US" sz="1200" b="0" kern="1200" dirty="0">
                <a:solidFill>
                  <a:srgbClr val="232A4D"/>
                </a:solidFill>
                <a:effectLst/>
                <a:latin typeface="Calibri" pitchFamily="34" charset="0"/>
                <a:ea typeface="+mn-ea"/>
                <a:cs typeface="Calibri" pitchFamily="34" charset="-120"/>
              </a:rPr>
              <a:t>Firewall allocation schema =&gt; meaning where Firewall are allocated in the topology</a:t>
            </a:r>
          </a:p>
          <a:p>
            <a:pPr marL="628650" lvl="1" indent="-171450">
              <a:buFontTx/>
              <a:buChar char="-"/>
            </a:pPr>
            <a:r>
              <a:rPr lang="en-US" sz="1200" b="0" kern="1200" dirty="0">
                <a:solidFill>
                  <a:srgbClr val="232A4D"/>
                </a:solidFill>
                <a:effectLst/>
                <a:latin typeface="Calibri" pitchFamily="34" charset="0"/>
                <a:ea typeface="+mn-ea"/>
                <a:cs typeface="Calibri" pitchFamily="34" charset="-120"/>
              </a:rPr>
              <a:t>Filtering policies per FW =&gt; meaning how to configure those FW to properly enforce the security requirements</a:t>
            </a:r>
          </a:p>
          <a:p>
            <a:pPr marL="171450" lvl="0" indent="-171450">
              <a:buFontTx/>
              <a:buChar char="-"/>
            </a:pPr>
            <a:endParaRPr lang="en-US" sz="1200" b="0" kern="1200" dirty="0">
              <a:solidFill>
                <a:srgbClr val="232A4D"/>
              </a:solidFill>
              <a:effectLst/>
              <a:latin typeface="Calibri" pitchFamily="34" charset="0"/>
              <a:ea typeface="+mn-ea"/>
              <a:cs typeface="Calibri" pitchFamily="34" charset="-120"/>
            </a:endParaRPr>
          </a:p>
          <a:p>
            <a:pPr marL="171450" lvl="0" indent="-171450">
              <a:buFontTx/>
              <a:buChar char="-"/>
            </a:pPr>
            <a:r>
              <a:rPr lang="en-US" sz="1200" b="0" kern="1200" dirty="0">
                <a:solidFill>
                  <a:srgbClr val="232A4D"/>
                </a:solidFill>
                <a:effectLst/>
                <a:latin typeface="Calibri" pitchFamily="34" charset="0"/>
                <a:ea typeface="+mn-ea"/>
                <a:cs typeface="Calibri" pitchFamily="34" charset="-120"/>
              </a:rPr>
              <a:t>VEREFOO guarantee optimality (</a:t>
            </a:r>
            <a:r>
              <a:rPr lang="en-US" sz="1200" dirty="0">
                <a:solidFill>
                  <a:srgbClr val="232A4D"/>
                </a:solidFill>
                <a:latin typeface="Calibri" pitchFamily="34" charset="0"/>
                <a:ea typeface="Calibri" pitchFamily="34" charset="-122"/>
                <a:cs typeface="Calibri" pitchFamily="34" charset="-120"/>
              </a:rPr>
              <a:t>minimizing firewalls and rules) </a:t>
            </a:r>
            <a:r>
              <a:rPr lang="en-US" sz="1200" b="0" kern="1200" dirty="0">
                <a:solidFill>
                  <a:srgbClr val="232A4D"/>
                </a:solidFill>
                <a:effectLst/>
                <a:latin typeface="Calibri" pitchFamily="34" charset="0"/>
                <a:ea typeface="+mn-ea"/>
                <a:cs typeface="Calibri" pitchFamily="34" charset="-120"/>
              </a:rPr>
              <a:t> and formal correctness (every NSR will be enforced)</a:t>
            </a:r>
          </a:p>
          <a:p>
            <a:pPr marL="171450" lvl="0" indent="-171450">
              <a:buFontTx/>
              <a:buChar char="-"/>
            </a:pPr>
            <a:endParaRPr lang="en-US" sz="1200" b="0" kern="1200" dirty="0">
              <a:solidFill>
                <a:srgbClr val="232A4D"/>
              </a:solidFill>
              <a:effectLst/>
              <a:latin typeface="Calibri" pitchFamily="34" charset="0"/>
              <a:ea typeface="+mn-ea"/>
              <a:cs typeface="Calibri" pitchFamily="34" charset="-120"/>
            </a:endParaRPr>
          </a:p>
          <a:p>
            <a:pPr marL="171450" lvl="0" indent="-171450">
              <a:buFontTx/>
              <a:buChar char="-"/>
            </a:pPr>
            <a:r>
              <a:rPr lang="en-US" sz="1200" b="0" kern="1200" dirty="0">
                <a:solidFill>
                  <a:srgbClr val="232A4D"/>
                </a:solidFill>
                <a:effectLst/>
                <a:latin typeface="Calibri" pitchFamily="34" charset="0"/>
                <a:ea typeface="+mn-ea"/>
                <a:cs typeface="Calibri" pitchFamily="34" charset="-120"/>
              </a:rPr>
              <a:t>The main limitation of this tool built like this, is that it does not handle changes while modern networks are dynamic and continuously changing (nodes are added, removed and traffic requirements change over time)</a:t>
            </a:r>
          </a:p>
          <a:p>
            <a:pPr marL="628650" lvl="1" indent="-171450">
              <a:buFontTx/>
              <a:buChar char="-"/>
            </a:pPr>
            <a:r>
              <a:rPr lang="en-US" sz="1200" b="0" kern="1200" dirty="0">
                <a:solidFill>
                  <a:srgbClr val="232A4D"/>
                </a:solidFill>
                <a:effectLst/>
                <a:latin typeface="Calibri" pitchFamily="34" charset="0"/>
                <a:ea typeface="+mn-ea"/>
                <a:cs typeface="Calibri" pitchFamily="34" charset="-120"/>
              </a:rPr>
              <a:t>It re-compute the configuration each time a novel security requirement is added.</a:t>
            </a:r>
          </a:p>
          <a:p>
            <a:pPr marL="171450" lvl="0" indent="-171450">
              <a:buFontTx/>
              <a:buChar char="-"/>
            </a:pPr>
            <a:endParaRPr lang="en-US" sz="1200" b="0" kern="1200" dirty="0">
              <a:solidFill>
                <a:srgbClr val="232A4D"/>
              </a:solidFill>
              <a:effectLst/>
              <a:latin typeface="Calibri" pitchFamily="34" charset="0"/>
              <a:ea typeface="+mn-ea"/>
              <a:cs typeface="Calibri" pitchFamily="34" charset="-120"/>
            </a:endParaRPr>
          </a:p>
          <a:p>
            <a:pPr marL="171450" lvl="0" indent="-171450">
              <a:buFontTx/>
              <a:buChar char="-"/>
            </a:pPr>
            <a:r>
              <a:rPr lang="en-US" sz="1200" b="0" kern="1200" dirty="0">
                <a:solidFill>
                  <a:srgbClr val="232A4D"/>
                </a:solidFill>
                <a:effectLst/>
                <a:latin typeface="Calibri" pitchFamily="34" charset="0"/>
                <a:ea typeface="+mn-ea"/>
                <a:cs typeface="Calibri" pitchFamily="34" charset="-120"/>
              </a:rPr>
              <a:t>-----------------------------</a:t>
            </a:r>
          </a:p>
          <a:p>
            <a:pPr marL="171450" lvl="0" indent="-171450">
              <a:buFontTx/>
              <a:buChar char="-"/>
            </a:pPr>
            <a:r>
              <a:rPr lang="en-US" sz="1200" b="0" kern="1200" dirty="0">
                <a:solidFill>
                  <a:srgbClr val="232A4D"/>
                </a:solidFill>
                <a:effectLst/>
                <a:latin typeface="Calibri" pitchFamily="34" charset="0"/>
                <a:ea typeface="+mn-ea"/>
                <a:cs typeface="Calibri" pitchFamily="34" charset="-120"/>
              </a:rPr>
              <a:t>MORE:</a:t>
            </a:r>
          </a:p>
          <a:p>
            <a:pPr marL="628650" lvl="1" indent="-171450">
              <a:buFontTx/>
              <a:buChar char="-"/>
            </a:pPr>
            <a:r>
              <a:rPr lang="en-US" sz="1200" b="0" kern="1200" dirty="0">
                <a:solidFill>
                  <a:srgbClr val="232A4D"/>
                </a:solidFill>
                <a:effectLst/>
                <a:latin typeface="Calibri" pitchFamily="34" charset="0"/>
                <a:ea typeface="+mn-ea"/>
                <a:cs typeface="Calibri" pitchFamily="34" charset="-120"/>
              </a:rPr>
              <a:t> Filtering rules are vendor independent =&gt; can be further specified to have in </a:t>
            </a:r>
            <a:r>
              <a:rPr lang="en-US" sz="1200" b="0" i="1" kern="1200" dirty="0">
                <a:solidFill>
                  <a:srgbClr val="232A4D"/>
                </a:solidFill>
                <a:effectLst/>
                <a:latin typeface="Calibri" pitchFamily="34" charset="0"/>
                <a:ea typeface="+mn-ea"/>
                <a:cs typeface="Calibri" pitchFamily="34" charset="-120"/>
              </a:rPr>
              <a:t>iptables </a:t>
            </a:r>
            <a:endParaRPr lang="en-IT" sz="1200" b="0" i="1"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2E913-FF48-E5FF-2DAB-EF2D900DF5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2F0AA8-85CE-27BE-9DDE-23C936E24F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8105FE-197F-054A-3F5C-E0FD01046A89}"/>
              </a:ext>
            </a:extLst>
          </p:cNvPr>
          <p:cNvSpPr>
            <a:spLocks noGrp="1"/>
          </p:cNvSpPr>
          <p:nvPr>
            <p:ph type="body" idx="1"/>
          </p:nvPr>
        </p:nvSpPr>
        <p:spPr/>
        <p:txBody>
          <a:bodyPr/>
          <a:lstStyle/>
          <a:p>
            <a:r>
              <a:rPr lang="en-IT" dirty="0"/>
              <a:t>VEREFOO, as we just saw, guarantees correctness and optimality by construction, but it's monolithic: any change to the NSR set triggers a full recomputation from scratch.</a:t>
            </a:r>
          </a:p>
          <a:p>
            <a:r>
              <a:rPr lang="en-IT" dirty="0"/>
              <a:t>To accommodate the dynamism of real networks, React-VEREFOO was developed: it takes an existing configuration already in place, the initial security requirements, plus a set of additional requirements, and reconfigures only the area of the network that actually needs to change.</a:t>
            </a:r>
            <a:endParaRPr lang="en-US" dirty="0"/>
          </a:p>
          <a:p>
            <a:r>
              <a:rPr lang="en-IT" dirty="0"/>
              <a:t>To do this, React-VEREFOO classifies each NSR as to-be-added, to-be-removed, or kept, and only reconfigures the firewalls that fall within the affected area. Formal correctness is still guaranteed</a:t>
            </a:r>
          </a:p>
          <a:p>
            <a:r>
              <a:rPr lang="en-IT" dirty="0"/>
              <a:t>What changes </a:t>
            </a:r>
            <a:r>
              <a:rPr lang="en-GB" dirty="0"/>
              <a:t>is</a:t>
            </a:r>
            <a:r>
              <a:rPr lang="en-IT" dirty="0"/>
              <a:t> performance. React is much faster compared to the monolithic version, which always compute the configuration from scratch.</a:t>
            </a:r>
          </a:p>
          <a:p>
            <a:r>
              <a:rPr lang="en-IT" dirty="0"/>
              <a:t>Experimental tests, however, show that this benefit is not constant and depends on the number of additional requirements to be added. </a:t>
            </a:r>
            <a:r>
              <a:rPr lang="en-GB" dirty="0"/>
              <a:t>I</a:t>
            </a:r>
            <a:r>
              <a:rPr lang="en-IT" dirty="0"/>
              <a:t>n particular, React it's much faster when only a small portion of the requirements changes, and it is comparable to the monolithic run, whenever the batch of new requirements is larger.</a:t>
            </a:r>
          </a:p>
          <a:p>
            <a:r>
              <a:rPr lang="en-IT" dirty="0"/>
              <a:t>It's exactly on this last observation that the key intuition of this research is built — which brings us to the next slide.</a:t>
            </a:r>
            <a:endParaRPr lang="en-US" dirty="0"/>
          </a:p>
          <a:p>
            <a:endParaRPr lang="en-US" dirty="0"/>
          </a:p>
          <a:p>
            <a:r>
              <a:rPr lang="en-US" dirty="0"/>
              <a:t>-------------------------</a:t>
            </a:r>
          </a:p>
          <a:p>
            <a:r>
              <a:rPr lang="en-US" dirty="0"/>
              <a:t>- To accommodate the dynamism, React-VEREFOO has been implemented: this get an existing configuration already in place, additional requirements, and re-configure only the area that needs to be reconfigured</a:t>
            </a:r>
          </a:p>
          <a:p>
            <a:r>
              <a:rPr lang="en-US" dirty="0"/>
              <a:t>- To do so, React VEREFOO classifies NSRs in to be added, to be removed and kept, and then configure FW that fall in the affected area</a:t>
            </a:r>
          </a:p>
          <a:p>
            <a:endParaRPr lang="en-US" dirty="0"/>
          </a:p>
          <a:p>
            <a:pPr marL="171450" indent="-171450">
              <a:buFontTx/>
              <a:buChar char="-"/>
            </a:pPr>
            <a:r>
              <a:rPr lang="en-US" dirty="0"/>
              <a:t>Again, formal correctness is guaranteed, but performances are much faster compared to the monolithic version where all the configuration starts over from scratch.</a:t>
            </a:r>
          </a:p>
          <a:p>
            <a:pPr marL="171450" indent="-171450">
              <a:buFontTx/>
              <a:buChar char="-"/>
            </a:pPr>
            <a:r>
              <a:rPr lang="en-US" dirty="0"/>
              <a:t>Experimental test, however, shows that React-VEREFOO is much faster when only a small portion of requirements change, and in the contrary, execution time is comparable to the monolithic version whenever a large batch of new requirement is introduced.</a:t>
            </a:r>
          </a:p>
          <a:p>
            <a:pPr marL="171450" lvl="0" indent="-171450">
              <a:buFontTx/>
              <a:buChar char="-"/>
            </a:pPr>
            <a:endParaRPr lang="en-US" dirty="0"/>
          </a:p>
          <a:p>
            <a:pPr marL="171450" lvl="0" indent="-171450">
              <a:buFontTx/>
              <a:buChar char="-"/>
            </a:pPr>
            <a:r>
              <a:rPr lang="en-US" dirty="0"/>
              <a:t>On this very last assumption is build the key intuition of this research (next slide)</a:t>
            </a:r>
          </a:p>
        </p:txBody>
      </p:sp>
      <p:sp>
        <p:nvSpPr>
          <p:cNvPr id="4" name="Slide Number Placeholder 3">
            <a:extLst>
              <a:ext uri="{FF2B5EF4-FFF2-40B4-BE49-F238E27FC236}">
                <a16:creationId xmlns:a16="http://schemas.microsoft.com/office/drawing/2014/main" id="{15F152D1-90FE-4482-3F81-41975C68F9B2}"/>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1243219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2FDF2-FFD4-4C23-580B-9696CC23B7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676CB8-D5AB-3FA4-FCE3-3D03EEC0EF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3B355B-8D84-A6C7-185A-D39F84FA548B}"/>
              </a:ext>
            </a:extLst>
          </p:cNvPr>
          <p:cNvSpPr>
            <a:spLocks noGrp="1"/>
          </p:cNvSpPr>
          <p:nvPr>
            <p:ph type="body" idx="1"/>
          </p:nvPr>
        </p:nvSpPr>
        <p:spPr/>
        <p:txBody>
          <a:bodyPr/>
          <a:lstStyle/>
          <a:p>
            <a:r>
              <a:rPr lang="en-US" dirty="0"/>
              <a:t>The key idea of this research is then to exploit this very last observation, that React-VEREFOO’s performance are much faster when a small batches of new requirements is provided, to replace the one-shot approach of VEREFOO, with multiple simple calls to React-VEREFOO, with one single requirement each time.</a:t>
            </a:r>
          </a:p>
          <a:p>
            <a:endParaRPr lang="en-US" dirty="0"/>
          </a:p>
          <a:p>
            <a:r>
              <a:rPr lang="en-US" dirty="0"/>
              <a:t>-----------</a:t>
            </a:r>
          </a:p>
          <a:p>
            <a:endParaRPr lang="en-US" dirty="0"/>
          </a:p>
          <a:p>
            <a:pPr marL="171450" indent="-171450">
              <a:buFontTx/>
              <a:buChar char="-"/>
            </a:pPr>
            <a:r>
              <a:rPr lang="en-US" dirty="0"/>
              <a:t>Use this very last observation =&gt; that React is much faster when a small batch of new requirements is introduced</a:t>
            </a:r>
          </a:p>
          <a:p>
            <a:pPr marL="171450" indent="-171450">
              <a:buFontTx/>
              <a:buChar char="-"/>
            </a:pPr>
            <a:r>
              <a:rPr lang="en-US" dirty="0"/>
              <a:t>To replace the one-shot approach of VEREFOO</a:t>
            </a:r>
          </a:p>
          <a:p>
            <a:pPr marL="628650" lvl="1" indent="-171450">
              <a:buFontTx/>
              <a:buChar char="-"/>
            </a:pPr>
            <a:r>
              <a:rPr lang="en-US" dirty="0"/>
              <a:t>With multiple simple calls to React version =&gt; adding one single requirement each time</a:t>
            </a:r>
          </a:p>
          <a:p>
            <a:endParaRPr lang="en-US" dirty="0"/>
          </a:p>
        </p:txBody>
      </p:sp>
      <p:sp>
        <p:nvSpPr>
          <p:cNvPr id="4" name="Slide Number Placeholder 3">
            <a:extLst>
              <a:ext uri="{FF2B5EF4-FFF2-40B4-BE49-F238E27FC236}">
                <a16:creationId xmlns:a16="http://schemas.microsoft.com/office/drawing/2014/main" id="{BB044017-CC37-2D9C-5B33-4BC6F58E4411}"/>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193920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IT" dirty="0"/>
              <a:t>The idea behind this thesis is to push the incremental approach to its extreme: instead of feeding React-VEREFOO a batch of new requirements, we give it exactly one at a time. And to be clear, we're not reinventing the wheel here — we're reusing React-VEREFOO exactly as it is, just using specific input to it.</a:t>
            </a:r>
          </a:p>
          <a:p>
            <a:pPr rtl="0"/>
            <a:r>
              <a:rPr lang="en-IT" dirty="0"/>
              <a:t>As a quick reminder, React-VEREFOO normally takes two batches: a set of requirements already enforced, and a set of new requirements to add. What the iterative approach does is manipulate exactly this interaction. We call P0 the initial set of requirements, and A1, A2, A3, and so on the additional requirements we want to introduce, one by one.</a:t>
            </a:r>
          </a:p>
          <a:p>
            <a:pPr rtl="0"/>
            <a:r>
              <a:rPr lang="en-IT" dirty="0"/>
              <a:t>So at the first iteration, P0 is passed as the 'old' requirements and A1 as the 'new' one. At the second iteration, P0 plus A1 becomes the 'old' set, and A2 is the only 'new' requirement. And this continues for all the additional requirements (N).</a:t>
            </a:r>
          </a:p>
          <a:p>
            <a:pPr rtl="0"/>
            <a:r>
              <a:rPr lang="en-IT" dirty="0"/>
              <a:t>As you can see, only one requirement at a time is introduced. </a:t>
            </a:r>
            <a:r>
              <a:rPr lang="en-US" dirty="0"/>
              <a:t>Every iteration thus always receives the smallest possible incremental problem.</a:t>
            </a:r>
          </a:p>
          <a:p>
            <a:pPr rtl="0"/>
            <a:r>
              <a:rPr lang="en-US" dirty="0"/>
              <a:t>Correctness is always guaranteed by React-VEREFOO itself.</a:t>
            </a:r>
          </a:p>
          <a:p>
            <a:pPr rtl="0"/>
            <a:endParaRPr lang="en-US" dirty="0"/>
          </a:p>
          <a:p>
            <a:r>
              <a:rPr lang="en-US" dirty="0"/>
              <a:t>-------------------------</a:t>
            </a:r>
          </a:p>
          <a:p>
            <a:r>
              <a:rPr lang="en-US" dirty="0"/>
              <a:t>- So the idea of this thesis is to push the incremental approach to its extreme, just by introducing only one NSR at a time</a:t>
            </a:r>
            <a:endParaRPr lang="en-US" sz="1200" b="0" dirty="0">
              <a:solidFill>
                <a:srgbClr val="1E2761"/>
              </a:solidFill>
              <a:latin typeface="Courier New" pitchFamily="34" charset="0"/>
              <a:ea typeface="Courier New" pitchFamily="34" charset="-122"/>
              <a:cs typeface="Courier New" pitchFamily="34" charset="-120"/>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b="0" dirty="0">
                <a:solidFill>
                  <a:srgbClr val="1E2761"/>
                </a:solidFill>
                <a:latin typeface="Courier New" pitchFamily="34" charset="0"/>
                <a:ea typeface="Courier New" pitchFamily="34" charset="-122"/>
                <a:cs typeface="Courier New" pitchFamily="34" charset="-120"/>
              </a:rPr>
              <a:t>Not reinventing the wheel, but just using React-VEREFOO with selected inputs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b="0" dirty="0">
                <a:solidFill>
                  <a:srgbClr val="1E2761"/>
                </a:solidFill>
                <a:latin typeface="Courier New" pitchFamily="34" charset="0"/>
                <a:ea typeface="Courier New" pitchFamily="34" charset="-122"/>
                <a:cs typeface="Courier New" pitchFamily="34" charset="-120"/>
              </a:rPr>
              <a:t>Reminder: apart from the topology, react-VEREFOO gets two batches of requirement: one of “old" requirements and one of "new" requirements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b="0" dirty="0">
                <a:solidFill>
                  <a:srgbClr val="1E2761"/>
                </a:solidFill>
                <a:latin typeface="Courier New" pitchFamily="34" charset="0"/>
                <a:ea typeface="Courier New" pitchFamily="34" charset="-122"/>
                <a:cs typeface="Courier New" pitchFamily="34" charset="-120"/>
              </a:rPr>
              <a:t>assuming P0 as the initial requirements, and A1, A2, A3 as the additional requirements that we would implement we are just passing different input to React-VEREFOO depending on the iteration:</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sz="1200" b="0" dirty="0">
                <a:solidFill>
                  <a:srgbClr val="1E2761"/>
                </a:solidFill>
                <a:latin typeface="Courier New" pitchFamily="34" charset="0"/>
                <a:ea typeface="Courier New" pitchFamily="34" charset="-122"/>
                <a:cs typeface="Courier New" pitchFamily="34" charset="-120"/>
              </a:rPr>
              <a:t>Iteration1: P0 as the old and A1 as the new</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sz="1200" b="0" dirty="0">
                <a:solidFill>
                  <a:srgbClr val="1E2761"/>
                </a:solidFill>
                <a:latin typeface="Courier New" pitchFamily="34" charset="0"/>
                <a:ea typeface="Courier New" pitchFamily="34" charset="-122"/>
                <a:cs typeface="Courier New" pitchFamily="34" charset="-120"/>
              </a:rPr>
              <a:t>Iteration 2: P0 + A1 as the old, and A2 as the new</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sz="1200" b="0" dirty="0">
                <a:solidFill>
                  <a:srgbClr val="1E2761"/>
                </a:solidFill>
                <a:latin typeface="Courier New" pitchFamily="34" charset="0"/>
                <a:ea typeface="Courier New" pitchFamily="34" charset="-122"/>
                <a:cs typeface="Courier New" pitchFamily="34" charset="-120"/>
              </a:rPr>
              <a:t>And so on for all the requirements we want to enforce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1E2761"/>
                </a:solidFill>
                <a:latin typeface="Courier New" pitchFamily="34" charset="0"/>
                <a:ea typeface="Courier New" pitchFamily="34" charset="-122"/>
                <a:cs typeface="Courier New" pitchFamily="34" charset="-120"/>
              </a:rPr>
              <a:t>- Additional note: correctness is guaranteed by React-VEREFOO itself because we are only manipulating the </a:t>
            </a:r>
            <a:r>
              <a:rPr lang="en-US" sz="1200" b="1" dirty="0" err="1">
                <a:solidFill>
                  <a:srgbClr val="1E2761"/>
                </a:solidFill>
                <a:latin typeface="Courier New" pitchFamily="34" charset="0"/>
                <a:ea typeface="Courier New" pitchFamily="34" charset="-122"/>
                <a:cs typeface="Courier New" pitchFamily="34" charset="-120"/>
              </a:rPr>
              <a:t>interation</a:t>
            </a:r>
            <a:r>
              <a:rPr lang="en-US" sz="1200" b="1" dirty="0">
                <a:solidFill>
                  <a:srgbClr val="1E2761"/>
                </a:solidFill>
                <a:latin typeface="Courier New" pitchFamily="34" charset="0"/>
                <a:ea typeface="Courier New" pitchFamily="34" charset="-122"/>
                <a:cs typeface="Courier New" pitchFamily="34" charset="-120"/>
              </a:rPr>
              <a:t> with it, not creating a brand new tool of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[6:30-7:15] Vanilla VEREFOO: one solver call over all requirements together, global optimum. React-VEREFOO: one call over a batch, reuses the existing configuration. Iterative: one call per single requirement, reuses the configuration at every step, local (greedy) optimum but always over the smallest possible portion of the network.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06D3C-F641-3747-3907-BA9BF29FC9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5539BC-BA7E-4AF2-0EED-C3CA4AE374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DBD594-6B84-734C-13DC-CE5AEB16C6DA}"/>
              </a:ext>
            </a:extLst>
          </p:cNvPr>
          <p:cNvSpPr>
            <a:spLocks noGrp="1"/>
          </p:cNvSpPr>
          <p:nvPr>
            <p:ph type="body" idx="1"/>
          </p:nvPr>
        </p:nvSpPr>
        <p:spPr/>
        <p:txBody>
          <a:bodyPr/>
          <a:lstStyle/>
          <a:p>
            <a:r>
              <a:rPr lang="en-IT" dirty="0"/>
              <a:t>The iterative variant was implemented entirely by modifing the Serializer, on of the main component of the tool — without touching anything on the caller side. Only one wrapper was added: its job is to intercept the call before it reaches the solver, and manipulate what gets passed to React-VEREFOO, feeding it one requirement at a time instead of the full batch. Across iterations, the intermediate results are propagated through two structures that get updated at every step: consideredProps, tracking what's already enforced, and currentGraph, the configuration as it evolves. Everything else — the MaxSMT encoding, VerefooProxy, the Translator — is left completely untouched, which guarantees retro-compatibility with the rest of the pipeline. </a:t>
            </a:r>
          </a:p>
          <a:p>
            <a:endParaRPr lang="en-IT" dirty="0"/>
          </a:p>
          <a:p>
            <a:r>
              <a:rPr lang="en-IT" dirty="0"/>
              <a:t>-----------</a:t>
            </a:r>
          </a:p>
          <a:p>
            <a:endParaRPr lang="en-IT" dirty="0"/>
          </a:p>
          <a:p>
            <a:pPr lvl="0"/>
            <a:r>
              <a:rPr lang="en-IT" dirty="0"/>
              <a:t>- Implemented inside VerefooSerializer — the shared entry point for all three variants</a:t>
            </a:r>
          </a:p>
          <a:p>
            <a:pPr lvl="0"/>
            <a:r>
              <a:rPr lang="en-IT" dirty="0"/>
              <a:t>- No changes needed on the caller side</a:t>
            </a:r>
          </a:p>
          <a:p>
            <a:pPr lvl="0"/>
            <a:r>
              <a:rPr lang="en-IT" dirty="0"/>
              <a:t>- Only one wrapper added: intercepts the call to the solver and manipulates the input to React-VEREFOO</a:t>
            </a:r>
          </a:p>
          <a:p>
            <a:pPr lvl="0"/>
            <a:r>
              <a:rPr lang="en-IT" dirty="0"/>
              <a:t>- Intermediate results propagated via two structures updated at each iteration: consideredProps and currentGraph</a:t>
            </a:r>
          </a:p>
          <a:p>
            <a:pPr lvl="0"/>
            <a:r>
              <a:rPr lang="en-IT" dirty="0"/>
              <a:t>- Everything else (MaxSMT encoding, VerefooProxy, Translator) untouched — guarantees retro-compatibility</a:t>
            </a:r>
          </a:p>
        </p:txBody>
      </p:sp>
      <p:sp>
        <p:nvSpPr>
          <p:cNvPr id="4" name="Slide Number Placeholder 3">
            <a:extLst>
              <a:ext uri="{FF2B5EF4-FFF2-40B4-BE49-F238E27FC236}">
                <a16:creationId xmlns:a16="http://schemas.microsoft.com/office/drawing/2014/main" id="{31B78D36-803F-0158-07A0-D8C76DAEEEDA}"/>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9639415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T" dirty="0"/>
              <a:t>The iterative version was validated qualitatively on the CESNET topology, a real academic network in the Czech Republic, with 23 nodes and 28 links. The initial configuration had ten requirements, already enforced by three firewalls. Starting from there, I introduced five additional requirements one at a time, tracing each iteration step by step to confirm that every new requirement was satisfied — and, just as important, that none of the previously satisfied ones were ever broken along the way.</a:t>
            </a:r>
          </a:p>
          <a:p>
            <a:r>
              <a:rPr lang="en-IT" dirty="0"/>
              <a:t>The final configuration ends up with five firewalls in total, enforcing all fifteen requirements: the ten initial ones plus the five that were added incrementally.</a:t>
            </a:r>
          </a:p>
          <a:p>
            <a:endParaRPr lang="en-IT" dirty="0"/>
          </a:p>
          <a:p>
            <a:pPr lvl="0"/>
            <a:r>
              <a:rPr lang="en-IT" dirty="0"/>
              <a:t>- Validated qualitatively on CESNET, a real academic network in the Czech Republic (23 nodes, 28 links)</a:t>
            </a:r>
          </a:p>
          <a:p>
            <a:pPr lvl="0"/>
            <a:r>
              <a:rPr lang="en-IT" dirty="0"/>
              <a:t>- Initial configuration: 10 requirements, enforced by 3 firewalls</a:t>
            </a:r>
          </a:p>
          <a:p>
            <a:pPr lvl="0"/>
            <a:r>
              <a:rPr lang="en-IT" dirty="0"/>
              <a:t>- 5 additional requirements introduced one at a time, tracing each iteration step by step</a:t>
            </a:r>
          </a:p>
          <a:p>
            <a:pPr marL="171450" lvl="0" indent="-171450">
              <a:buFontTx/>
              <a:buChar char="-"/>
            </a:pPr>
            <a:r>
              <a:rPr lang="en-IT" dirty="0"/>
              <a:t>Final result: 5 firewalls total configured by 4 rules, enforcing all 15 requirements</a:t>
            </a:r>
          </a:p>
          <a:p>
            <a:pPr marL="171450" lvl="0" indent="-171450">
              <a:buFontTx/>
              <a:buChar char="-"/>
            </a:pPr>
            <a:r>
              <a:rPr lang="en-IT" dirty="0"/>
              <a:t>No previously satisfied requirement was ever broken at any stage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60DA4-AE04-CD72-4E88-7F87DE1B72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D9429C-A9A9-980C-7529-A89AA3BEEC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A6BE0C-FFFB-BB38-B5EA-068853D929C8}"/>
              </a:ext>
            </a:extLst>
          </p:cNvPr>
          <p:cNvSpPr>
            <a:spLocks noGrp="1"/>
          </p:cNvSpPr>
          <p:nvPr>
            <p:ph type="body" idx="1"/>
          </p:nvPr>
        </p:nvSpPr>
        <p:spPr/>
        <p:txBody>
          <a:bodyPr/>
          <a:lstStyle/>
          <a:p>
            <a:pPr rtl="0"/>
            <a:r>
              <a:rPr lang="en-IT" dirty="0"/>
              <a:t>To put this result in context, I ran the same test with vanilla VEREFOO — the monolithic version — over the exact same topology and the same set of fifteen NSRs. The result is a very similar configuration: five firewalls, three of which serve the exact same purpose, in the exact same positions, as in the iterative solution.</a:t>
            </a:r>
          </a:p>
          <a:p>
            <a:pPr rtl="0"/>
            <a:r>
              <a:rPr lang="en-IT" dirty="0"/>
              <a:t>The difference shows up on the other two firewalls, and it is due to visibility of requirement at each step. The iterative approach never sees beyond the single requirement it's currently processing, and needs to commits to a firewall allocation at every stage. The monolithic approach, on the other hand, sees all fifteen requirements at once and can optimize globally. In this specific case, the firewall allocation is the same, but the iterative version needs to configure one extra rule.</a:t>
            </a:r>
          </a:p>
          <a:p>
            <a:pPr rtl="0"/>
            <a:r>
              <a:rPr lang="en-IT" dirty="0"/>
              <a:t>That said, the iterative approach has a compensating advantage: it never relocates a firewall that's already valid, avoiding both the operational cost and the transient insecure states that a full re-run would cause. This matches how requirements actually accumulate over time in real networks, and it's exactly what motivates using this approach in highly dynamic environments.</a:t>
            </a:r>
          </a:p>
          <a:p>
            <a:endParaRPr lang="en-US" dirty="0"/>
          </a:p>
          <a:p>
            <a:endParaRPr lang="en-US" dirty="0"/>
          </a:p>
          <a:p>
            <a:pPr lvl="0"/>
            <a:r>
              <a:rPr lang="en-IT" dirty="0"/>
              <a:t>- Same test run with vanilla VEREFOO (monolithic) — same topology, same 15 NSRs</a:t>
            </a:r>
          </a:p>
          <a:p>
            <a:pPr lvl="0"/>
            <a:r>
              <a:rPr lang="en-IT" dirty="0"/>
              <a:t>- Result: very similar configuration — 5 firewalls, 3 with the exact same purpose/position as the iterative solution</a:t>
            </a:r>
          </a:p>
          <a:p>
            <a:pPr lvl="0"/>
            <a:r>
              <a:rPr lang="en-IT" dirty="0"/>
              <a:t>- Difference on the other 2 firewalls comes from visibility: iterative commits at each step, never seeing beyond the current requirement; monolithic optimizes globally</a:t>
            </a:r>
          </a:p>
          <a:p>
            <a:pPr lvl="0"/>
            <a:r>
              <a:rPr lang="en-IT" dirty="0"/>
              <a:t>- Cost of this: one extra rule in the iterative result. In any case negligible.</a:t>
            </a:r>
          </a:p>
          <a:p>
            <a:pPr lvl="0"/>
            <a:r>
              <a:rPr lang="en-IT" dirty="0"/>
              <a:t>- Benefit: iterative never relocates an already-valid firewall — avoids operational cost and transient insecure states</a:t>
            </a:r>
          </a:p>
          <a:p>
            <a:pPr lvl="0"/>
            <a:r>
              <a:rPr lang="en-IT" dirty="0"/>
              <a:t>- Matches how requirements accumulate in real networks — motivates using the iterative approach in dynamic environments</a:t>
            </a:r>
          </a:p>
        </p:txBody>
      </p:sp>
      <p:sp>
        <p:nvSpPr>
          <p:cNvPr id="4" name="Slide Number Placeholder 3">
            <a:extLst>
              <a:ext uri="{FF2B5EF4-FFF2-40B4-BE49-F238E27FC236}">
                <a16:creationId xmlns:a16="http://schemas.microsoft.com/office/drawing/2014/main" id="{C22EEE44-C4AE-B0E2-8628-C4F19AA31873}"/>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3040449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05DF8-1EED-A381-B860-1A86D963B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ADC72C-1C8B-4880-6667-3FB2CEFE0D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E2E034-E7D2-DDDC-9CEA-E168A2FC9247}"/>
              </a:ext>
            </a:extLst>
          </p:cNvPr>
          <p:cNvSpPr>
            <a:spLocks noGrp="1"/>
          </p:cNvSpPr>
          <p:nvPr>
            <p:ph type="body" idx="1"/>
          </p:nvPr>
        </p:nvSpPr>
        <p:spPr/>
        <p:txBody>
          <a:bodyPr/>
          <a:lstStyle/>
          <a:p>
            <a:r>
              <a:rPr lang="en-US" dirty="0"/>
              <a:t>[10:30-11:45] The iterative approach was validated qualitatively and reaches a result that almost matches the monolithic baseline in firewall count, with just one extra rule, despite never having visibility beyond the single requirement being processed. I expect scalability to be the main advantage as topologies and reconfigurations grow larger. Future work: quantitative time benchmark at larger scale, traffic-based requirement ordering to reduce tie-driven reconfigurations, support for NSR removal.</a:t>
            </a:r>
          </a:p>
          <a:p>
            <a:endParaRPr lang="en-US" dirty="0"/>
          </a:p>
          <a:p>
            <a:r>
              <a:rPr lang="en-US" dirty="0"/>
              <a:t>---</a:t>
            </a:r>
          </a:p>
          <a:p>
            <a:endParaRPr lang="en-US" dirty="0"/>
          </a:p>
          <a:p>
            <a:pPr marL="171450" indent="-171450">
              <a:buFontTx/>
              <a:buChar char="-"/>
            </a:pPr>
            <a:r>
              <a:rPr lang="en-US" dirty="0"/>
              <a:t>Finally, the iterative approach has been validated via a qualitative testing with a comparable result to the monolithic version</a:t>
            </a:r>
          </a:p>
          <a:p>
            <a:pPr marL="171450" indent="-171450">
              <a:buFontTx/>
              <a:buChar char="-"/>
            </a:pPr>
            <a:r>
              <a:rPr lang="en-US" dirty="0"/>
              <a:t>This approach could be particularly suited for high dynamic environment where topologies or requirements changes frequently</a:t>
            </a:r>
          </a:p>
          <a:p>
            <a:pPr marL="171450" indent="-171450">
              <a:buFontTx/>
              <a:buChar char="-"/>
            </a:pPr>
            <a:r>
              <a:rPr lang="en-US" dirty="0"/>
              <a:t>As future work I would like to propose</a:t>
            </a:r>
          </a:p>
          <a:p>
            <a:pPr marL="628650" lvl="1" indent="-171450">
              <a:buFontTx/>
              <a:buChar char="-"/>
            </a:pPr>
            <a:r>
              <a:rPr lang="en-US" dirty="0"/>
              <a:t>Quantitative test to benchmark the iterative solution, over multiple configuration and topologies</a:t>
            </a:r>
          </a:p>
          <a:p>
            <a:pPr marL="628650" lvl="1" indent="-171450">
              <a:buFontTx/>
              <a:buChar char="-"/>
            </a:pPr>
            <a:r>
              <a:rPr lang="en-US" dirty="0"/>
              <a:t>NSR removal which was not particularly considered in this thesis research</a:t>
            </a:r>
          </a:p>
          <a:p>
            <a:pPr marL="628650" lvl="1" indent="-171450">
              <a:buFontTx/>
              <a:buChar char="-"/>
            </a:pPr>
            <a:r>
              <a:rPr lang="en-US" dirty="0"/>
              <a:t>And finally one optimization proposal to order NSR keeping in mind their traffic </a:t>
            </a:r>
            <a:r>
              <a:rPr lang="en-US" dirty="0" err="1"/>
              <a:t>awereness</a:t>
            </a:r>
            <a:endParaRPr lang="en-US" dirty="0"/>
          </a:p>
          <a:p>
            <a:endParaRPr lang="en-US" dirty="0"/>
          </a:p>
        </p:txBody>
      </p:sp>
      <p:sp>
        <p:nvSpPr>
          <p:cNvPr id="4" name="Slide Number Placeholder 3">
            <a:extLst>
              <a:ext uri="{FF2B5EF4-FFF2-40B4-BE49-F238E27FC236}">
                <a16:creationId xmlns:a16="http://schemas.microsoft.com/office/drawing/2014/main" id="{F39A515F-D4C8-0776-A1A3-E0BCAB5E9BD9}"/>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5431366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[11:45-12:00] Thank you for your attention, and I'm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868BA-9E24-D29C-481D-39A7F8E4BC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598079-4109-6A97-1CD5-B7EED9E23E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1DE0C1-EDC4-EF74-8DD3-81E4C9B191C9}"/>
              </a:ext>
            </a:extLst>
          </p:cNvPr>
          <p:cNvSpPr>
            <a:spLocks noGrp="1"/>
          </p:cNvSpPr>
          <p:nvPr>
            <p:ph type="body" idx="1"/>
          </p:nvPr>
        </p:nvSpPr>
        <p:spPr/>
        <p:txBody>
          <a:bodyPr/>
          <a:lstStyle/>
          <a:p>
            <a:r>
              <a:rPr lang="en-US" dirty="0"/>
              <a:t>[11:45-12:00] Thank you for your attention, and I'm happy to take any questions.</a:t>
            </a:r>
          </a:p>
        </p:txBody>
      </p:sp>
      <p:sp>
        <p:nvSpPr>
          <p:cNvPr id="4" name="Slide Number Placeholder 3">
            <a:extLst>
              <a:ext uri="{FF2B5EF4-FFF2-40B4-BE49-F238E27FC236}">
                <a16:creationId xmlns:a16="http://schemas.microsoft.com/office/drawing/2014/main" id="{14630C81-47CA-6BCD-497E-CBB87EE15266}"/>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5593256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141A45"/>
          </a:solidFill>
          <a:ln/>
        </p:spPr>
        <p:txBody>
          <a:bodyPr/>
          <a:lstStyle/>
          <a:p>
            <a:endParaRPr lang="en-IT"/>
          </a:p>
        </p:txBody>
      </p:sp>
      <p:sp>
        <p:nvSpPr>
          <p:cNvPr id="3" name="Shape 1"/>
          <p:cNvSpPr/>
          <p:nvPr/>
        </p:nvSpPr>
        <p:spPr>
          <a:xfrm>
            <a:off x="10607040" y="4572000"/>
            <a:ext cx="3108960" cy="3108960"/>
          </a:xfrm>
          <a:prstGeom prst="ellipse">
            <a:avLst/>
          </a:prstGeom>
          <a:solidFill>
            <a:srgbClr val="141A45"/>
          </a:solidFill>
          <a:ln/>
        </p:spPr>
        <p:txBody>
          <a:bodyPr/>
          <a:lstStyle/>
          <a:p>
            <a:endParaRPr lang="en-IT"/>
          </a:p>
        </p:txBody>
      </p:sp>
      <p:sp>
        <p:nvSpPr>
          <p:cNvPr id="4" name="Text 2"/>
          <p:cNvSpPr txBox="1"/>
          <p:nvPr/>
        </p:nvSpPr>
        <p:spPr>
          <a:xfrm>
            <a:off x="731520" y="1234440"/>
            <a:ext cx="7315200" cy="365760"/>
          </a:xfrm>
          <a:prstGeom prst="rect">
            <a:avLst/>
          </a:prstGeom>
          <a:noFill/>
          <a:ln/>
        </p:spPr>
        <p:txBody>
          <a:bodyPr wrap="square" lIns="0" tIns="0" rIns="0" bIns="0" rtlCol="0" anchor="ctr"/>
          <a:lstStyle/>
          <a:p>
            <a:pPr marL="0" indent="0">
              <a:buNone/>
            </a:pPr>
            <a:r>
              <a:rPr lang="en-US" sz="1400" b="1" kern="0" spc="200" dirty="0">
                <a:solidFill>
                  <a:srgbClr val="F2A65A"/>
                </a:solidFill>
                <a:latin typeface="Calibri" pitchFamily="34" charset="0"/>
                <a:ea typeface="Calibri" pitchFamily="34" charset="-122"/>
                <a:cs typeface="Calibri" pitchFamily="34" charset="-120"/>
              </a:rPr>
              <a:t>MASTER DEGREE THESIS</a:t>
            </a:r>
            <a:endParaRPr lang="en-US" sz="1400" dirty="0"/>
          </a:p>
        </p:txBody>
      </p:sp>
      <p:sp>
        <p:nvSpPr>
          <p:cNvPr id="5" name="Text 3"/>
          <p:cNvSpPr txBox="1"/>
          <p:nvPr/>
        </p:nvSpPr>
        <p:spPr>
          <a:xfrm>
            <a:off x="731520" y="1691640"/>
            <a:ext cx="9875520" cy="1920240"/>
          </a:xfrm>
          <a:prstGeom prst="rect">
            <a:avLst/>
          </a:prstGeom>
          <a:noFill/>
          <a:ln/>
        </p:spPr>
        <p:txBody>
          <a:bodyPr wrap="square" lIns="0" tIns="0" rIns="0" bIns="0" rtlCol="0" anchor="ctr"/>
          <a:lstStyle/>
          <a:p>
            <a:pPr marL="0" indent="0">
              <a:lnSpc>
                <a:spcPct val="108000"/>
              </a:lnSpc>
              <a:buNone/>
            </a:pPr>
            <a:r>
              <a:rPr lang="en-US" sz="3800" b="1" dirty="0">
                <a:solidFill>
                  <a:srgbClr val="FFFFFF"/>
                </a:solidFill>
                <a:latin typeface="Cambria" pitchFamily="34" charset="0"/>
                <a:ea typeface="Cambria" pitchFamily="34" charset="-122"/>
                <a:cs typeface="Cambria" pitchFamily="34" charset="-120"/>
              </a:rPr>
              <a:t>An Incremental Approach to</a:t>
            </a:r>
            <a:endParaRPr lang="en-US" sz="3800" dirty="0"/>
          </a:p>
          <a:p>
            <a:pPr marL="0" indent="0">
              <a:lnSpc>
                <a:spcPct val="108000"/>
              </a:lnSpc>
              <a:buNone/>
            </a:pPr>
            <a:r>
              <a:rPr lang="en-US" sz="3800" b="1" dirty="0">
                <a:solidFill>
                  <a:srgbClr val="FFFFFF"/>
                </a:solidFill>
                <a:latin typeface="Cambria" pitchFamily="34" charset="0"/>
                <a:ea typeface="Cambria" pitchFamily="34" charset="-122"/>
                <a:cs typeface="Cambria" pitchFamily="34" charset="-120"/>
              </a:rPr>
              <a:t>Automatic Firewall Configuration</a:t>
            </a:r>
            <a:endParaRPr lang="en-US" sz="3800" dirty="0"/>
          </a:p>
        </p:txBody>
      </p:sp>
      <p:sp>
        <p:nvSpPr>
          <p:cNvPr id="6" name="Shape 4"/>
          <p:cNvSpPr/>
          <p:nvPr/>
        </p:nvSpPr>
        <p:spPr>
          <a:xfrm>
            <a:off x="758952" y="3794760"/>
            <a:ext cx="1463040" cy="0"/>
          </a:xfrm>
          <a:prstGeom prst="line">
            <a:avLst/>
          </a:prstGeom>
          <a:noFill/>
          <a:ln w="38100">
            <a:solidFill>
              <a:srgbClr val="F2A65A"/>
            </a:solidFill>
            <a:prstDash val="solid"/>
          </a:ln>
        </p:spPr>
        <p:txBody>
          <a:bodyPr/>
          <a:lstStyle/>
          <a:p>
            <a:endParaRPr lang="en-IT"/>
          </a:p>
        </p:txBody>
      </p:sp>
      <p:sp>
        <p:nvSpPr>
          <p:cNvPr id="7" name="Text 5"/>
          <p:cNvSpPr txBox="1"/>
          <p:nvPr/>
        </p:nvSpPr>
        <p:spPr>
          <a:xfrm>
            <a:off x="731520" y="4069080"/>
            <a:ext cx="7315200"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Filippo Del Ministro</a:t>
            </a:r>
            <a:endParaRPr lang="en-US" sz="1800" dirty="0"/>
          </a:p>
        </p:txBody>
      </p:sp>
      <p:sp>
        <p:nvSpPr>
          <p:cNvPr id="8" name="Text 6"/>
          <p:cNvSpPr txBox="1"/>
          <p:nvPr/>
        </p:nvSpPr>
        <p:spPr>
          <a:xfrm>
            <a:off x="731520" y="4617720"/>
            <a:ext cx="5486400" cy="1554480"/>
          </a:xfrm>
          <a:prstGeom prst="rect">
            <a:avLst/>
          </a:prstGeom>
          <a:noFill/>
          <a:ln/>
        </p:spPr>
        <p:txBody>
          <a:bodyPr wrap="square" lIns="0" tIns="0" rIns="0" bIns="0" rtlCol="0" anchor="ctr"/>
          <a:lstStyle/>
          <a:p>
            <a:pPr marL="0" indent="0">
              <a:spcAft>
                <a:spcPts val="200"/>
              </a:spcAft>
              <a:buNone/>
            </a:pPr>
            <a:r>
              <a:rPr lang="en-US" sz="1300" b="1" dirty="0">
                <a:solidFill>
                  <a:srgbClr val="CADCFC"/>
                </a:solidFill>
                <a:latin typeface="Calibri" pitchFamily="34" charset="0"/>
                <a:ea typeface="Calibri" pitchFamily="34" charset="-122"/>
                <a:cs typeface="Calibri" pitchFamily="34" charset="-120"/>
              </a:rPr>
              <a:t>Supervisors</a:t>
            </a:r>
            <a:endParaRPr lang="en-US" sz="1400" dirty="0"/>
          </a:p>
          <a:p>
            <a:pPr marL="0" indent="0">
              <a:spcAft>
                <a:spcPts val="200"/>
              </a:spcAft>
              <a:buNone/>
            </a:pPr>
            <a:r>
              <a:rPr lang="en-US" sz="1400" dirty="0">
                <a:solidFill>
                  <a:srgbClr val="CADCFC"/>
                </a:solidFill>
                <a:latin typeface="Calibri" pitchFamily="34" charset="0"/>
                <a:ea typeface="Calibri" pitchFamily="34" charset="-122"/>
                <a:cs typeface="Calibri" pitchFamily="34" charset="-120"/>
              </a:rPr>
              <a:t>prof. Fulvio Valenza</a:t>
            </a:r>
            <a:endParaRPr lang="en-US" sz="1400" dirty="0"/>
          </a:p>
          <a:p>
            <a:pPr marL="0" indent="0">
              <a:spcAft>
                <a:spcPts val="200"/>
              </a:spcAft>
              <a:buNone/>
            </a:pPr>
            <a:r>
              <a:rPr lang="en-US" sz="1400" dirty="0">
                <a:solidFill>
                  <a:srgbClr val="CADCFC"/>
                </a:solidFill>
                <a:latin typeface="Calibri" pitchFamily="34" charset="0"/>
                <a:ea typeface="Calibri" pitchFamily="34" charset="-122"/>
                <a:cs typeface="Calibri" pitchFamily="34" charset="-120"/>
              </a:rPr>
              <a:t>prof. Daniele Bringhenti</a:t>
            </a:r>
            <a:endParaRPr lang="en-US" sz="1400" dirty="0"/>
          </a:p>
          <a:p>
            <a:pPr marL="0" indent="0">
              <a:spcAft>
                <a:spcPts val="200"/>
              </a:spcAft>
              <a:buNone/>
            </a:pPr>
            <a:r>
              <a:rPr lang="en-US" sz="1400" dirty="0">
                <a:solidFill>
                  <a:srgbClr val="CADCFC"/>
                </a:solidFill>
                <a:latin typeface="Calibri" pitchFamily="34" charset="0"/>
                <a:ea typeface="Calibri" pitchFamily="34" charset="-122"/>
                <a:cs typeface="Calibri" pitchFamily="34" charset="-120"/>
              </a:rPr>
              <a:t>prof. Francesco Pizzato</a:t>
            </a:r>
            <a:endParaRPr lang="en-US" sz="1400" dirty="0"/>
          </a:p>
          <a:p>
            <a:pPr marL="0" indent="0">
              <a:spcAft>
                <a:spcPts val="200"/>
              </a:spcAft>
              <a:buNone/>
            </a:pPr>
            <a:r>
              <a:rPr lang="en-US" sz="1400" dirty="0">
                <a:solidFill>
                  <a:srgbClr val="CADCFC"/>
                </a:solidFill>
                <a:latin typeface="Calibri" pitchFamily="34" charset="0"/>
                <a:ea typeface="Calibri" pitchFamily="34" charset="-122"/>
                <a:cs typeface="Calibri" pitchFamily="34" charset="-120"/>
              </a:rPr>
              <a:t>prof. Riccardo Sisto</a:t>
            </a:r>
            <a:endParaRPr lang="en-US" sz="1400" dirty="0"/>
          </a:p>
        </p:txBody>
      </p:sp>
      <p:sp>
        <p:nvSpPr>
          <p:cNvPr id="9" name="Text 7"/>
          <p:cNvSpPr txBox="1"/>
          <p:nvPr/>
        </p:nvSpPr>
        <p:spPr>
          <a:xfrm>
            <a:off x="731520" y="6172200"/>
            <a:ext cx="9144000" cy="365760"/>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Politecnico di Torino  |  Cybersecurity  |  Academic Year 2025-2026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3660105" cy="82296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Background</a:t>
            </a:r>
            <a:endParaRPr lang="en-US" sz="3400" dirty="0"/>
          </a:p>
        </p:txBody>
      </p:sp>
      <p:sp>
        <p:nvSpPr>
          <p:cNvPr id="3" name="Text 1"/>
          <p:cNvSpPr txBox="1"/>
          <p:nvPr/>
        </p:nvSpPr>
        <p:spPr>
          <a:xfrm>
            <a:off x="581327" y="2212834"/>
            <a:ext cx="5517201" cy="3098199"/>
          </a:xfrm>
          <a:prstGeom prst="rect">
            <a:avLst/>
          </a:prstGeom>
          <a:noFill/>
          <a:ln/>
        </p:spPr>
        <p:txBody>
          <a:bodyPr wrap="square" lIns="0" tIns="0" rIns="0" bIns="0" rtlCol="0" anchor="t"/>
          <a:lstStyle/>
          <a:p>
            <a:pPr marL="342900" indent="-342900">
              <a:spcAft>
                <a:spcPts val="800"/>
              </a:spcAft>
              <a:buSzPct val="100000"/>
              <a:buFont typeface="Arial" panose="020B0604020202020204" pitchFamily="34" charset="0"/>
              <a:buChar char="•"/>
            </a:pPr>
            <a:r>
              <a:rPr lang="en-IT" sz="2000" dirty="0">
                <a:solidFill>
                  <a:srgbClr val="232A4D"/>
                </a:solidFill>
                <a:latin typeface="Calibri" pitchFamily="34" charset="0"/>
                <a:cs typeface="Calibri" pitchFamily="34" charset="-120"/>
              </a:rPr>
              <a:t>Growing network complexity is driving a shift to distributed firewalls</a:t>
            </a:r>
          </a:p>
          <a:p>
            <a:pPr marL="342900" indent="-342900">
              <a:spcAft>
                <a:spcPts val="800"/>
              </a:spcAft>
              <a:buSzPct val="100000"/>
              <a:buFont typeface="Arial" panose="020B0604020202020204" pitchFamily="34" charset="0"/>
              <a:buChar char="•"/>
            </a:pPr>
            <a:r>
              <a:rPr lang="en-US" sz="2000" b="1" dirty="0">
                <a:solidFill>
                  <a:srgbClr val="232A4D"/>
                </a:solidFill>
                <a:latin typeface="Calibri" pitchFamily="34" charset="0"/>
                <a:ea typeface="Calibri" pitchFamily="34" charset="-122"/>
                <a:cs typeface="Calibri" pitchFamily="34" charset="-120"/>
              </a:rPr>
              <a:t>Benefits</a:t>
            </a:r>
            <a:r>
              <a:rPr lang="en-US" sz="2000" dirty="0">
                <a:solidFill>
                  <a:srgbClr val="232A4D"/>
                </a:solidFill>
                <a:latin typeface="Calibri" pitchFamily="34" charset="0"/>
                <a:ea typeface="Calibri" pitchFamily="34" charset="-122"/>
                <a:cs typeface="Calibri" pitchFamily="34" charset="-120"/>
              </a:rPr>
              <a:t>: finer-grained control, containment of lateral movement, tailored policies across the network</a:t>
            </a:r>
            <a:endParaRPr lang="en-US" sz="2000" dirty="0"/>
          </a:p>
          <a:p>
            <a:pPr marL="342900" indent="-342900">
              <a:spcAft>
                <a:spcPts val="800"/>
              </a:spcAft>
              <a:buSzPct val="100000"/>
              <a:buFont typeface="Arial" panose="020B0604020202020204" pitchFamily="34" charset="0"/>
              <a:buChar char="•"/>
            </a:pPr>
            <a:r>
              <a:rPr lang="en-US" sz="2000" b="1" dirty="0">
                <a:solidFill>
                  <a:srgbClr val="232A4D"/>
                </a:solidFill>
                <a:latin typeface="Calibri" pitchFamily="34" charset="0"/>
                <a:ea typeface="Calibri" pitchFamily="34" charset="-122"/>
                <a:cs typeface="Calibri" pitchFamily="34" charset="-120"/>
              </a:rPr>
              <a:t>Trade-off</a:t>
            </a:r>
            <a:r>
              <a:rPr lang="en-US" sz="2000" dirty="0">
                <a:solidFill>
                  <a:srgbClr val="232A4D"/>
                </a:solidFill>
                <a:latin typeface="Calibri" pitchFamily="34" charset="0"/>
                <a:ea typeface="Calibri" pitchFamily="34" charset="-122"/>
                <a:cs typeface="Calibri" pitchFamily="34" charset="-120"/>
              </a:rPr>
              <a:t>: more instances an rules to configure means more chances for conflicts; manual configuration is error-prone, with no guarantees of correctness</a:t>
            </a:r>
            <a:endParaRPr lang="en-US" sz="2000" dirty="0"/>
          </a:p>
        </p:txBody>
      </p:sp>
      <p:pic>
        <p:nvPicPr>
          <p:cNvPr id="9" name="Image 2" descr="imgs/logo.png"/>
          <p:cNvPicPr>
            <a:picLocks noChangeAspect="1"/>
          </p:cNvPicPr>
          <p:nvPr/>
        </p:nvPicPr>
        <p:blipFill>
          <a:blip r:embed="rId3"/>
          <a:stretch>
            <a:fillRect/>
          </a:stretch>
        </p:blipFill>
        <p:spPr>
          <a:xfrm>
            <a:off x="368808" y="6350655"/>
            <a:ext cx="769199" cy="324465"/>
          </a:xfrm>
          <a:prstGeom prst="rect">
            <a:avLst/>
          </a:prstGeom>
        </p:spPr>
      </p:pic>
      <p:sp>
        <p:nvSpPr>
          <p:cNvPr id="10" name="Text 4"/>
          <p:cNvSpPr txBox="1"/>
          <p:nvPr/>
        </p:nvSpPr>
        <p:spPr>
          <a:xfrm>
            <a:off x="11365992" y="6355080"/>
            <a:ext cx="457200" cy="320040"/>
          </a:xfrm>
          <a:prstGeom prst="rect">
            <a:avLst/>
          </a:prstGeom>
          <a:noFill/>
          <a:ln/>
        </p:spPr>
        <p:txBody>
          <a:bodyPr wrap="square" lIns="0" tIns="0" rIns="0" bIns="0" rtlCol="0" anchor="ctr"/>
          <a:lstStyle/>
          <a:p>
            <a:pPr marL="0" indent="0" algn="r">
              <a:buNone/>
            </a:pPr>
            <a:r>
              <a:rPr lang="en-US" sz="1100" dirty="0">
                <a:solidFill>
                  <a:srgbClr val="5A6482"/>
                </a:solidFill>
                <a:latin typeface="Calibri" pitchFamily="34" charset="0"/>
                <a:ea typeface="Calibri" pitchFamily="34" charset="-122"/>
                <a:cs typeface="Calibri" pitchFamily="34" charset="-120"/>
              </a:rPr>
              <a:t>2</a:t>
            </a:r>
            <a:endParaRPr lang="en-US" sz="1100" dirty="0"/>
          </a:p>
        </p:txBody>
      </p:sp>
      <p:grpSp>
        <p:nvGrpSpPr>
          <p:cNvPr id="4" name="Group 3">
            <a:extLst>
              <a:ext uri="{FF2B5EF4-FFF2-40B4-BE49-F238E27FC236}">
                <a16:creationId xmlns:a16="http://schemas.microsoft.com/office/drawing/2014/main" id="{175B8FE3-55A4-6420-D14D-6C2B8AE66850}"/>
              </a:ext>
            </a:extLst>
          </p:cNvPr>
          <p:cNvGrpSpPr/>
          <p:nvPr/>
        </p:nvGrpSpPr>
        <p:grpSpPr>
          <a:xfrm>
            <a:off x="7111257" y="493043"/>
            <a:ext cx="4254735" cy="2844970"/>
            <a:chOff x="7111257" y="182880"/>
            <a:chExt cx="4254735" cy="2844970"/>
          </a:xfrm>
        </p:grpSpPr>
        <p:pic>
          <p:nvPicPr>
            <p:cNvPr id="11" name="Picture 10">
              <a:extLst>
                <a:ext uri="{FF2B5EF4-FFF2-40B4-BE49-F238E27FC236}">
                  <a16:creationId xmlns:a16="http://schemas.microsoft.com/office/drawing/2014/main" id="{F8F1C82A-F97C-4B52-23E7-2A89CE5B4C2D}"/>
                </a:ext>
              </a:extLst>
            </p:cNvPr>
            <p:cNvPicPr>
              <a:picLocks noChangeAspect="1"/>
            </p:cNvPicPr>
            <p:nvPr/>
          </p:nvPicPr>
          <p:blipFill>
            <a:blip r:embed="rId4"/>
            <a:srcRect l="6076" t="7929" r="3781" b="10989"/>
            <a:stretch>
              <a:fillRect/>
            </a:stretch>
          </p:blipFill>
          <p:spPr>
            <a:xfrm>
              <a:off x="7111257" y="182880"/>
              <a:ext cx="4254735" cy="2636275"/>
            </a:xfrm>
            <a:prstGeom prst="rect">
              <a:avLst/>
            </a:prstGeom>
          </p:spPr>
        </p:pic>
        <p:sp>
          <p:nvSpPr>
            <p:cNvPr id="5" name="Text 2"/>
            <p:cNvSpPr txBox="1"/>
            <p:nvPr/>
          </p:nvSpPr>
          <p:spPr>
            <a:xfrm>
              <a:off x="9345744" y="2723672"/>
              <a:ext cx="2020248" cy="304178"/>
            </a:xfrm>
            <a:prstGeom prst="rect">
              <a:avLst/>
            </a:prstGeom>
            <a:noFill/>
            <a:ln/>
          </p:spPr>
          <p:txBody>
            <a:bodyPr wrap="square" lIns="0" tIns="0" rIns="0" bIns="0" rtlCol="0" anchor="ctr"/>
            <a:lstStyle/>
            <a:p>
              <a:pPr marL="0" indent="0" algn="r">
                <a:buNone/>
              </a:pPr>
              <a:r>
                <a:rPr lang="en-US" sz="1200" i="1" dirty="0">
                  <a:solidFill>
                    <a:schemeClr val="bg2">
                      <a:lumMod val="50000"/>
                    </a:schemeClr>
                  </a:solidFill>
                  <a:latin typeface="Calibri" pitchFamily="34" charset="0"/>
                  <a:ea typeface="Calibri" pitchFamily="34" charset="-122"/>
                  <a:cs typeface="Calibri" pitchFamily="34" charset="-120"/>
                </a:rPr>
                <a:t>Traditional perimeter firewall</a:t>
              </a:r>
              <a:endParaRPr lang="en-US" sz="1200" dirty="0">
                <a:solidFill>
                  <a:schemeClr val="bg2">
                    <a:lumMod val="50000"/>
                  </a:schemeClr>
                </a:solidFill>
              </a:endParaRPr>
            </a:p>
          </p:txBody>
        </p:sp>
      </p:grpSp>
      <p:grpSp>
        <p:nvGrpSpPr>
          <p:cNvPr id="6" name="Group 5">
            <a:extLst>
              <a:ext uri="{FF2B5EF4-FFF2-40B4-BE49-F238E27FC236}">
                <a16:creationId xmlns:a16="http://schemas.microsoft.com/office/drawing/2014/main" id="{DA815CDE-396C-EFD1-5227-6BD870FA02DD}"/>
              </a:ext>
            </a:extLst>
          </p:cNvPr>
          <p:cNvGrpSpPr/>
          <p:nvPr/>
        </p:nvGrpSpPr>
        <p:grpSpPr>
          <a:xfrm>
            <a:off x="7373657" y="3564457"/>
            <a:ext cx="3992335" cy="2756802"/>
            <a:chOff x="7373657" y="3689717"/>
            <a:chExt cx="3992335" cy="2756802"/>
          </a:xfrm>
        </p:grpSpPr>
        <p:sp>
          <p:nvSpPr>
            <p:cNvPr id="7" name="Text 3"/>
            <p:cNvSpPr txBox="1"/>
            <p:nvPr/>
          </p:nvSpPr>
          <p:spPr>
            <a:xfrm>
              <a:off x="8306886" y="6122054"/>
              <a:ext cx="2927905" cy="324465"/>
            </a:xfrm>
            <a:prstGeom prst="rect">
              <a:avLst/>
            </a:prstGeom>
            <a:noFill/>
            <a:ln/>
          </p:spPr>
          <p:txBody>
            <a:bodyPr wrap="square" lIns="0" tIns="0" rIns="0" bIns="0" rtlCol="0" anchor="ctr"/>
            <a:lstStyle/>
            <a:p>
              <a:pPr marL="0" indent="0" algn="r">
                <a:buNone/>
              </a:pPr>
              <a:r>
                <a:rPr lang="en-US" sz="1200" i="1" dirty="0">
                  <a:solidFill>
                    <a:schemeClr val="bg2">
                      <a:lumMod val="50000"/>
                    </a:schemeClr>
                  </a:solidFill>
                  <a:latin typeface="Calibri" pitchFamily="34" charset="0"/>
                  <a:ea typeface="Calibri" pitchFamily="34" charset="-122"/>
                  <a:cs typeface="Calibri" pitchFamily="34" charset="-120"/>
                </a:rPr>
                <a:t>Distributed firewalls</a:t>
              </a:r>
              <a:endParaRPr lang="en-US" sz="1200" dirty="0">
                <a:solidFill>
                  <a:schemeClr val="bg2">
                    <a:lumMod val="50000"/>
                  </a:schemeClr>
                </a:solidFill>
              </a:endParaRPr>
            </a:p>
          </p:txBody>
        </p:sp>
        <p:pic>
          <p:nvPicPr>
            <p:cNvPr id="13" name="Picture 12">
              <a:extLst>
                <a:ext uri="{FF2B5EF4-FFF2-40B4-BE49-F238E27FC236}">
                  <a16:creationId xmlns:a16="http://schemas.microsoft.com/office/drawing/2014/main" id="{19117C4F-36AF-2F05-ABAD-461813C668EC}"/>
                </a:ext>
              </a:extLst>
            </p:cNvPr>
            <p:cNvPicPr>
              <a:picLocks noChangeAspect="1"/>
            </p:cNvPicPr>
            <p:nvPr/>
          </p:nvPicPr>
          <p:blipFill>
            <a:blip r:embed="rId5"/>
            <a:srcRect l="3319" t="8756" r="2764" b="8180"/>
            <a:stretch>
              <a:fillRect/>
            </a:stretch>
          </p:blipFill>
          <p:spPr>
            <a:xfrm>
              <a:off x="7373657" y="3689717"/>
              <a:ext cx="3992335" cy="2432337"/>
            </a:xfrm>
            <a:prstGeom prst="rect">
              <a:avLst/>
            </a:prstGeom>
          </p:spPr>
        </p:pic>
      </p:grpSp>
      <p:cxnSp>
        <p:nvCxnSpPr>
          <p:cNvPr id="17" name="Straight Connector 16">
            <a:extLst>
              <a:ext uri="{FF2B5EF4-FFF2-40B4-BE49-F238E27FC236}">
                <a16:creationId xmlns:a16="http://schemas.microsoft.com/office/drawing/2014/main" id="{5EC09C95-2C15-3942-2C82-45C84E99DBF7}"/>
              </a:ext>
            </a:extLst>
          </p:cNvPr>
          <p:cNvCxnSpPr>
            <a:cxnSpLocks/>
          </p:cNvCxnSpPr>
          <p:nvPr/>
        </p:nvCxnSpPr>
        <p:spPr>
          <a:xfrm>
            <a:off x="6621236" y="3429000"/>
            <a:ext cx="5019076" cy="0"/>
          </a:xfrm>
          <a:prstGeom prst="line">
            <a:avLst/>
          </a:prstGeom>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B8EAD40-CDFF-B24A-FFB7-2E760572698C}"/>
              </a:ext>
            </a:extLst>
          </p:cNvPr>
          <p:cNvPicPr>
            <a:picLocks noChangeAspect="1"/>
          </p:cNvPicPr>
          <p:nvPr/>
        </p:nvPicPr>
        <p:blipFill>
          <a:blip r:embed="rId3"/>
          <a:srcRect l="2852" t="7251" r="2674" b="13071"/>
          <a:stretch>
            <a:fillRect/>
          </a:stretch>
        </p:blipFill>
        <p:spPr>
          <a:xfrm>
            <a:off x="1901195" y="2330779"/>
            <a:ext cx="8386561" cy="3212213"/>
          </a:xfrm>
          <a:prstGeom prst="rect">
            <a:avLst/>
          </a:prstGeom>
        </p:spPr>
      </p:pic>
      <p:sp>
        <p:nvSpPr>
          <p:cNvPr id="2" name="Text 0"/>
          <p:cNvSpPr txBox="1"/>
          <p:nvPr/>
        </p:nvSpPr>
        <p:spPr>
          <a:xfrm>
            <a:off x="548640" y="411480"/>
            <a:ext cx="11091672" cy="82296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What is VEREFOO?</a:t>
            </a:r>
            <a:endParaRPr lang="en-US" sz="3400" dirty="0"/>
          </a:p>
        </p:txBody>
      </p:sp>
      <p:sp>
        <p:nvSpPr>
          <p:cNvPr id="3" name="Text 1"/>
          <p:cNvSpPr txBox="1"/>
          <p:nvPr/>
        </p:nvSpPr>
        <p:spPr>
          <a:xfrm>
            <a:off x="731520" y="1386840"/>
            <a:ext cx="10469880" cy="693996"/>
          </a:xfrm>
          <a:prstGeom prst="rect">
            <a:avLst/>
          </a:prstGeom>
          <a:noFill/>
          <a:ln/>
        </p:spPr>
        <p:txBody>
          <a:bodyPr wrap="square" lIns="0" tIns="0" rIns="0" bIns="0" rtlCol="0" anchor="t"/>
          <a:lstStyle/>
          <a:p>
            <a:pPr>
              <a:spcAft>
                <a:spcPts val="1400"/>
              </a:spcAft>
              <a:buSzPct val="100000"/>
            </a:pPr>
            <a:r>
              <a:rPr lang="en-IT" sz="2000" dirty="0">
                <a:solidFill>
                  <a:srgbClr val="232A4D"/>
                </a:solidFill>
                <a:latin typeface="Calibri" pitchFamily="34" charset="0"/>
                <a:cs typeface="Calibri" pitchFamily="34" charset="-120"/>
              </a:rPr>
              <a:t>VEREFOO is an automatic tool to that allocates and configures firewalls for a given network, formally guaranteeing correctness and optimality</a:t>
            </a:r>
            <a:endParaRPr lang="en-US" sz="2000" dirty="0">
              <a:solidFill>
                <a:srgbClr val="232A4D"/>
              </a:solidFill>
              <a:latin typeface="Calibri" pitchFamily="34" charset="0"/>
              <a:cs typeface="Calibri" pitchFamily="34" charset="-120"/>
            </a:endParaRPr>
          </a:p>
        </p:txBody>
      </p:sp>
      <p:sp>
        <p:nvSpPr>
          <p:cNvPr id="8" name="Text 3"/>
          <p:cNvSpPr txBox="1"/>
          <p:nvPr/>
        </p:nvSpPr>
        <p:spPr>
          <a:xfrm>
            <a:off x="11365992" y="6355080"/>
            <a:ext cx="457200" cy="320040"/>
          </a:xfrm>
          <a:prstGeom prst="rect">
            <a:avLst/>
          </a:prstGeom>
          <a:noFill/>
          <a:ln/>
        </p:spPr>
        <p:txBody>
          <a:bodyPr wrap="square" lIns="0" tIns="0" rIns="0" bIns="0" rtlCol="0" anchor="ctr"/>
          <a:lstStyle/>
          <a:p>
            <a:pPr marL="0" indent="0" algn="r">
              <a:buNone/>
            </a:pPr>
            <a:r>
              <a:rPr lang="en-US" sz="1100" dirty="0">
                <a:solidFill>
                  <a:srgbClr val="5A6482"/>
                </a:solidFill>
                <a:latin typeface="Calibri" pitchFamily="34" charset="0"/>
                <a:ea typeface="Calibri" pitchFamily="34" charset="-122"/>
                <a:cs typeface="Calibri" pitchFamily="34" charset="-120"/>
              </a:rPr>
              <a:t>3</a:t>
            </a:r>
            <a:endParaRPr lang="en-US" sz="1100" dirty="0"/>
          </a:p>
        </p:txBody>
      </p:sp>
      <p:pic>
        <p:nvPicPr>
          <p:cNvPr id="6" name="Image 2" descr="imgs/logo.png">
            <a:extLst>
              <a:ext uri="{FF2B5EF4-FFF2-40B4-BE49-F238E27FC236}">
                <a16:creationId xmlns:a16="http://schemas.microsoft.com/office/drawing/2014/main" id="{FDA896AC-DAE0-CA6B-B1E3-3443CF6ACA03}"/>
              </a:ext>
            </a:extLst>
          </p:cNvPr>
          <p:cNvPicPr>
            <a:picLocks noChangeAspect="1"/>
          </p:cNvPicPr>
          <p:nvPr/>
        </p:nvPicPr>
        <p:blipFill>
          <a:blip r:embed="rId4"/>
          <a:stretch>
            <a:fillRect/>
          </a:stretch>
        </p:blipFill>
        <p:spPr>
          <a:xfrm>
            <a:off x="368808" y="6350655"/>
            <a:ext cx="769199" cy="324465"/>
          </a:xfrm>
          <a:prstGeom prst="rect">
            <a:avLst/>
          </a:prstGeom>
        </p:spPr>
      </p:pic>
      <p:sp>
        <p:nvSpPr>
          <p:cNvPr id="9" name="TextBox 8">
            <a:extLst>
              <a:ext uri="{FF2B5EF4-FFF2-40B4-BE49-F238E27FC236}">
                <a16:creationId xmlns:a16="http://schemas.microsoft.com/office/drawing/2014/main" id="{8BCF269E-F77D-29FF-BC68-63ED5C4255C6}"/>
              </a:ext>
            </a:extLst>
          </p:cNvPr>
          <p:cNvSpPr txBox="1"/>
          <p:nvPr/>
        </p:nvSpPr>
        <p:spPr>
          <a:xfrm>
            <a:off x="753407" y="5792935"/>
            <a:ext cx="7489247" cy="307777"/>
          </a:xfrm>
          <a:prstGeom prst="rect">
            <a:avLst/>
          </a:prstGeom>
          <a:noFill/>
        </p:spPr>
        <p:txBody>
          <a:bodyPr wrap="square">
            <a:spAutoFit/>
          </a:bodyPr>
          <a:lstStyle/>
          <a:p>
            <a:r>
              <a:rPr lang="en-US" sz="1400" dirty="0">
                <a:solidFill>
                  <a:srgbClr val="232A4D"/>
                </a:solidFill>
                <a:latin typeface="Calibri" pitchFamily="34" charset="0"/>
                <a:ea typeface="Calibri" pitchFamily="34" charset="-122"/>
                <a:cs typeface="Calibri" pitchFamily="34" charset="-120"/>
              </a:rPr>
              <a:t>*Network Security Requirements (NSRs) — which traffic flows must be allowed or denied</a:t>
            </a:r>
            <a:endParaRPr lang="en-IT" sz="1200" dirty="0"/>
          </a:p>
        </p:txBody>
      </p:sp>
      <p:sp>
        <p:nvSpPr>
          <p:cNvPr id="11" name="TextBox 10">
            <a:extLst>
              <a:ext uri="{FF2B5EF4-FFF2-40B4-BE49-F238E27FC236}">
                <a16:creationId xmlns:a16="http://schemas.microsoft.com/office/drawing/2014/main" id="{B4974A6F-FA7E-55AC-3EEE-C7F15258DE38}"/>
              </a:ext>
            </a:extLst>
          </p:cNvPr>
          <p:cNvSpPr txBox="1"/>
          <p:nvPr/>
        </p:nvSpPr>
        <p:spPr>
          <a:xfrm>
            <a:off x="3740837" y="4149085"/>
            <a:ext cx="329911" cy="307777"/>
          </a:xfrm>
          <a:prstGeom prst="rect">
            <a:avLst/>
          </a:prstGeom>
          <a:noFill/>
        </p:spPr>
        <p:txBody>
          <a:bodyPr wrap="square">
            <a:spAutoFit/>
          </a:bodyPr>
          <a:lstStyle/>
          <a:p>
            <a:r>
              <a:rPr lang="en-US" sz="1400" dirty="0">
                <a:solidFill>
                  <a:srgbClr val="232A4D"/>
                </a:solidFill>
                <a:latin typeface="Calibri" pitchFamily="34" charset="0"/>
                <a:ea typeface="Calibri" pitchFamily="34" charset="-122"/>
                <a:cs typeface="Calibri" pitchFamily="34" charset="-120"/>
              </a:rPr>
              <a:t>*</a:t>
            </a:r>
            <a:endParaRPr lang="en-IT"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329E1C9-8483-9138-5BA6-1BCDF38450F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F72C7D3-B983-DCE5-CFC1-1E436D037398}"/>
              </a:ext>
            </a:extLst>
          </p:cNvPr>
          <p:cNvSpPr txBox="1"/>
          <p:nvPr/>
        </p:nvSpPr>
        <p:spPr>
          <a:xfrm>
            <a:off x="548640" y="411480"/>
            <a:ext cx="11091672" cy="822960"/>
          </a:xfrm>
          <a:prstGeom prst="rect">
            <a:avLst/>
          </a:prstGeom>
          <a:noFill/>
          <a:ln/>
        </p:spPr>
        <p:txBody>
          <a:bodyPr wrap="square" lIns="0" tIns="0" rIns="0" bIns="0" rtlCol="0" anchor="ctr"/>
          <a:lstStyle/>
          <a:p>
            <a:r>
              <a:rPr lang="en-US" sz="3400" b="1" dirty="0">
                <a:solidFill>
                  <a:srgbClr val="1E2761"/>
                </a:solidFill>
                <a:latin typeface="Cambria" pitchFamily="34" charset="0"/>
                <a:ea typeface="Cambria" pitchFamily="34" charset="-122"/>
                <a:cs typeface="Cambria" pitchFamily="34" charset="-120"/>
              </a:rPr>
              <a:t>Solution for dynamism: React-VEREFOO</a:t>
            </a:r>
            <a:endParaRPr lang="en-US" sz="3400" dirty="0"/>
          </a:p>
        </p:txBody>
      </p:sp>
      <p:sp>
        <p:nvSpPr>
          <p:cNvPr id="3" name="Text 1">
            <a:extLst>
              <a:ext uri="{FF2B5EF4-FFF2-40B4-BE49-F238E27FC236}">
                <a16:creationId xmlns:a16="http://schemas.microsoft.com/office/drawing/2014/main" id="{C6F01DB4-D61C-0726-7299-1552686D9273}"/>
              </a:ext>
            </a:extLst>
          </p:cNvPr>
          <p:cNvSpPr txBox="1"/>
          <p:nvPr/>
        </p:nvSpPr>
        <p:spPr>
          <a:xfrm>
            <a:off x="731520" y="1386840"/>
            <a:ext cx="10469880" cy="908571"/>
          </a:xfrm>
          <a:prstGeom prst="rect">
            <a:avLst/>
          </a:prstGeom>
          <a:noFill/>
          <a:ln/>
        </p:spPr>
        <p:txBody>
          <a:bodyPr wrap="square" lIns="0" tIns="0" rIns="0" bIns="0" rtlCol="0" anchor="t"/>
          <a:lstStyle/>
          <a:p>
            <a:pPr>
              <a:spcAft>
                <a:spcPts val="1400"/>
              </a:spcAft>
              <a:buSzPct val="100000"/>
            </a:pPr>
            <a:r>
              <a:rPr lang="en-US" sz="2000" dirty="0">
                <a:solidFill>
                  <a:srgbClr val="232A4D"/>
                </a:solidFill>
                <a:latin typeface="Calibri" pitchFamily="34" charset="0"/>
                <a:cs typeface="Calibri" pitchFamily="34" charset="-120"/>
              </a:rPr>
              <a:t>React-VEREFOO automatically reconfigures an existing firewall configuration when new requirements are introduced, avoiding a full re-computation from scratch </a:t>
            </a:r>
          </a:p>
        </p:txBody>
      </p:sp>
      <p:sp>
        <p:nvSpPr>
          <p:cNvPr id="8" name="Text 3">
            <a:extLst>
              <a:ext uri="{FF2B5EF4-FFF2-40B4-BE49-F238E27FC236}">
                <a16:creationId xmlns:a16="http://schemas.microsoft.com/office/drawing/2014/main" id="{670BC2F0-B1FC-A0AF-47AC-36E18839953F}"/>
              </a:ext>
            </a:extLst>
          </p:cNvPr>
          <p:cNvSpPr txBox="1"/>
          <p:nvPr/>
        </p:nvSpPr>
        <p:spPr>
          <a:xfrm>
            <a:off x="11365992" y="6355080"/>
            <a:ext cx="457200" cy="320040"/>
          </a:xfrm>
          <a:prstGeom prst="rect">
            <a:avLst/>
          </a:prstGeom>
          <a:noFill/>
          <a:ln/>
        </p:spPr>
        <p:txBody>
          <a:bodyPr wrap="square" lIns="0" tIns="0" rIns="0" bIns="0" rtlCol="0" anchor="ctr"/>
          <a:lstStyle/>
          <a:p>
            <a:pPr marL="0" indent="0" algn="r">
              <a:buNone/>
            </a:pPr>
            <a:r>
              <a:rPr lang="en-US" sz="1100" dirty="0">
                <a:solidFill>
                  <a:srgbClr val="5A6482"/>
                </a:solidFill>
                <a:latin typeface="Calibri" pitchFamily="34" charset="0"/>
                <a:ea typeface="Calibri" pitchFamily="34" charset="-122"/>
                <a:cs typeface="Calibri" pitchFamily="34" charset="-120"/>
              </a:rPr>
              <a:t>3</a:t>
            </a:r>
            <a:endParaRPr lang="en-US" sz="1100" dirty="0"/>
          </a:p>
        </p:txBody>
      </p:sp>
      <p:pic>
        <p:nvPicPr>
          <p:cNvPr id="6" name="Image 2" descr="imgs/logo.png">
            <a:extLst>
              <a:ext uri="{FF2B5EF4-FFF2-40B4-BE49-F238E27FC236}">
                <a16:creationId xmlns:a16="http://schemas.microsoft.com/office/drawing/2014/main" id="{C068259F-500E-2982-B52C-D802E79EFACB}"/>
              </a:ext>
            </a:extLst>
          </p:cNvPr>
          <p:cNvPicPr>
            <a:picLocks noChangeAspect="1"/>
          </p:cNvPicPr>
          <p:nvPr/>
        </p:nvPicPr>
        <p:blipFill>
          <a:blip r:embed="rId3"/>
          <a:stretch>
            <a:fillRect/>
          </a:stretch>
        </p:blipFill>
        <p:spPr>
          <a:xfrm>
            <a:off x="368808" y="6350655"/>
            <a:ext cx="769199" cy="324465"/>
          </a:xfrm>
          <a:prstGeom prst="rect">
            <a:avLst/>
          </a:prstGeom>
        </p:spPr>
      </p:pic>
      <p:sp>
        <p:nvSpPr>
          <p:cNvPr id="4" name="Text 6">
            <a:extLst>
              <a:ext uri="{FF2B5EF4-FFF2-40B4-BE49-F238E27FC236}">
                <a16:creationId xmlns:a16="http://schemas.microsoft.com/office/drawing/2014/main" id="{3CF4BD13-959F-23AF-FFC8-F36B4598D23D}"/>
              </a:ext>
            </a:extLst>
          </p:cNvPr>
          <p:cNvSpPr txBox="1"/>
          <p:nvPr/>
        </p:nvSpPr>
        <p:spPr>
          <a:xfrm>
            <a:off x="731520" y="2651463"/>
            <a:ext cx="4660257" cy="2638221"/>
          </a:xfrm>
          <a:prstGeom prst="rect">
            <a:avLst/>
          </a:prstGeom>
          <a:noFill/>
          <a:ln/>
        </p:spPr>
        <p:txBody>
          <a:bodyPr wrap="square" lIns="0" tIns="0" rIns="0" bIns="0" rtlCol="0" anchor="t"/>
          <a:lstStyle/>
          <a:p>
            <a:pPr marL="342900" indent="-342900">
              <a:spcAft>
                <a:spcPts val="800"/>
              </a:spcAft>
              <a:buSzPct val="100000"/>
              <a:buFont typeface="Arial" panose="020B0604020202020204" pitchFamily="34" charset="0"/>
              <a:buChar char="•"/>
            </a:pPr>
            <a:r>
              <a:rPr lang="en-US" sz="2000" dirty="0">
                <a:solidFill>
                  <a:srgbClr val="232A4D"/>
                </a:solidFill>
                <a:latin typeface="Calibri" pitchFamily="34" charset="0"/>
                <a:ea typeface="Calibri" pitchFamily="34" charset="-122"/>
                <a:cs typeface="Calibri" pitchFamily="34" charset="-120"/>
              </a:rPr>
              <a:t>Input: existing configuration (firewalls already in place), initial requirements + additional requirements</a:t>
            </a:r>
          </a:p>
          <a:p>
            <a:pPr marL="342900" indent="-342900">
              <a:spcAft>
                <a:spcPts val="800"/>
              </a:spcAft>
              <a:buSzPct val="100000"/>
              <a:buFont typeface="Arial" panose="020B0604020202020204" pitchFamily="34" charset="0"/>
              <a:buChar char="•"/>
            </a:pPr>
            <a:r>
              <a:rPr lang="en-US" sz="2000" dirty="0">
                <a:solidFill>
                  <a:srgbClr val="232A4D"/>
                </a:solidFill>
                <a:latin typeface="Calibri" pitchFamily="34" charset="0"/>
                <a:ea typeface="Calibri" pitchFamily="34" charset="-122"/>
                <a:cs typeface="Calibri" pitchFamily="34" charset="-120"/>
              </a:rPr>
              <a:t>Classifies NSRs as added, kept, or deleted and </a:t>
            </a:r>
            <a:r>
              <a:rPr lang="en-US" sz="2000" b="1" dirty="0">
                <a:solidFill>
                  <a:srgbClr val="232A4D"/>
                </a:solidFill>
                <a:latin typeface="Calibri" pitchFamily="34" charset="0"/>
                <a:ea typeface="Calibri" pitchFamily="34" charset="-122"/>
                <a:cs typeface="Calibri" pitchFamily="34" charset="-120"/>
              </a:rPr>
              <a:t>reconfigures only the affected area</a:t>
            </a:r>
          </a:p>
          <a:p>
            <a:pPr marL="342900" indent="-342900">
              <a:spcAft>
                <a:spcPts val="800"/>
              </a:spcAft>
              <a:buSzPct val="100000"/>
              <a:buFont typeface="Arial" panose="020B0604020202020204" pitchFamily="34" charset="0"/>
              <a:buChar char="•"/>
            </a:pPr>
            <a:r>
              <a:rPr lang="en-IT" sz="2000" dirty="0">
                <a:solidFill>
                  <a:srgbClr val="232A4D"/>
                </a:solidFill>
                <a:latin typeface="Calibri" pitchFamily="34" charset="0"/>
                <a:cs typeface="Calibri" pitchFamily="34" charset="-120"/>
              </a:rPr>
              <a:t>Much faster than the monolithic version </a:t>
            </a:r>
            <a:r>
              <a:rPr lang="en-IT" sz="2000" b="1" dirty="0">
                <a:solidFill>
                  <a:srgbClr val="232A4D"/>
                </a:solidFill>
                <a:latin typeface="Calibri" pitchFamily="34" charset="0"/>
                <a:cs typeface="Calibri" pitchFamily="34" charset="-120"/>
              </a:rPr>
              <a:t>when only a small batch of requirements changes</a:t>
            </a:r>
            <a:endParaRPr lang="en-US" sz="2000" b="1" dirty="0">
              <a:solidFill>
                <a:srgbClr val="232A4D"/>
              </a:solidFill>
              <a:latin typeface="Calibri" pitchFamily="34" charset="0"/>
              <a:cs typeface="Calibri" pitchFamily="34" charset="-120"/>
            </a:endParaRPr>
          </a:p>
        </p:txBody>
      </p:sp>
      <p:pic>
        <p:nvPicPr>
          <p:cNvPr id="7" name="Picture 6">
            <a:extLst>
              <a:ext uri="{FF2B5EF4-FFF2-40B4-BE49-F238E27FC236}">
                <a16:creationId xmlns:a16="http://schemas.microsoft.com/office/drawing/2014/main" id="{9BC47738-826F-C851-1011-1A9E4AEB5D5F}"/>
              </a:ext>
            </a:extLst>
          </p:cNvPr>
          <p:cNvPicPr>
            <a:picLocks noChangeAspect="1"/>
          </p:cNvPicPr>
          <p:nvPr/>
        </p:nvPicPr>
        <p:blipFill>
          <a:blip r:embed="rId4"/>
          <a:srcRect l="3174" t="8744" r="2934" b="14506"/>
          <a:stretch>
            <a:fillRect/>
          </a:stretch>
        </p:blipFill>
        <p:spPr>
          <a:xfrm>
            <a:off x="5747483" y="2651463"/>
            <a:ext cx="6075709" cy="2291577"/>
          </a:xfrm>
          <a:prstGeom prst="rect">
            <a:avLst/>
          </a:prstGeom>
        </p:spPr>
      </p:pic>
    </p:spTree>
    <p:extLst>
      <p:ext uri="{BB962C8B-B14F-4D97-AF65-F5344CB8AC3E}">
        <p14:creationId xmlns:p14="http://schemas.microsoft.com/office/powerpoint/2010/main" val="22626165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2E14C5C5-4AD7-62A9-6DA0-992094E7EE0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343B032-9245-C132-5F11-5AB7E683E2FF}"/>
              </a:ext>
            </a:extLst>
          </p:cNvPr>
          <p:cNvSpPr/>
          <p:nvPr/>
        </p:nvSpPr>
        <p:spPr>
          <a:xfrm>
            <a:off x="-2011680" y="4206240"/>
            <a:ext cx="4754880" cy="4754880"/>
          </a:xfrm>
          <a:prstGeom prst="ellipse">
            <a:avLst/>
          </a:prstGeom>
          <a:solidFill>
            <a:srgbClr val="141A45"/>
          </a:solidFill>
          <a:ln/>
        </p:spPr>
        <p:txBody>
          <a:bodyPr/>
          <a:lstStyle/>
          <a:p>
            <a:endParaRPr lang="en-IT"/>
          </a:p>
        </p:txBody>
      </p:sp>
      <p:sp>
        <p:nvSpPr>
          <p:cNvPr id="3" name="Text 1">
            <a:extLst>
              <a:ext uri="{FF2B5EF4-FFF2-40B4-BE49-F238E27FC236}">
                <a16:creationId xmlns:a16="http://schemas.microsoft.com/office/drawing/2014/main" id="{1DBA9084-20F0-8708-6D98-3075662921A9}"/>
              </a:ext>
            </a:extLst>
          </p:cNvPr>
          <p:cNvSpPr txBox="1"/>
          <p:nvPr/>
        </p:nvSpPr>
        <p:spPr>
          <a:xfrm>
            <a:off x="731520" y="960120"/>
            <a:ext cx="7315200" cy="365760"/>
          </a:xfrm>
          <a:prstGeom prst="rect">
            <a:avLst/>
          </a:prstGeom>
          <a:noFill/>
          <a:ln/>
        </p:spPr>
        <p:txBody>
          <a:bodyPr wrap="square" lIns="0" tIns="0" rIns="0" bIns="0" rtlCol="0" anchor="ctr"/>
          <a:lstStyle/>
          <a:p>
            <a:pPr marL="0" indent="0">
              <a:buNone/>
            </a:pPr>
            <a:r>
              <a:rPr lang="en-US" sz="1400" b="1" kern="0" spc="200" dirty="0">
                <a:solidFill>
                  <a:srgbClr val="F2A65A"/>
                </a:solidFill>
                <a:latin typeface="Calibri" pitchFamily="34" charset="0"/>
                <a:ea typeface="Calibri" pitchFamily="34" charset="-122"/>
                <a:cs typeface="Calibri" pitchFamily="34" charset="-120"/>
              </a:rPr>
              <a:t>KEY IDEA</a:t>
            </a:r>
            <a:endParaRPr lang="en-US" sz="1400" dirty="0"/>
          </a:p>
        </p:txBody>
      </p:sp>
      <p:sp>
        <p:nvSpPr>
          <p:cNvPr id="4" name="Text 2">
            <a:extLst>
              <a:ext uri="{FF2B5EF4-FFF2-40B4-BE49-F238E27FC236}">
                <a16:creationId xmlns:a16="http://schemas.microsoft.com/office/drawing/2014/main" id="{D17BD8F9-8CCB-9E15-F5E6-9A4C371BC502}"/>
              </a:ext>
            </a:extLst>
          </p:cNvPr>
          <p:cNvSpPr txBox="1"/>
          <p:nvPr/>
        </p:nvSpPr>
        <p:spPr>
          <a:xfrm>
            <a:off x="731520" y="1417320"/>
            <a:ext cx="10698480" cy="1234440"/>
          </a:xfrm>
          <a:prstGeom prst="rect">
            <a:avLst/>
          </a:prstGeom>
          <a:noFill/>
          <a:ln/>
        </p:spPr>
        <p:txBody>
          <a:bodyPr wrap="square" lIns="0" tIns="0" rIns="0" bIns="0" rtlCol="0" anchor="ctr"/>
          <a:lstStyle/>
          <a:p>
            <a:r>
              <a:rPr lang="en-IT" sz="3000" b="1" dirty="0">
                <a:solidFill>
                  <a:srgbClr val="FFFFFF"/>
                </a:solidFill>
                <a:latin typeface="Cambria" pitchFamily="34" charset="0"/>
              </a:rPr>
              <a:t>Replace the </a:t>
            </a:r>
            <a:r>
              <a:rPr lang="en-IT" sz="3000" b="1" i="1" dirty="0">
                <a:solidFill>
                  <a:srgbClr val="FFFFFF"/>
                </a:solidFill>
                <a:latin typeface="Cambria" pitchFamily="34" charset="0"/>
              </a:rPr>
              <a:t>one-shot</a:t>
            </a:r>
            <a:r>
              <a:rPr lang="en-IT" sz="3000" b="1" dirty="0">
                <a:solidFill>
                  <a:srgbClr val="FFFFFF"/>
                </a:solidFill>
                <a:latin typeface="Cambria" pitchFamily="34" charset="0"/>
              </a:rPr>
              <a:t> approach of VEREFOO with a sequence of calls to React-VEREFOO </a:t>
            </a:r>
            <a:r>
              <a:rPr lang="en-US" sz="3000" b="1" dirty="0">
                <a:solidFill>
                  <a:srgbClr val="FFFFFF"/>
                </a:solidFill>
                <a:latin typeface="Cambria" pitchFamily="34" charset="0"/>
                <a:ea typeface="Cambria" pitchFamily="34" charset="-122"/>
                <a:cs typeface="Cambria" pitchFamily="34" charset="-120"/>
              </a:rPr>
              <a:t>— each one adding one single requirement.</a:t>
            </a:r>
            <a:endParaRPr lang="en-US" sz="3000" dirty="0"/>
          </a:p>
        </p:txBody>
      </p:sp>
      <p:sp>
        <p:nvSpPr>
          <p:cNvPr id="5" name="Shape 3">
            <a:extLst>
              <a:ext uri="{FF2B5EF4-FFF2-40B4-BE49-F238E27FC236}">
                <a16:creationId xmlns:a16="http://schemas.microsoft.com/office/drawing/2014/main" id="{2D55E659-0A3A-0C08-77D6-AE981C2E51BD}"/>
              </a:ext>
            </a:extLst>
          </p:cNvPr>
          <p:cNvSpPr/>
          <p:nvPr/>
        </p:nvSpPr>
        <p:spPr>
          <a:xfrm>
            <a:off x="731520" y="3246120"/>
            <a:ext cx="4937760" cy="2834640"/>
          </a:xfrm>
          <a:prstGeom prst="roundRect">
            <a:avLst>
              <a:gd name="adj" fmla="val 3871"/>
            </a:avLst>
          </a:prstGeom>
          <a:solidFill>
            <a:srgbClr val="24306B"/>
          </a:solidFill>
          <a:ln/>
        </p:spPr>
        <p:txBody>
          <a:bodyPr/>
          <a:lstStyle/>
          <a:p>
            <a:endParaRPr lang="en-IT"/>
          </a:p>
        </p:txBody>
      </p:sp>
      <p:sp>
        <p:nvSpPr>
          <p:cNvPr id="6" name="Text 4">
            <a:extLst>
              <a:ext uri="{FF2B5EF4-FFF2-40B4-BE49-F238E27FC236}">
                <a16:creationId xmlns:a16="http://schemas.microsoft.com/office/drawing/2014/main" id="{A0B41F20-F402-ECAD-0C0E-00A6E28FD408}"/>
              </a:ext>
            </a:extLst>
          </p:cNvPr>
          <p:cNvSpPr txBox="1"/>
          <p:nvPr/>
        </p:nvSpPr>
        <p:spPr>
          <a:xfrm>
            <a:off x="1005840" y="3474720"/>
            <a:ext cx="4389120" cy="320040"/>
          </a:xfrm>
          <a:prstGeom prst="rect">
            <a:avLst/>
          </a:prstGeom>
          <a:noFill/>
          <a:ln/>
        </p:spPr>
        <p:txBody>
          <a:bodyPr wrap="square" lIns="0" tIns="0" rIns="0" bIns="0" rtlCol="0" anchor="ctr"/>
          <a:lstStyle/>
          <a:p>
            <a:pPr marL="0" indent="0">
              <a:buNone/>
            </a:pPr>
            <a:r>
              <a:rPr lang="en-US" sz="1600" b="1" dirty="0">
                <a:solidFill>
                  <a:srgbClr val="CADCFC"/>
                </a:solidFill>
                <a:latin typeface="Calibri" pitchFamily="34" charset="0"/>
                <a:ea typeface="Calibri" pitchFamily="34" charset="-122"/>
                <a:cs typeface="Calibri" pitchFamily="34" charset="-120"/>
              </a:rPr>
              <a:t>Vanilla VEREFOO</a:t>
            </a:r>
            <a:endParaRPr lang="en-US" sz="1600" dirty="0"/>
          </a:p>
        </p:txBody>
      </p:sp>
      <p:sp>
        <p:nvSpPr>
          <p:cNvPr id="7" name="Shape 5">
            <a:extLst>
              <a:ext uri="{FF2B5EF4-FFF2-40B4-BE49-F238E27FC236}">
                <a16:creationId xmlns:a16="http://schemas.microsoft.com/office/drawing/2014/main" id="{896C35BD-F93B-DD55-7540-F2E050086491}"/>
              </a:ext>
            </a:extLst>
          </p:cNvPr>
          <p:cNvSpPr/>
          <p:nvPr/>
        </p:nvSpPr>
        <p:spPr>
          <a:xfrm>
            <a:off x="1188720" y="4069080"/>
            <a:ext cx="3931920" cy="685800"/>
          </a:xfrm>
          <a:prstGeom prst="roundRect">
            <a:avLst>
              <a:gd name="adj" fmla="val 13333"/>
            </a:avLst>
          </a:prstGeom>
          <a:solidFill>
            <a:srgbClr val="141A45"/>
          </a:solidFill>
          <a:ln w="12700">
            <a:solidFill>
              <a:srgbClr val="F2A65A"/>
            </a:solidFill>
            <a:prstDash val="solid"/>
          </a:ln>
        </p:spPr>
        <p:txBody>
          <a:bodyPr/>
          <a:lstStyle/>
          <a:p>
            <a:endParaRPr lang="en-IT"/>
          </a:p>
        </p:txBody>
      </p:sp>
      <p:sp>
        <p:nvSpPr>
          <p:cNvPr id="8" name="Text 6">
            <a:extLst>
              <a:ext uri="{FF2B5EF4-FFF2-40B4-BE49-F238E27FC236}">
                <a16:creationId xmlns:a16="http://schemas.microsoft.com/office/drawing/2014/main" id="{FBC5AAE4-4F1A-8027-F613-600F8EF9D2FC}"/>
              </a:ext>
            </a:extLst>
          </p:cNvPr>
          <p:cNvSpPr txBox="1"/>
          <p:nvPr/>
        </p:nvSpPr>
        <p:spPr>
          <a:xfrm>
            <a:off x="1188720" y="4069080"/>
            <a:ext cx="3931920" cy="68580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large batch of </a:t>
            </a:r>
            <a:r>
              <a:rPr lang="en-US" sz="1400" b="1" dirty="0">
                <a:solidFill>
                  <a:srgbClr val="FFFFFF"/>
                </a:solidFill>
                <a:latin typeface="Calibri" pitchFamily="34" charset="0"/>
                <a:ea typeface="Calibri" pitchFamily="34" charset="-122"/>
                <a:cs typeface="Calibri" pitchFamily="34" charset="-120"/>
              </a:rPr>
              <a:t>N</a:t>
            </a:r>
            <a:r>
              <a:rPr lang="en-US" sz="1400" dirty="0">
                <a:solidFill>
                  <a:srgbClr val="FFFFFF"/>
                </a:solidFill>
                <a:latin typeface="Calibri" pitchFamily="34" charset="0"/>
                <a:ea typeface="Calibri" pitchFamily="34" charset="-122"/>
                <a:cs typeface="Calibri" pitchFamily="34" charset="-120"/>
              </a:rPr>
              <a:t> NSRs</a:t>
            </a:r>
            <a:endParaRPr lang="en-US" sz="1400" dirty="0"/>
          </a:p>
        </p:txBody>
      </p:sp>
      <p:sp>
        <p:nvSpPr>
          <p:cNvPr id="9" name="Text 7">
            <a:extLst>
              <a:ext uri="{FF2B5EF4-FFF2-40B4-BE49-F238E27FC236}">
                <a16:creationId xmlns:a16="http://schemas.microsoft.com/office/drawing/2014/main" id="{C7286D86-C0F3-EC09-A7E3-2116BDC873BB}"/>
              </a:ext>
            </a:extLst>
          </p:cNvPr>
          <p:cNvSpPr txBox="1"/>
          <p:nvPr/>
        </p:nvSpPr>
        <p:spPr>
          <a:xfrm>
            <a:off x="1188720" y="4937760"/>
            <a:ext cx="3931920" cy="365760"/>
          </a:xfrm>
          <a:prstGeom prst="rect">
            <a:avLst/>
          </a:prstGeom>
          <a:noFill/>
          <a:ln/>
        </p:spPr>
        <p:txBody>
          <a:bodyPr wrap="square" lIns="0" tIns="0" rIns="0" bIns="0" rtlCol="0" anchor="ctr"/>
          <a:lstStyle/>
          <a:p>
            <a:pPr marL="0" indent="0" algn="ctr">
              <a:buNone/>
            </a:pPr>
            <a:r>
              <a:rPr lang="en-US" sz="1400" dirty="0">
                <a:solidFill>
                  <a:schemeClr val="bg1"/>
                </a:solidFill>
                <a:latin typeface="Calibri" pitchFamily="34" charset="0"/>
                <a:ea typeface="Calibri" pitchFamily="34" charset="-122"/>
                <a:cs typeface="Calibri" pitchFamily="34" charset="-120"/>
              </a:rPr>
              <a:t>▼  one expensive solver call</a:t>
            </a:r>
            <a:endParaRPr lang="en-US" sz="1400" dirty="0">
              <a:solidFill>
                <a:schemeClr val="bg1"/>
              </a:solidFill>
            </a:endParaRPr>
          </a:p>
        </p:txBody>
      </p:sp>
      <p:sp>
        <p:nvSpPr>
          <p:cNvPr id="10" name="Text 8">
            <a:extLst>
              <a:ext uri="{FF2B5EF4-FFF2-40B4-BE49-F238E27FC236}">
                <a16:creationId xmlns:a16="http://schemas.microsoft.com/office/drawing/2014/main" id="{84F8B2D1-EAA9-17F4-D65C-6CC5F1A9C4A5}"/>
              </a:ext>
            </a:extLst>
          </p:cNvPr>
          <p:cNvSpPr txBox="1"/>
          <p:nvPr/>
        </p:nvSpPr>
        <p:spPr>
          <a:xfrm>
            <a:off x="1188720" y="5394960"/>
            <a:ext cx="3931920" cy="457200"/>
          </a:xfrm>
          <a:prstGeom prst="rect">
            <a:avLst/>
          </a:prstGeom>
          <a:noFill/>
          <a:ln/>
        </p:spPr>
        <p:txBody>
          <a:bodyPr wrap="square" lIns="0" tIns="0" rIns="0" bIns="0" rtlCol="0" anchor="ctr"/>
          <a:lstStyle/>
          <a:p>
            <a:pPr marL="0" indent="0" algn="ctr">
              <a:buNone/>
            </a:pPr>
            <a:r>
              <a:rPr lang="en-US" sz="1400" i="1" dirty="0">
                <a:solidFill>
                  <a:srgbClr val="F2A65A"/>
                </a:solidFill>
                <a:latin typeface="Calibri" pitchFamily="34" charset="0"/>
                <a:ea typeface="Calibri" pitchFamily="34" charset="-122"/>
                <a:cs typeface="Calibri" pitchFamily="34" charset="-120"/>
              </a:rPr>
              <a:t>speedup degrades as the batch grows</a:t>
            </a:r>
            <a:endParaRPr lang="en-US" sz="1400" dirty="0"/>
          </a:p>
        </p:txBody>
      </p:sp>
      <p:sp>
        <p:nvSpPr>
          <p:cNvPr id="11" name="Shape 9">
            <a:extLst>
              <a:ext uri="{FF2B5EF4-FFF2-40B4-BE49-F238E27FC236}">
                <a16:creationId xmlns:a16="http://schemas.microsoft.com/office/drawing/2014/main" id="{B46588B5-B82F-A8E6-2FCB-708F13632D30}"/>
              </a:ext>
            </a:extLst>
          </p:cNvPr>
          <p:cNvSpPr/>
          <p:nvPr/>
        </p:nvSpPr>
        <p:spPr>
          <a:xfrm>
            <a:off x="6492240" y="3246120"/>
            <a:ext cx="4937760" cy="2834640"/>
          </a:xfrm>
          <a:prstGeom prst="roundRect">
            <a:avLst>
              <a:gd name="adj" fmla="val 3871"/>
            </a:avLst>
          </a:prstGeom>
          <a:solidFill>
            <a:schemeClr val="accent2"/>
          </a:solidFill>
          <a:ln/>
        </p:spPr>
        <p:txBody>
          <a:bodyPr/>
          <a:lstStyle/>
          <a:p>
            <a:endParaRPr lang="en-IT"/>
          </a:p>
        </p:txBody>
      </p:sp>
      <p:sp>
        <p:nvSpPr>
          <p:cNvPr id="12" name="Text 10">
            <a:extLst>
              <a:ext uri="{FF2B5EF4-FFF2-40B4-BE49-F238E27FC236}">
                <a16:creationId xmlns:a16="http://schemas.microsoft.com/office/drawing/2014/main" id="{F33BF1C5-E919-571E-C4DA-DE76F0D81557}"/>
              </a:ext>
            </a:extLst>
          </p:cNvPr>
          <p:cNvSpPr txBox="1"/>
          <p:nvPr/>
        </p:nvSpPr>
        <p:spPr>
          <a:xfrm>
            <a:off x="6766560" y="3474720"/>
            <a:ext cx="4389120" cy="320040"/>
          </a:xfrm>
          <a:prstGeom prst="rect">
            <a:avLst/>
          </a:prstGeom>
          <a:noFill/>
          <a:ln/>
        </p:spPr>
        <p:txBody>
          <a:bodyPr wrap="square" lIns="0" tIns="0" rIns="0" bIns="0" rtlCol="0" anchor="ctr"/>
          <a:lstStyle/>
          <a:p>
            <a:pPr marL="0" indent="0">
              <a:buNone/>
            </a:pPr>
            <a:r>
              <a:rPr lang="en-US" sz="1600" b="1" dirty="0">
                <a:solidFill>
                  <a:srgbClr val="002060"/>
                </a:solidFill>
                <a:latin typeface="Calibri" pitchFamily="34" charset="0"/>
                <a:ea typeface="Calibri" pitchFamily="34" charset="-122"/>
                <a:cs typeface="Calibri" pitchFamily="34" charset="-120"/>
              </a:rPr>
              <a:t>Iterative VEREFOO (this thesis)</a:t>
            </a:r>
            <a:endParaRPr lang="en-US" sz="1600" dirty="0">
              <a:solidFill>
                <a:srgbClr val="002060"/>
              </a:solidFill>
            </a:endParaRPr>
          </a:p>
        </p:txBody>
      </p:sp>
      <p:sp>
        <p:nvSpPr>
          <p:cNvPr id="13" name="Shape 11">
            <a:extLst>
              <a:ext uri="{FF2B5EF4-FFF2-40B4-BE49-F238E27FC236}">
                <a16:creationId xmlns:a16="http://schemas.microsoft.com/office/drawing/2014/main" id="{7B530BA7-1E40-5907-8295-7B63A6F611C2}"/>
              </a:ext>
            </a:extLst>
          </p:cNvPr>
          <p:cNvSpPr/>
          <p:nvPr/>
        </p:nvSpPr>
        <p:spPr>
          <a:xfrm>
            <a:off x="7263344" y="4114800"/>
            <a:ext cx="566928" cy="548640"/>
          </a:xfrm>
          <a:prstGeom prst="roundRect">
            <a:avLst>
              <a:gd name="adj" fmla="val 13333"/>
            </a:avLst>
          </a:prstGeom>
          <a:solidFill>
            <a:srgbClr val="141A45"/>
          </a:solidFill>
          <a:ln w="12700">
            <a:solidFill>
              <a:srgbClr val="F2A65A"/>
            </a:solidFill>
            <a:prstDash val="solid"/>
          </a:ln>
        </p:spPr>
        <p:txBody>
          <a:bodyPr/>
          <a:lstStyle/>
          <a:p>
            <a:endParaRPr lang="en-IT"/>
          </a:p>
        </p:txBody>
      </p:sp>
      <p:sp>
        <p:nvSpPr>
          <p:cNvPr id="14" name="Text 12">
            <a:extLst>
              <a:ext uri="{FF2B5EF4-FFF2-40B4-BE49-F238E27FC236}">
                <a16:creationId xmlns:a16="http://schemas.microsoft.com/office/drawing/2014/main" id="{ACB3C142-F6A6-4654-8CFC-1F92EBCA4FD8}"/>
              </a:ext>
            </a:extLst>
          </p:cNvPr>
          <p:cNvSpPr txBox="1"/>
          <p:nvPr/>
        </p:nvSpPr>
        <p:spPr>
          <a:xfrm>
            <a:off x="7263344" y="4114800"/>
            <a:ext cx="566928" cy="5486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1</a:t>
            </a:r>
            <a:endParaRPr lang="en-US" sz="1200" dirty="0"/>
          </a:p>
        </p:txBody>
      </p:sp>
      <p:sp>
        <p:nvSpPr>
          <p:cNvPr id="15" name="Shape 13">
            <a:extLst>
              <a:ext uri="{FF2B5EF4-FFF2-40B4-BE49-F238E27FC236}">
                <a16:creationId xmlns:a16="http://schemas.microsoft.com/office/drawing/2014/main" id="{12A2A5AE-269D-BAFE-8FC7-3A8E24BB4FCA}"/>
              </a:ext>
            </a:extLst>
          </p:cNvPr>
          <p:cNvSpPr/>
          <p:nvPr/>
        </p:nvSpPr>
        <p:spPr>
          <a:xfrm>
            <a:off x="7940000" y="4114800"/>
            <a:ext cx="566928" cy="548640"/>
          </a:xfrm>
          <a:prstGeom prst="roundRect">
            <a:avLst>
              <a:gd name="adj" fmla="val 13333"/>
            </a:avLst>
          </a:prstGeom>
          <a:solidFill>
            <a:srgbClr val="141A45"/>
          </a:solidFill>
          <a:ln w="12700">
            <a:solidFill>
              <a:srgbClr val="F2A65A"/>
            </a:solidFill>
            <a:prstDash val="solid"/>
          </a:ln>
        </p:spPr>
        <p:txBody>
          <a:bodyPr/>
          <a:lstStyle/>
          <a:p>
            <a:endParaRPr lang="en-IT"/>
          </a:p>
        </p:txBody>
      </p:sp>
      <p:sp>
        <p:nvSpPr>
          <p:cNvPr id="16" name="Text 14">
            <a:extLst>
              <a:ext uri="{FF2B5EF4-FFF2-40B4-BE49-F238E27FC236}">
                <a16:creationId xmlns:a16="http://schemas.microsoft.com/office/drawing/2014/main" id="{B42766E1-45D7-7692-146B-3D33D700A485}"/>
              </a:ext>
            </a:extLst>
          </p:cNvPr>
          <p:cNvSpPr txBox="1"/>
          <p:nvPr/>
        </p:nvSpPr>
        <p:spPr>
          <a:xfrm>
            <a:off x="7940000" y="4114800"/>
            <a:ext cx="566928" cy="5486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2</a:t>
            </a:r>
            <a:endParaRPr lang="en-US" sz="1200" dirty="0"/>
          </a:p>
        </p:txBody>
      </p:sp>
      <p:sp>
        <p:nvSpPr>
          <p:cNvPr id="17" name="Shape 15">
            <a:extLst>
              <a:ext uri="{FF2B5EF4-FFF2-40B4-BE49-F238E27FC236}">
                <a16:creationId xmlns:a16="http://schemas.microsoft.com/office/drawing/2014/main" id="{A6FD7551-B4C5-F443-43EE-21C774CA819C}"/>
              </a:ext>
            </a:extLst>
          </p:cNvPr>
          <p:cNvSpPr/>
          <p:nvPr/>
        </p:nvSpPr>
        <p:spPr>
          <a:xfrm>
            <a:off x="8616656" y="4114800"/>
            <a:ext cx="566928" cy="548640"/>
          </a:xfrm>
          <a:prstGeom prst="roundRect">
            <a:avLst>
              <a:gd name="adj" fmla="val 13333"/>
            </a:avLst>
          </a:prstGeom>
          <a:solidFill>
            <a:srgbClr val="141A45"/>
          </a:solidFill>
          <a:ln w="12700">
            <a:solidFill>
              <a:srgbClr val="F2A65A"/>
            </a:solidFill>
            <a:prstDash val="solid"/>
          </a:ln>
        </p:spPr>
        <p:txBody>
          <a:bodyPr/>
          <a:lstStyle/>
          <a:p>
            <a:endParaRPr lang="en-IT"/>
          </a:p>
        </p:txBody>
      </p:sp>
      <p:sp>
        <p:nvSpPr>
          <p:cNvPr id="18" name="Text 16">
            <a:extLst>
              <a:ext uri="{FF2B5EF4-FFF2-40B4-BE49-F238E27FC236}">
                <a16:creationId xmlns:a16="http://schemas.microsoft.com/office/drawing/2014/main" id="{A9C3329F-1E10-C34D-5FB0-46384F1DB4D3}"/>
              </a:ext>
            </a:extLst>
          </p:cNvPr>
          <p:cNvSpPr txBox="1"/>
          <p:nvPr/>
        </p:nvSpPr>
        <p:spPr>
          <a:xfrm>
            <a:off x="8616656" y="4114800"/>
            <a:ext cx="566928" cy="5486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3</a:t>
            </a:r>
            <a:endParaRPr lang="en-US" sz="1200" dirty="0"/>
          </a:p>
        </p:txBody>
      </p:sp>
      <p:sp>
        <p:nvSpPr>
          <p:cNvPr id="19" name="Shape 17">
            <a:extLst>
              <a:ext uri="{FF2B5EF4-FFF2-40B4-BE49-F238E27FC236}">
                <a16:creationId xmlns:a16="http://schemas.microsoft.com/office/drawing/2014/main" id="{D44F3717-BD1D-F9F7-7D13-55954D4803DD}"/>
              </a:ext>
            </a:extLst>
          </p:cNvPr>
          <p:cNvSpPr/>
          <p:nvPr/>
        </p:nvSpPr>
        <p:spPr>
          <a:xfrm>
            <a:off x="9293312" y="4114800"/>
            <a:ext cx="566928" cy="548640"/>
          </a:xfrm>
          <a:prstGeom prst="roundRect">
            <a:avLst>
              <a:gd name="adj" fmla="val 13333"/>
            </a:avLst>
          </a:prstGeom>
          <a:solidFill>
            <a:srgbClr val="141A45"/>
          </a:solidFill>
          <a:ln w="12700">
            <a:solidFill>
              <a:srgbClr val="F2A65A"/>
            </a:solidFill>
            <a:prstDash val="solid"/>
          </a:ln>
        </p:spPr>
        <p:txBody>
          <a:bodyPr/>
          <a:lstStyle/>
          <a:p>
            <a:endParaRPr lang="en-IT" dirty="0"/>
          </a:p>
        </p:txBody>
      </p:sp>
      <p:sp>
        <p:nvSpPr>
          <p:cNvPr id="20" name="Text 18">
            <a:extLst>
              <a:ext uri="{FF2B5EF4-FFF2-40B4-BE49-F238E27FC236}">
                <a16:creationId xmlns:a16="http://schemas.microsoft.com/office/drawing/2014/main" id="{0AA9C05D-1724-60D4-0003-2BFF9325E341}"/>
              </a:ext>
            </a:extLst>
          </p:cNvPr>
          <p:cNvSpPr txBox="1"/>
          <p:nvPr/>
        </p:nvSpPr>
        <p:spPr>
          <a:xfrm>
            <a:off x="9293312" y="4114800"/>
            <a:ext cx="566928" cy="5486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cs typeface="Calibri" pitchFamily="34" charset="-120"/>
              </a:rPr>
              <a:t>…</a:t>
            </a:r>
            <a:endParaRPr lang="en-US" sz="1200" dirty="0"/>
          </a:p>
        </p:txBody>
      </p:sp>
      <p:sp>
        <p:nvSpPr>
          <p:cNvPr id="21" name="Shape 19">
            <a:extLst>
              <a:ext uri="{FF2B5EF4-FFF2-40B4-BE49-F238E27FC236}">
                <a16:creationId xmlns:a16="http://schemas.microsoft.com/office/drawing/2014/main" id="{4E256A84-08A4-09D0-27F6-30400EF01F9A}"/>
              </a:ext>
            </a:extLst>
          </p:cNvPr>
          <p:cNvSpPr/>
          <p:nvPr/>
        </p:nvSpPr>
        <p:spPr>
          <a:xfrm>
            <a:off x="9969968" y="4114800"/>
            <a:ext cx="566928" cy="548640"/>
          </a:xfrm>
          <a:prstGeom prst="roundRect">
            <a:avLst>
              <a:gd name="adj" fmla="val 13333"/>
            </a:avLst>
          </a:prstGeom>
          <a:solidFill>
            <a:srgbClr val="141A45"/>
          </a:solidFill>
          <a:ln w="12700">
            <a:solidFill>
              <a:srgbClr val="F2A65A"/>
            </a:solidFill>
            <a:prstDash val="solid"/>
          </a:ln>
        </p:spPr>
        <p:txBody>
          <a:bodyPr/>
          <a:lstStyle/>
          <a:p>
            <a:endParaRPr lang="en-IT"/>
          </a:p>
        </p:txBody>
      </p:sp>
      <p:sp>
        <p:nvSpPr>
          <p:cNvPr id="22" name="Text 20">
            <a:extLst>
              <a:ext uri="{FF2B5EF4-FFF2-40B4-BE49-F238E27FC236}">
                <a16:creationId xmlns:a16="http://schemas.microsoft.com/office/drawing/2014/main" id="{31559BBD-1033-97EE-E4DB-11A67EA97C57}"/>
              </a:ext>
            </a:extLst>
          </p:cNvPr>
          <p:cNvSpPr txBox="1"/>
          <p:nvPr/>
        </p:nvSpPr>
        <p:spPr>
          <a:xfrm>
            <a:off x="9969968" y="4114800"/>
            <a:ext cx="566928" cy="5486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N</a:t>
            </a:r>
            <a:endParaRPr lang="en-US" sz="1200" dirty="0"/>
          </a:p>
        </p:txBody>
      </p:sp>
      <p:sp>
        <p:nvSpPr>
          <p:cNvPr id="23" name="Text 21">
            <a:extLst>
              <a:ext uri="{FF2B5EF4-FFF2-40B4-BE49-F238E27FC236}">
                <a16:creationId xmlns:a16="http://schemas.microsoft.com/office/drawing/2014/main" id="{0E3E4F1A-4AAC-D0F3-0EB6-0FB2A89E8BD8}"/>
              </a:ext>
            </a:extLst>
          </p:cNvPr>
          <p:cNvSpPr txBox="1"/>
          <p:nvPr/>
        </p:nvSpPr>
        <p:spPr>
          <a:xfrm>
            <a:off x="6766560" y="4846320"/>
            <a:ext cx="4389120" cy="365760"/>
          </a:xfrm>
          <a:prstGeom prst="rect">
            <a:avLst/>
          </a:prstGeom>
          <a:noFill/>
          <a:ln/>
        </p:spPr>
        <p:txBody>
          <a:bodyPr wrap="square" lIns="0" tIns="0" rIns="0" bIns="0" rtlCol="0" anchor="ctr"/>
          <a:lstStyle/>
          <a:p>
            <a:pPr marL="0" indent="0" algn="ctr">
              <a:buNone/>
            </a:pPr>
            <a:r>
              <a:rPr lang="en-US" sz="1400" dirty="0">
                <a:solidFill>
                  <a:schemeClr val="bg1"/>
                </a:solidFill>
                <a:latin typeface="Calibri" pitchFamily="34" charset="0"/>
                <a:ea typeface="Calibri" pitchFamily="34" charset="-122"/>
                <a:cs typeface="Calibri" pitchFamily="34" charset="-120"/>
              </a:rPr>
              <a:t>▼  many minimal solver calls</a:t>
            </a:r>
            <a:endParaRPr lang="en-US" sz="1400" dirty="0">
              <a:solidFill>
                <a:schemeClr val="bg1"/>
              </a:solidFill>
            </a:endParaRPr>
          </a:p>
        </p:txBody>
      </p:sp>
      <p:sp>
        <p:nvSpPr>
          <p:cNvPr id="24" name="Text 22">
            <a:extLst>
              <a:ext uri="{FF2B5EF4-FFF2-40B4-BE49-F238E27FC236}">
                <a16:creationId xmlns:a16="http://schemas.microsoft.com/office/drawing/2014/main" id="{79B00B07-019C-8E8B-9DFE-2F4E4EF1C4B4}"/>
              </a:ext>
            </a:extLst>
          </p:cNvPr>
          <p:cNvSpPr txBox="1"/>
          <p:nvPr/>
        </p:nvSpPr>
        <p:spPr>
          <a:xfrm>
            <a:off x="6766560" y="5303520"/>
            <a:ext cx="4389120" cy="457200"/>
          </a:xfrm>
          <a:prstGeom prst="rect">
            <a:avLst/>
          </a:prstGeom>
          <a:noFill/>
          <a:ln/>
        </p:spPr>
        <p:txBody>
          <a:bodyPr wrap="square" lIns="0" tIns="0" rIns="0" bIns="0" rtlCol="0" anchor="ctr"/>
          <a:lstStyle/>
          <a:p>
            <a:pPr marL="0" indent="0" algn="ctr">
              <a:buNone/>
            </a:pPr>
            <a:r>
              <a:rPr lang="en-US" sz="1400" i="1" dirty="0">
                <a:solidFill>
                  <a:schemeClr val="bg2">
                    <a:lumMod val="25000"/>
                  </a:schemeClr>
                </a:solidFill>
                <a:latin typeface="Calibri" pitchFamily="34" charset="0"/>
                <a:ea typeface="Calibri" pitchFamily="34" charset="-122"/>
                <a:cs typeface="Calibri" pitchFamily="34" charset="-120"/>
              </a:rPr>
              <a:t>advantage stays consistent, whatever the total</a:t>
            </a:r>
            <a:endParaRPr lang="en-US" sz="1400" dirty="0">
              <a:solidFill>
                <a:schemeClr val="bg2">
                  <a:lumMod val="25000"/>
                </a:schemeClr>
              </a:solidFill>
            </a:endParaRPr>
          </a:p>
        </p:txBody>
      </p:sp>
    </p:spTree>
    <p:extLst>
      <p:ext uri="{BB962C8B-B14F-4D97-AF65-F5344CB8AC3E}">
        <p14:creationId xmlns:p14="http://schemas.microsoft.com/office/powerpoint/2010/main" val="18094647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1672" cy="82296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Thesis Contribution: Iterative VEREFOO</a:t>
            </a:r>
            <a:endParaRPr lang="en-US" sz="3400" dirty="0"/>
          </a:p>
        </p:txBody>
      </p:sp>
      <p:sp>
        <p:nvSpPr>
          <p:cNvPr id="3" name="Text 1"/>
          <p:cNvSpPr txBox="1"/>
          <p:nvPr/>
        </p:nvSpPr>
        <p:spPr>
          <a:xfrm>
            <a:off x="753407" y="1924173"/>
            <a:ext cx="10582102" cy="1374696"/>
          </a:xfrm>
          <a:prstGeom prst="rect">
            <a:avLst/>
          </a:prstGeom>
          <a:noFill/>
          <a:ln/>
        </p:spPr>
        <p:txBody>
          <a:bodyPr wrap="square" lIns="0" tIns="0" rIns="0" bIns="0" rtlCol="0" anchor="t"/>
          <a:lstStyle/>
          <a:p>
            <a:pPr marL="342900" indent="-342900">
              <a:spcAft>
                <a:spcPts val="800"/>
              </a:spcAft>
              <a:buSzPct val="100000"/>
              <a:buFont typeface="Arial" panose="020B0604020202020204" pitchFamily="34" charset="0"/>
              <a:buChar char="•"/>
            </a:pPr>
            <a:r>
              <a:rPr lang="en-IT" sz="2000" dirty="0">
                <a:solidFill>
                  <a:srgbClr val="232A4D"/>
                </a:solidFill>
                <a:latin typeface="Calibri" pitchFamily="34" charset="0"/>
                <a:cs typeface="Calibri" pitchFamily="34" charset="-120"/>
              </a:rPr>
              <a:t>Starts from the </a:t>
            </a:r>
            <a:r>
              <a:rPr lang="en-IT" sz="2000" b="1" dirty="0">
                <a:solidFill>
                  <a:srgbClr val="232A4D"/>
                </a:solidFill>
                <a:latin typeface="Calibri" pitchFamily="34" charset="0"/>
                <a:cs typeface="Calibri" pitchFamily="34" charset="-120"/>
              </a:rPr>
              <a:t>initial set P</a:t>
            </a:r>
            <a:r>
              <a:rPr lang="en-IT" sz="2000" b="1" baseline="-25000" dirty="0">
                <a:solidFill>
                  <a:srgbClr val="232A4D"/>
                </a:solidFill>
                <a:latin typeface="Calibri" pitchFamily="34" charset="0"/>
                <a:cs typeface="Calibri" pitchFamily="34" charset="-120"/>
              </a:rPr>
              <a:t>0 </a:t>
            </a:r>
            <a:r>
              <a:rPr lang="en-IT" sz="2000" dirty="0">
                <a:solidFill>
                  <a:srgbClr val="232A4D"/>
                </a:solidFill>
                <a:latin typeface="Calibri" pitchFamily="34" charset="0"/>
                <a:cs typeface="Calibri" pitchFamily="34" charset="-120"/>
              </a:rPr>
              <a:t>and folds in one </a:t>
            </a:r>
            <a:r>
              <a:rPr lang="en-IT" sz="2000" b="1" dirty="0">
                <a:solidFill>
                  <a:srgbClr val="232A4D"/>
                </a:solidFill>
                <a:latin typeface="Calibri" pitchFamily="34" charset="0"/>
                <a:cs typeface="Calibri" pitchFamily="34" charset="-120"/>
              </a:rPr>
              <a:t>additional requirement</a:t>
            </a:r>
            <a:r>
              <a:rPr lang="en-IT" sz="2000" i="1" dirty="0">
                <a:solidFill>
                  <a:srgbClr val="232A4D"/>
                </a:solidFill>
                <a:latin typeface="Calibri" pitchFamily="34" charset="0"/>
                <a:cs typeface="Calibri" pitchFamily="34" charset="-120"/>
              </a:rPr>
              <a:t> </a:t>
            </a:r>
            <a:r>
              <a:rPr lang="en-IT" sz="2000" dirty="0">
                <a:solidFill>
                  <a:srgbClr val="232A4D"/>
                </a:solidFill>
                <a:latin typeface="Calibri" pitchFamily="34" charset="0"/>
                <a:cs typeface="Calibri" pitchFamily="34" charset="-120"/>
              </a:rPr>
              <a:t>at a time — </a:t>
            </a:r>
            <a:r>
              <a:rPr lang="en-IT" sz="2000" b="1" dirty="0">
                <a:solidFill>
                  <a:srgbClr val="232A4D"/>
                </a:solidFill>
                <a:latin typeface="Calibri" pitchFamily="34" charset="0"/>
                <a:cs typeface="Calibri" pitchFamily="34" charset="-120"/>
              </a:rPr>
              <a:t>A</a:t>
            </a:r>
            <a:r>
              <a:rPr lang="en-IT" sz="2000" b="1" baseline="-25000" dirty="0">
                <a:solidFill>
                  <a:srgbClr val="232A4D"/>
                </a:solidFill>
                <a:latin typeface="Calibri" pitchFamily="34" charset="0"/>
                <a:cs typeface="Calibri" pitchFamily="34" charset="-120"/>
              </a:rPr>
              <a:t>1</a:t>
            </a:r>
            <a:r>
              <a:rPr lang="en-IT" sz="2000" b="1" dirty="0">
                <a:solidFill>
                  <a:srgbClr val="232A4D"/>
                </a:solidFill>
                <a:latin typeface="Calibri" pitchFamily="34" charset="0"/>
                <a:cs typeface="Calibri" pitchFamily="34" charset="-120"/>
              </a:rPr>
              <a:t>, A</a:t>
            </a:r>
            <a:r>
              <a:rPr lang="en-IT" sz="2000" b="1" baseline="-25000" dirty="0">
                <a:solidFill>
                  <a:srgbClr val="232A4D"/>
                </a:solidFill>
                <a:latin typeface="Calibri" pitchFamily="34" charset="0"/>
                <a:cs typeface="Calibri" pitchFamily="34" charset="-120"/>
              </a:rPr>
              <a:t>2</a:t>
            </a:r>
            <a:r>
              <a:rPr lang="en-IT" sz="2000" b="1" dirty="0">
                <a:solidFill>
                  <a:srgbClr val="232A4D"/>
                </a:solidFill>
                <a:latin typeface="Calibri" pitchFamily="34" charset="0"/>
                <a:cs typeface="Calibri" pitchFamily="34" charset="-120"/>
              </a:rPr>
              <a:t>, A</a:t>
            </a:r>
            <a:r>
              <a:rPr lang="en-IT" sz="2000" b="1" baseline="-25000" dirty="0">
                <a:solidFill>
                  <a:srgbClr val="232A4D"/>
                </a:solidFill>
                <a:latin typeface="Calibri" pitchFamily="34" charset="0"/>
                <a:cs typeface="Calibri" pitchFamily="34" charset="-120"/>
              </a:rPr>
              <a:t>3</a:t>
            </a:r>
            <a:r>
              <a:rPr lang="en-IT" sz="2000" dirty="0">
                <a:solidFill>
                  <a:srgbClr val="232A4D"/>
                </a:solidFill>
                <a:latin typeface="Calibri" pitchFamily="34" charset="0"/>
                <a:cs typeface="Calibri" pitchFamily="34" charset="-120"/>
              </a:rPr>
              <a:t>, etc.</a:t>
            </a:r>
            <a:endParaRPr lang="en-US" sz="2000" b="1" dirty="0"/>
          </a:p>
          <a:p>
            <a:pPr marL="342900" indent="-342900">
              <a:spcAft>
                <a:spcPts val="800"/>
              </a:spcAft>
              <a:buSzPct val="100000"/>
              <a:buFont typeface="Arial" panose="020B0604020202020204" pitchFamily="34" charset="0"/>
              <a:buChar char="•"/>
            </a:pPr>
            <a:r>
              <a:rPr lang="en-IT" sz="2000" dirty="0">
                <a:solidFill>
                  <a:srgbClr val="232A4D"/>
                </a:solidFill>
                <a:latin typeface="Calibri" pitchFamily="34" charset="0"/>
                <a:cs typeface="Calibri" pitchFamily="34" charset="-120"/>
              </a:rPr>
              <a:t>At each step, React-VEREFOO is invoked with everything enforced so far plus the new requirement: {P</a:t>
            </a:r>
            <a:r>
              <a:rPr lang="en-IT" sz="2000" baseline="-25000" dirty="0">
                <a:solidFill>
                  <a:srgbClr val="232A4D"/>
                </a:solidFill>
                <a:latin typeface="Calibri" pitchFamily="34" charset="0"/>
                <a:cs typeface="Calibri" pitchFamily="34" charset="-120"/>
              </a:rPr>
              <a:t>0</a:t>
            </a:r>
            <a:r>
              <a:rPr lang="en-IT" sz="2000" dirty="0">
                <a:solidFill>
                  <a:srgbClr val="232A4D"/>
                </a:solidFill>
                <a:latin typeface="Calibri" pitchFamily="34" charset="0"/>
                <a:cs typeface="Calibri" pitchFamily="34" charset="-120"/>
              </a:rPr>
              <a:t>} + A</a:t>
            </a:r>
            <a:r>
              <a:rPr lang="en-IT" sz="2000" baseline="-25000" dirty="0">
                <a:solidFill>
                  <a:srgbClr val="232A4D"/>
                </a:solidFill>
                <a:latin typeface="Calibri" pitchFamily="34" charset="0"/>
                <a:cs typeface="Calibri" pitchFamily="34" charset="-120"/>
              </a:rPr>
              <a:t>1</a:t>
            </a:r>
            <a:r>
              <a:rPr lang="en-IT" sz="2000" dirty="0">
                <a:solidFill>
                  <a:srgbClr val="232A4D"/>
                </a:solidFill>
                <a:latin typeface="Calibri" pitchFamily="34" charset="0"/>
                <a:cs typeface="Calibri" pitchFamily="34" charset="-120"/>
              </a:rPr>
              <a:t> then {P</a:t>
            </a:r>
            <a:r>
              <a:rPr lang="en-IT" sz="2000" baseline="-25000" dirty="0">
                <a:solidFill>
                  <a:srgbClr val="232A4D"/>
                </a:solidFill>
                <a:latin typeface="Calibri" pitchFamily="34" charset="0"/>
                <a:cs typeface="Calibri" pitchFamily="34" charset="-120"/>
              </a:rPr>
              <a:t>0</a:t>
            </a:r>
            <a:r>
              <a:rPr lang="en-IT" sz="2000" dirty="0">
                <a:solidFill>
                  <a:srgbClr val="232A4D"/>
                </a:solidFill>
                <a:latin typeface="Calibri" pitchFamily="34" charset="0"/>
                <a:cs typeface="Calibri" pitchFamily="34" charset="-120"/>
              </a:rPr>
              <a:t>, A</a:t>
            </a:r>
            <a:r>
              <a:rPr lang="en-IT" sz="2000" baseline="-25000" dirty="0">
                <a:solidFill>
                  <a:srgbClr val="232A4D"/>
                </a:solidFill>
                <a:latin typeface="Calibri" pitchFamily="34" charset="0"/>
                <a:cs typeface="Calibri" pitchFamily="34" charset="-120"/>
              </a:rPr>
              <a:t>1</a:t>
            </a:r>
            <a:r>
              <a:rPr lang="en-IT" sz="2000" dirty="0">
                <a:solidFill>
                  <a:srgbClr val="232A4D"/>
                </a:solidFill>
                <a:latin typeface="Calibri" pitchFamily="34" charset="0"/>
                <a:cs typeface="Calibri" pitchFamily="34" charset="-120"/>
              </a:rPr>
              <a:t>} + A</a:t>
            </a:r>
            <a:r>
              <a:rPr lang="en-IT" sz="2000" baseline="-25000" dirty="0">
                <a:solidFill>
                  <a:srgbClr val="232A4D"/>
                </a:solidFill>
                <a:latin typeface="Calibri" pitchFamily="34" charset="0"/>
                <a:cs typeface="Calibri" pitchFamily="34" charset="-120"/>
              </a:rPr>
              <a:t>2</a:t>
            </a:r>
            <a:r>
              <a:rPr lang="en-IT" sz="2000" dirty="0">
                <a:solidFill>
                  <a:srgbClr val="232A4D"/>
                </a:solidFill>
                <a:latin typeface="Calibri" pitchFamily="34" charset="0"/>
                <a:cs typeface="Calibri" pitchFamily="34" charset="-120"/>
              </a:rPr>
              <a:t>, and so on</a:t>
            </a:r>
            <a:endParaRPr lang="en-US" sz="2000" dirty="0">
              <a:solidFill>
                <a:srgbClr val="232A4D"/>
              </a:solidFill>
              <a:latin typeface="Calibri" pitchFamily="34" charset="0"/>
              <a:cs typeface="Calibri" pitchFamily="34" charset="-120"/>
            </a:endParaRPr>
          </a:p>
        </p:txBody>
      </p:sp>
      <p:sp>
        <p:nvSpPr>
          <p:cNvPr id="8" name="Text 6"/>
          <p:cNvSpPr txBox="1"/>
          <p:nvPr/>
        </p:nvSpPr>
        <p:spPr>
          <a:xfrm>
            <a:off x="753407" y="5739566"/>
            <a:ext cx="9871544" cy="324466"/>
          </a:xfrm>
          <a:prstGeom prst="rect">
            <a:avLst/>
          </a:prstGeom>
          <a:noFill/>
          <a:ln/>
        </p:spPr>
        <p:txBody>
          <a:bodyPr wrap="square" lIns="0" tIns="0" rIns="0" bIns="0" rtlCol="0" anchor="ctr"/>
          <a:lstStyle/>
          <a:p>
            <a:pPr marL="0" indent="0">
              <a:buNone/>
            </a:pPr>
            <a:r>
              <a:rPr lang="en-US" sz="1600" i="1" dirty="0">
                <a:solidFill>
                  <a:srgbClr val="5A6482"/>
                </a:solidFill>
                <a:latin typeface="Calibri" pitchFamily="34" charset="0"/>
                <a:ea typeface="Calibri" pitchFamily="34" charset="-122"/>
                <a:cs typeface="Calibri" pitchFamily="34" charset="-120"/>
              </a:rPr>
              <a:t>Correctness is always guaranteed by React-VEREFOO; all NSRs are satisfied by the final configuration.</a:t>
            </a:r>
            <a:endParaRPr lang="en-US" sz="1600" dirty="0"/>
          </a:p>
        </p:txBody>
      </p:sp>
      <p:sp>
        <p:nvSpPr>
          <p:cNvPr id="13" name="Text 8"/>
          <p:cNvSpPr txBox="1"/>
          <p:nvPr/>
        </p:nvSpPr>
        <p:spPr>
          <a:xfrm>
            <a:off x="11365992" y="6355080"/>
            <a:ext cx="457200" cy="320040"/>
          </a:xfrm>
          <a:prstGeom prst="rect">
            <a:avLst/>
          </a:prstGeom>
          <a:noFill/>
          <a:ln/>
        </p:spPr>
        <p:txBody>
          <a:bodyPr wrap="square" lIns="0" tIns="0" rIns="0" bIns="0" rtlCol="0" anchor="ctr"/>
          <a:lstStyle/>
          <a:p>
            <a:pPr marL="0" indent="0" algn="r">
              <a:buNone/>
            </a:pPr>
            <a:r>
              <a:rPr lang="en-US" sz="1100" dirty="0">
                <a:solidFill>
                  <a:srgbClr val="5A6482"/>
                </a:solidFill>
                <a:latin typeface="Calibri" pitchFamily="34" charset="0"/>
                <a:ea typeface="Calibri" pitchFamily="34" charset="-122"/>
                <a:cs typeface="Calibri" pitchFamily="34" charset="-120"/>
              </a:rPr>
              <a:t>6</a:t>
            </a:r>
            <a:endParaRPr lang="en-US" sz="1100" dirty="0"/>
          </a:p>
        </p:txBody>
      </p:sp>
      <p:pic>
        <p:nvPicPr>
          <p:cNvPr id="11" name="Image 2" descr="imgs/logo.png">
            <a:extLst>
              <a:ext uri="{FF2B5EF4-FFF2-40B4-BE49-F238E27FC236}">
                <a16:creationId xmlns:a16="http://schemas.microsoft.com/office/drawing/2014/main" id="{BECECF15-AFE3-82A4-EE90-07307D00CCBB}"/>
              </a:ext>
            </a:extLst>
          </p:cNvPr>
          <p:cNvPicPr>
            <a:picLocks noChangeAspect="1"/>
          </p:cNvPicPr>
          <p:nvPr/>
        </p:nvPicPr>
        <p:blipFill>
          <a:blip r:embed="rId3"/>
          <a:stretch>
            <a:fillRect/>
          </a:stretch>
        </p:blipFill>
        <p:spPr>
          <a:xfrm>
            <a:off x="368808" y="6350655"/>
            <a:ext cx="769199" cy="324465"/>
          </a:xfrm>
          <a:prstGeom prst="rect">
            <a:avLst/>
          </a:prstGeom>
        </p:spPr>
      </p:pic>
      <p:pic>
        <p:nvPicPr>
          <p:cNvPr id="15" name="Picture 14">
            <a:extLst>
              <a:ext uri="{FF2B5EF4-FFF2-40B4-BE49-F238E27FC236}">
                <a16:creationId xmlns:a16="http://schemas.microsoft.com/office/drawing/2014/main" id="{7B2F5F35-3BA0-B9FC-2092-92915192F777}"/>
              </a:ext>
            </a:extLst>
          </p:cNvPr>
          <p:cNvPicPr>
            <a:picLocks noChangeAspect="1"/>
          </p:cNvPicPr>
          <p:nvPr/>
        </p:nvPicPr>
        <p:blipFill>
          <a:blip r:embed="rId4"/>
          <a:srcRect l="3062" t="15223" r="2231" b="12184"/>
          <a:stretch>
            <a:fillRect/>
          </a:stretch>
        </p:blipFill>
        <p:spPr>
          <a:xfrm>
            <a:off x="1165650" y="3167542"/>
            <a:ext cx="9871544" cy="2285401"/>
          </a:xfrm>
          <a:prstGeom prst="rect">
            <a:avLst/>
          </a:prstGeom>
        </p:spPr>
      </p:pic>
      <p:sp>
        <p:nvSpPr>
          <p:cNvPr id="5" name="TextBox 4">
            <a:extLst>
              <a:ext uri="{FF2B5EF4-FFF2-40B4-BE49-F238E27FC236}">
                <a16:creationId xmlns:a16="http://schemas.microsoft.com/office/drawing/2014/main" id="{B2717978-532F-AB45-E2D4-3A27114E9C10}"/>
              </a:ext>
            </a:extLst>
          </p:cNvPr>
          <p:cNvSpPr txBox="1"/>
          <p:nvPr/>
        </p:nvSpPr>
        <p:spPr>
          <a:xfrm>
            <a:off x="612320" y="1262772"/>
            <a:ext cx="10424874" cy="400110"/>
          </a:xfrm>
          <a:prstGeom prst="rect">
            <a:avLst/>
          </a:prstGeom>
          <a:noFill/>
        </p:spPr>
        <p:txBody>
          <a:bodyPr wrap="square">
            <a:spAutoFit/>
          </a:bodyPr>
          <a:lstStyle/>
          <a:p>
            <a:pPr>
              <a:spcAft>
                <a:spcPts val="1400"/>
              </a:spcAft>
              <a:buSzPct val="100000"/>
            </a:pPr>
            <a:r>
              <a:rPr lang="en-US" sz="2000" dirty="0">
                <a:solidFill>
                  <a:srgbClr val="232A4D"/>
                </a:solidFill>
                <a:latin typeface="Calibri" pitchFamily="34" charset="0"/>
                <a:ea typeface="Calibri" pitchFamily="34" charset="-122"/>
                <a:cs typeface="Calibri" pitchFamily="34" charset="-120"/>
              </a:rPr>
              <a:t>Pushes the incremental principle to its extreme</a:t>
            </a:r>
            <a:r>
              <a:rPr lang="en-US" sz="2000" b="1" dirty="0">
                <a:solidFill>
                  <a:srgbClr val="232A4D"/>
                </a:solidFill>
                <a:latin typeface="Calibri" pitchFamily="34" charset="0"/>
                <a:ea typeface="Calibri" pitchFamily="34" charset="-122"/>
                <a:cs typeface="Calibri" pitchFamily="34" charset="-120"/>
              </a:rPr>
              <a:t>: introduces exactly one new NSR at a time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1672" cy="82296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Structural Comparison</a:t>
            </a:r>
            <a:endParaRPr lang="en-US" sz="3400" dirty="0"/>
          </a:p>
        </p:txBody>
      </p:sp>
      <p:sp>
        <p:nvSpPr>
          <p:cNvPr id="3" name="Text 1"/>
          <p:cNvSpPr txBox="1"/>
          <p:nvPr/>
        </p:nvSpPr>
        <p:spPr>
          <a:xfrm>
            <a:off x="548640" y="1097280"/>
            <a:ext cx="10058400" cy="365760"/>
          </a:xfrm>
          <a:prstGeom prst="rect">
            <a:avLst/>
          </a:prstGeom>
          <a:noFill/>
          <a:ln/>
        </p:spPr>
        <p:txBody>
          <a:bodyPr wrap="square" lIns="0" tIns="0" rIns="0" bIns="0" rtlCol="0" anchor="ctr"/>
          <a:lstStyle/>
          <a:p>
            <a:pPr marL="0" indent="0">
              <a:buNone/>
            </a:pPr>
            <a:r>
              <a:rPr lang="en-US" sz="1500" dirty="0">
                <a:solidFill>
                  <a:srgbClr val="5A6482"/>
                </a:solidFill>
                <a:latin typeface="Calibri" pitchFamily="34" charset="0"/>
                <a:ea typeface="Calibri" pitchFamily="34" charset="-122"/>
                <a:cs typeface="Calibri" pitchFamily="34" charset="-120"/>
              </a:rPr>
              <a:t>How the three VEREFOO variants differ</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3291840"/>
        </p:xfrm>
        <a:graphic>
          <a:graphicData uri="http://schemas.openxmlformats.org/drawingml/2006/table">
            <a:tbl>
              <a:tblPr/>
              <a:tblGrid>
                <a:gridCol w="3291840">
                  <a:extLst>
                    <a:ext uri="{9D8B030D-6E8A-4147-A177-3AD203B41FA5}">
                      <a16:colId xmlns:a16="http://schemas.microsoft.com/office/drawing/2014/main" val="20000"/>
                    </a:ext>
                  </a:extLst>
                </a:gridCol>
                <a:gridCol w="2587752">
                  <a:extLst>
                    <a:ext uri="{9D8B030D-6E8A-4147-A177-3AD203B41FA5}">
                      <a16:colId xmlns:a16="http://schemas.microsoft.com/office/drawing/2014/main" val="20001"/>
                    </a:ext>
                  </a:extLst>
                </a:gridCol>
                <a:gridCol w="2587752">
                  <a:extLst>
                    <a:ext uri="{9D8B030D-6E8A-4147-A177-3AD203B41FA5}">
                      <a16:colId xmlns:a16="http://schemas.microsoft.com/office/drawing/2014/main" val="20002"/>
                    </a:ext>
                  </a:extLst>
                </a:gridCol>
                <a:gridCol w="2596896">
                  <a:extLst>
                    <a:ext uri="{9D8B030D-6E8A-4147-A177-3AD203B41FA5}">
                      <a16:colId xmlns:a16="http://schemas.microsoft.com/office/drawing/2014/main" val="20003"/>
                    </a:ext>
                  </a:extLst>
                </a:gridCol>
              </a:tblGrid>
              <a:tr h="658368">
                <a:tc>
                  <a:txBody>
                    <a:bodyPr/>
                    <a:lstStyle/>
                    <a:p>
                      <a:pPr marL="0" indent="0" algn="ctr">
                        <a:buNone/>
                      </a:pPr>
                      <a:endParaRPr lang="en-US" sz="140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1E2761"/>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Vanilla</a:t>
                      </a:r>
                      <a:endParaRPr lang="en-US" sz="140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1E2761"/>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React</a:t>
                      </a:r>
                      <a:endParaRPr lang="en-US" sz="140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1E2761"/>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Iterative</a:t>
                      </a:r>
                      <a:endParaRPr lang="en-US" sz="140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658368">
                <a:tc>
                  <a:txBody>
                    <a:bodyPr/>
                    <a:lstStyle/>
                    <a:p>
                      <a:pPr marL="0" indent="0">
                        <a:buNone/>
                      </a:pPr>
                      <a:r>
                        <a:rPr lang="en-US" sz="1350" b="1" dirty="0">
                          <a:solidFill>
                            <a:srgbClr val="1E2761"/>
                          </a:solidFill>
                          <a:latin typeface="Calibri" pitchFamily="34" charset="0"/>
                          <a:ea typeface="Calibri" pitchFamily="34" charset="-122"/>
                          <a:cs typeface="Calibri" pitchFamily="34" charset="-120"/>
                        </a:rPr>
                        <a:t>Solver calls</a:t>
                      </a:r>
                      <a:endParaRPr lang="en-US" sz="135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2F5FC"/>
                    </a:solidFill>
                  </a:tcPr>
                </a:tc>
                <a:tc>
                  <a:txBody>
                    <a:bodyPr/>
                    <a:lstStyle/>
                    <a:p>
                      <a:pPr marL="0" indent="0" algn="ctr">
                        <a:buNone/>
                      </a:pPr>
                      <a:r>
                        <a:rPr lang="en-US" sz="1350" dirty="0">
                          <a:solidFill>
                            <a:srgbClr val="232A4D"/>
                          </a:solidFill>
                          <a:latin typeface="Calibri" pitchFamily="34" charset="0"/>
                          <a:ea typeface="Calibri" pitchFamily="34" charset="-122"/>
                          <a:cs typeface="Calibri" pitchFamily="34" charset="-120"/>
                        </a:rPr>
                        <a:t>1</a:t>
                      </a:r>
                      <a:endParaRPr lang="en-US" sz="135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tcPr>
                </a:tc>
                <a:tc>
                  <a:txBody>
                    <a:bodyPr/>
                    <a:lstStyle/>
                    <a:p>
                      <a:pPr marL="0" indent="0" algn="ctr">
                        <a:buNone/>
                      </a:pPr>
                      <a:r>
                        <a:rPr lang="en-US" sz="1350" dirty="0">
                          <a:solidFill>
                            <a:srgbClr val="232A4D"/>
                          </a:solidFill>
                          <a:latin typeface="Calibri" pitchFamily="34" charset="0"/>
                          <a:ea typeface="Calibri" pitchFamily="34" charset="-122"/>
                          <a:cs typeface="Calibri" pitchFamily="34" charset="-120"/>
                        </a:rPr>
                        <a:t>1</a:t>
                      </a:r>
                      <a:endParaRPr lang="en-US" sz="135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tcPr>
                </a:tc>
                <a:tc>
                  <a:txBody>
                    <a:bodyPr/>
                    <a:lstStyle/>
                    <a:p>
                      <a:pPr marL="0" indent="0" algn="ctr">
                        <a:buNone/>
                      </a:pPr>
                      <a:r>
                        <a:rPr lang="en-US" sz="1350" b="1" dirty="0">
                          <a:solidFill>
                            <a:srgbClr val="1E2761"/>
                          </a:solidFill>
                          <a:latin typeface="Calibri" pitchFamily="34" charset="0"/>
                          <a:ea typeface="Calibri" pitchFamily="34" charset="-122"/>
                          <a:cs typeface="Calibri" pitchFamily="34" charset="-120"/>
                        </a:rPr>
                        <a:t>one per NSR</a:t>
                      </a:r>
                      <a:endParaRPr lang="en-US" sz="135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tcPr>
                </a:tc>
                <a:extLst>
                  <a:ext uri="{0D108BD9-81ED-4DB2-BD59-A6C34878D82A}">
                    <a16:rowId xmlns:a16="http://schemas.microsoft.com/office/drawing/2014/main" val="10001"/>
                  </a:ext>
                </a:extLst>
              </a:tr>
              <a:tr h="658368">
                <a:tc>
                  <a:txBody>
                    <a:bodyPr/>
                    <a:lstStyle/>
                    <a:p>
                      <a:pPr marL="0" indent="0">
                        <a:buNone/>
                      </a:pPr>
                      <a:r>
                        <a:rPr lang="en-US" sz="1350" b="1" dirty="0">
                          <a:solidFill>
                            <a:srgbClr val="1E2761"/>
                          </a:solidFill>
                          <a:latin typeface="Calibri" pitchFamily="34" charset="0"/>
                          <a:ea typeface="Calibri" pitchFamily="34" charset="-122"/>
                          <a:cs typeface="Calibri" pitchFamily="34" charset="-120"/>
                        </a:rPr>
                        <a:t>Added NSRs / call</a:t>
                      </a:r>
                      <a:endParaRPr lang="en-US" sz="135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2F5FC"/>
                    </a:solidFill>
                  </a:tcPr>
                </a:tc>
                <a:tc>
                  <a:txBody>
                    <a:bodyPr/>
                    <a:lstStyle/>
                    <a:p>
                      <a:pPr marL="0" indent="0" algn="ctr">
                        <a:buNone/>
                      </a:pPr>
                      <a:r>
                        <a:rPr lang="en-US" sz="1350" dirty="0">
                          <a:solidFill>
                            <a:srgbClr val="232A4D"/>
                          </a:solidFill>
                          <a:latin typeface="Calibri" pitchFamily="34" charset="0"/>
                          <a:ea typeface="Calibri" pitchFamily="34" charset="-122"/>
                          <a:cs typeface="Calibri" pitchFamily="34" charset="-120"/>
                        </a:rPr>
                        <a:t>all at once</a:t>
                      </a:r>
                      <a:endParaRPr lang="en-US" sz="135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BFCFE"/>
                    </a:solidFill>
                  </a:tcPr>
                </a:tc>
                <a:tc>
                  <a:txBody>
                    <a:bodyPr/>
                    <a:lstStyle/>
                    <a:p>
                      <a:pPr marL="0" indent="0" algn="ctr">
                        <a:buNone/>
                      </a:pPr>
                      <a:r>
                        <a:rPr lang="en-US" sz="1350" dirty="0">
                          <a:solidFill>
                            <a:srgbClr val="232A4D"/>
                          </a:solidFill>
                          <a:latin typeface="Calibri" pitchFamily="34" charset="0"/>
                          <a:ea typeface="Calibri" pitchFamily="34" charset="-122"/>
                          <a:cs typeface="Calibri" pitchFamily="34" charset="-120"/>
                        </a:rPr>
                        <a:t>batch</a:t>
                      </a:r>
                      <a:endParaRPr lang="en-US" sz="135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BFCFE"/>
                    </a:solidFill>
                  </a:tcPr>
                </a:tc>
                <a:tc>
                  <a:txBody>
                    <a:bodyPr/>
                    <a:lstStyle/>
                    <a:p>
                      <a:pPr marL="0" indent="0" algn="ctr">
                        <a:buNone/>
                      </a:pPr>
                      <a:r>
                        <a:rPr lang="en-US" sz="1350" b="1" dirty="0">
                          <a:solidFill>
                            <a:srgbClr val="1E2761"/>
                          </a:solidFill>
                          <a:latin typeface="Calibri" pitchFamily="34" charset="0"/>
                          <a:ea typeface="Calibri" pitchFamily="34" charset="-122"/>
                          <a:cs typeface="Calibri" pitchFamily="34" charset="-120"/>
                        </a:rPr>
                        <a:t>always 1</a:t>
                      </a:r>
                      <a:endParaRPr lang="en-US" sz="135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BFCFE"/>
                    </a:solidFill>
                  </a:tcPr>
                </a:tc>
                <a:extLst>
                  <a:ext uri="{0D108BD9-81ED-4DB2-BD59-A6C34878D82A}">
                    <a16:rowId xmlns:a16="http://schemas.microsoft.com/office/drawing/2014/main" val="10002"/>
                  </a:ext>
                </a:extLst>
              </a:tr>
              <a:tr h="658368">
                <a:tc>
                  <a:txBody>
                    <a:bodyPr/>
                    <a:lstStyle/>
                    <a:p>
                      <a:pPr marL="0" indent="0">
                        <a:buNone/>
                      </a:pPr>
                      <a:r>
                        <a:rPr lang="en-US" sz="1350" b="1" dirty="0">
                          <a:solidFill>
                            <a:srgbClr val="1E2761"/>
                          </a:solidFill>
                          <a:latin typeface="Calibri" pitchFamily="34" charset="0"/>
                          <a:ea typeface="Calibri" pitchFamily="34" charset="-122"/>
                          <a:cs typeface="Calibri" pitchFamily="34" charset="-120"/>
                        </a:rPr>
                        <a:t>Reuses configuration</a:t>
                      </a:r>
                      <a:endParaRPr lang="en-US" sz="135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2F5FC"/>
                    </a:solidFill>
                  </a:tcPr>
                </a:tc>
                <a:tc>
                  <a:txBody>
                    <a:bodyPr/>
                    <a:lstStyle/>
                    <a:p>
                      <a:pPr marL="0" indent="0" algn="ctr">
                        <a:buNone/>
                      </a:pPr>
                      <a:r>
                        <a:rPr lang="en-US" sz="1350" dirty="0">
                          <a:solidFill>
                            <a:srgbClr val="232A4D"/>
                          </a:solidFill>
                          <a:latin typeface="Calibri" pitchFamily="34" charset="0"/>
                          <a:ea typeface="Calibri" pitchFamily="34" charset="-122"/>
                          <a:cs typeface="Calibri" pitchFamily="34" charset="-120"/>
                        </a:rPr>
                        <a:t>no</a:t>
                      </a:r>
                      <a:endParaRPr lang="en-US" sz="135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tcPr>
                </a:tc>
                <a:tc>
                  <a:txBody>
                    <a:bodyPr/>
                    <a:lstStyle/>
                    <a:p>
                      <a:pPr marL="0" indent="0" algn="ctr">
                        <a:buNone/>
                      </a:pPr>
                      <a:r>
                        <a:rPr lang="en-US" sz="1350" dirty="0">
                          <a:solidFill>
                            <a:srgbClr val="232A4D"/>
                          </a:solidFill>
                          <a:latin typeface="Calibri" pitchFamily="34" charset="0"/>
                          <a:ea typeface="Calibri" pitchFamily="34" charset="-122"/>
                          <a:cs typeface="Calibri" pitchFamily="34" charset="-120"/>
                        </a:rPr>
                        <a:t>yes</a:t>
                      </a:r>
                      <a:endParaRPr lang="en-US" sz="135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tcPr>
                </a:tc>
                <a:tc>
                  <a:txBody>
                    <a:bodyPr/>
                    <a:lstStyle/>
                    <a:p>
                      <a:pPr marL="0" indent="0" algn="ctr">
                        <a:buNone/>
                      </a:pPr>
                      <a:r>
                        <a:rPr lang="en-US" sz="1350" b="1" dirty="0">
                          <a:solidFill>
                            <a:srgbClr val="1E2761"/>
                          </a:solidFill>
                          <a:latin typeface="Calibri" pitchFamily="34" charset="0"/>
                          <a:ea typeface="Calibri" pitchFamily="34" charset="-122"/>
                          <a:cs typeface="Calibri" pitchFamily="34" charset="-120"/>
                        </a:rPr>
                        <a:t>yes, every step</a:t>
                      </a:r>
                      <a:endParaRPr lang="en-US" sz="135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tcPr>
                </a:tc>
                <a:extLst>
                  <a:ext uri="{0D108BD9-81ED-4DB2-BD59-A6C34878D82A}">
                    <a16:rowId xmlns:a16="http://schemas.microsoft.com/office/drawing/2014/main" val="10003"/>
                  </a:ext>
                </a:extLst>
              </a:tr>
              <a:tr h="658368">
                <a:tc>
                  <a:txBody>
                    <a:bodyPr/>
                    <a:lstStyle/>
                    <a:p>
                      <a:pPr marL="0" indent="0">
                        <a:buNone/>
                      </a:pPr>
                      <a:r>
                        <a:rPr lang="en-US" sz="1350" b="1" dirty="0">
                          <a:solidFill>
                            <a:srgbClr val="1E2761"/>
                          </a:solidFill>
                          <a:latin typeface="Calibri" pitchFamily="34" charset="0"/>
                          <a:ea typeface="Calibri" pitchFamily="34" charset="-122"/>
                          <a:cs typeface="Calibri" pitchFamily="34" charset="-120"/>
                        </a:rPr>
                        <a:t>Optimality</a:t>
                      </a:r>
                      <a:endParaRPr lang="en-US" sz="135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2F5FC"/>
                    </a:solidFill>
                  </a:tcPr>
                </a:tc>
                <a:tc>
                  <a:txBody>
                    <a:bodyPr/>
                    <a:lstStyle/>
                    <a:p>
                      <a:pPr marL="0" indent="0" algn="ctr">
                        <a:buNone/>
                      </a:pPr>
                      <a:r>
                        <a:rPr lang="en-US" sz="1350" dirty="0">
                          <a:solidFill>
                            <a:srgbClr val="232A4D"/>
                          </a:solidFill>
                          <a:latin typeface="Calibri" pitchFamily="34" charset="0"/>
                          <a:ea typeface="Calibri" pitchFamily="34" charset="-122"/>
                          <a:cs typeface="Calibri" pitchFamily="34" charset="-120"/>
                        </a:rPr>
                        <a:t>global</a:t>
                      </a:r>
                      <a:endParaRPr lang="en-US" sz="135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BFCFE"/>
                    </a:solidFill>
                  </a:tcPr>
                </a:tc>
                <a:tc>
                  <a:txBody>
                    <a:bodyPr/>
                    <a:lstStyle/>
                    <a:p>
                      <a:pPr marL="0" indent="0" algn="ctr">
                        <a:buNone/>
                      </a:pPr>
                      <a:r>
                        <a:rPr lang="en-US" sz="1350" dirty="0">
                          <a:solidFill>
                            <a:srgbClr val="232A4D"/>
                          </a:solidFill>
                          <a:latin typeface="Calibri" pitchFamily="34" charset="0"/>
                          <a:ea typeface="Calibri" pitchFamily="34" charset="-122"/>
                          <a:cs typeface="Calibri" pitchFamily="34" charset="-120"/>
                        </a:rPr>
                        <a:t>local</a:t>
                      </a:r>
                      <a:endParaRPr lang="en-US" sz="135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BFCFE"/>
                    </a:solidFill>
                  </a:tcPr>
                </a:tc>
                <a:tc>
                  <a:txBody>
                    <a:bodyPr/>
                    <a:lstStyle/>
                    <a:p>
                      <a:pPr marL="0" indent="0" algn="ctr">
                        <a:buNone/>
                      </a:pPr>
                      <a:r>
                        <a:rPr lang="en-US" sz="1350" b="1" dirty="0">
                          <a:solidFill>
                            <a:srgbClr val="1E2761"/>
                          </a:solidFill>
                          <a:latin typeface="Calibri" pitchFamily="34" charset="0"/>
                          <a:ea typeface="Calibri" pitchFamily="34" charset="-122"/>
                          <a:cs typeface="Calibri" pitchFamily="34" charset="-120"/>
                        </a:rPr>
                        <a:t>local (greedy)</a:t>
                      </a:r>
                      <a:endParaRPr lang="en-US" sz="135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BFCFE"/>
                    </a:solidFill>
                  </a:tcPr>
                </a:tc>
                <a:extLst>
                  <a:ext uri="{0D108BD9-81ED-4DB2-BD59-A6C34878D82A}">
                    <a16:rowId xmlns:a16="http://schemas.microsoft.com/office/drawing/2014/main" val="10004"/>
                  </a:ext>
                </a:extLst>
              </a:tr>
            </a:tbl>
          </a:graphicData>
        </a:graphic>
      </p:graphicFrame>
      <p:sp>
        <p:nvSpPr>
          <p:cNvPr id="5" name="Shape 2"/>
          <p:cNvSpPr/>
          <p:nvPr/>
        </p:nvSpPr>
        <p:spPr>
          <a:xfrm>
            <a:off x="548640" y="5257800"/>
            <a:ext cx="11064240" cy="1005840"/>
          </a:xfrm>
          <a:prstGeom prst="roundRect">
            <a:avLst>
              <a:gd name="adj" fmla="val 10909"/>
            </a:avLst>
          </a:prstGeom>
          <a:solidFill>
            <a:srgbClr val="F2F5FC"/>
          </a:solidFill>
          <a:ln/>
        </p:spPr>
        <p:txBody>
          <a:bodyPr/>
          <a:lstStyle/>
          <a:p>
            <a:endParaRPr lang="en-IT"/>
          </a:p>
        </p:txBody>
      </p:sp>
      <p:sp>
        <p:nvSpPr>
          <p:cNvPr id="6" name="Text 3"/>
          <p:cNvSpPr txBox="1"/>
          <p:nvPr/>
        </p:nvSpPr>
        <p:spPr>
          <a:xfrm>
            <a:off x="822960" y="5394960"/>
            <a:ext cx="10515600" cy="77724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Key idea:  </a:t>
            </a:r>
            <a:r>
              <a:rPr lang="en-US" sz="1400" dirty="0">
                <a:solidFill>
                  <a:srgbClr val="232A4D"/>
                </a:solidFill>
                <a:latin typeface="Calibri" pitchFamily="34" charset="0"/>
                <a:ea typeface="Calibri" pitchFamily="34" charset="-122"/>
                <a:cs typeface="Calibri" pitchFamily="34" charset="-120"/>
              </a:rPr>
              <a:t>collapsing the batch to exactly one NSR keeps the reconfiguration area minimal at every step, regardless of how many requirements must ultimately be incorporated.</a:t>
            </a:r>
            <a:endParaRPr lang="en-US" sz="1400" dirty="0"/>
          </a:p>
        </p:txBody>
      </p:sp>
      <p:sp>
        <p:nvSpPr>
          <p:cNvPr id="9" name="Text 4"/>
          <p:cNvSpPr txBox="1"/>
          <p:nvPr/>
        </p:nvSpPr>
        <p:spPr>
          <a:xfrm>
            <a:off x="11365992" y="6355080"/>
            <a:ext cx="457200" cy="320040"/>
          </a:xfrm>
          <a:prstGeom prst="rect">
            <a:avLst/>
          </a:prstGeom>
          <a:noFill/>
          <a:ln/>
        </p:spPr>
        <p:txBody>
          <a:bodyPr wrap="square" lIns="0" tIns="0" rIns="0" bIns="0" rtlCol="0" anchor="ctr"/>
          <a:lstStyle/>
          <a:p>
            <a:pPr marL="0" indent="0" algn="r">
              <a:buNone/>
            </a:pPr>
            <a:r>
              <a:rPr lang="en-US" sz="1100" dirty="0">
                <a:solidFill>
                  <a:srgbClr val="5A6482"/>
                </a:solidFill>
                <a:latin typeface="Calibri" pitchFamily="34" charset="0"/>
                <a:ea typeface="Calibri" pitchFamily="34" charset="-122"/>
                <a:cs typeface="Calibri" pitchFamily="34" charset="-120"/>
              </a:rPr>
              <a:t>7</a:t>
            </a:r>
            <a:endParaRPr lang="en-US" sz="1100" dirty="0"/>
          </a:p>
        </p:txBody>
      </p:sp>
      <p:pic>
        <p:nvPicPr>
          <p:cNvPr id="7" name="Image 2" descr="imgs/logo.png">
            <a:extLst>
              <a:ext uri="{FF2B5EF4-FFF2-40B4-BE49-F238E27FC236}">
                <a16:creationId xmlns:a16="http://schemas.microsoft.com/office/drawing/2014/main" id="{387856BB-413B-5FB6-6ABA-205455E76461}"/>
              </a:ext>
            </a:extLst>
          </p:cNvPr>
          <p:cNvPicPr>
            <a:picLocks noChangeAspect="1"/>
          </p:cNvPicPr>
          <p:nvPr/>
        </p:nvPicPr>
        <p:blipFill>
          <a:blip r:embed="rId3"/>
          <a:stretch>
            <a:fillRect/>
          </a:stretch>
        </p:blipFill>
        <p:spPr>
          <a:xfrm>
            <a:off x="368808" y="6350655"/>
            <a:ext cx="769199" cy="32446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E470103-B0F7-DCD3-982D-040033487255}"/>
            </a:ext>
          </a:extLst>
        </p:cNvPr>
        <p:cNvGrpSpPr/>
        <p:nvPr/>
      </p:nvGrpSpPr>
      <p:grpSpPr>
        <a:xfrm>
          <a:off x="0" y="0"/>
          <a:ext cx="0" cy="0"/>
          <a:chOff x="0" y="0"/>
          <a:chExt cx="0" cy="0"/>
        </a:xfrm>
      </p:grpSpPr>
      <p:sp>
        <p:nvSpPr>
          <p:cNvPr id="45" name="Shape 23">
            <a:extLst>
              <a:ext uri="{FF2B5EF4-FFF2-40B4-BE49-F238E27FC236}">
                <a16:creationId xmlns:a16="http://schemas.microsoft.com/office/drawing/2014/main" id="{04DFE15D-E48D-D3B9-1F6D-34A15DEB2C4E}"/>
              </a:ext>
            </a:extLst>
          </p:cNvPr>
          <p:cNvSpPr/>
          <p:nvPr/>
        </p:nvSpPr>
        <p:spPr>
          <a:xfrm>
            <a:off x="6511577" y="855743"/>
            <a:ext cx="5130334" cy="4674638"/>
          </a:xfrm>
          <a:prstGeom prst="roundRect">
            <a:avLst>
              <a:gd name="adj" fmla="val 4242"/>
            </a:avLst>
          </a:prstGeom>
          <a:solidFill>
            <a:schemeClr val="accent2">
              <a:lumMod val="20000"/>
              <a:lumOff val="80000"/>
            </a:schemeClr>
          </a:solidFill>
          <a:ln w="22225">
            <a:solidFill>
              <a:srgbClr val="F2A65A"/>
            </a:solidFill>
            <a:prstDash val="dash"/>
          </a:ln>
        </p:spPr>
        <p:txBody>
          <a:bodyPr/>
          <a:lstStyle/>
          <a:p>
            <a:endParaRPr lang="en-IT" dirty="0"/>
          </a:p>
        </p:txBody>
      </p:sp>
      <p:sp>
        <p:nvSpPr>
          <p:cNvPr id="76" name="Shape 20">
            <a:extLst>
              <a:ext uri="{FF2B5EF4-FFF2-40B4-BE49-F238E27FC236}">
                <a16:creationId xmlns:a16="http://schemas.microsoft.com/office/drawing/2014/main" id="{BD7C4861-C201-BFC3-42C8-21B51CA6AD9A}"/>
              </a:ext>
            </a:extLst>
          </p:cNvPr>
          <p:cNvSpPr/>
          <p:nvPr/>
        </p:nvSpPr>
        <p:spPr>
          <a:xfrm>
            <a:off x="8640277" y="1327619"/>
            <a:ext cx="2788190" cy="612910"/>
          </a:xfrm>
          <a:prstGeom prst="roundRect">
            <a:avLst>
              <a:gd name="adj" fmla="val 16000"/>
            </a:avLst>
          </a:prstGeom>
          <a:solidFill>
            <a:srgbClr val="F2F5FC"/>
          </a:solidFill>
          <a:ln w="12700">
            <a:solidFill>
              <a:srgbClr val="CADCFC"/>
            </a:solidFill>
            <a:prstDash val="solid"/>
          </a:ln>
        </p:spPr>
        <p:txBody>
          <a:bodyPr/>
          <a:lstStyle/>
          <a:p>
            <a:endParaRPr lang="en-IT"/>
          </a:p>
        </p:txBody>
      </p:sp>
      <p:sp>
        <p:nvSpPr>
          <p:cNvPr id="2" name="Text 0">
            <a:extLst>
              <a:ext uri="{FF2B5EF4-FFF2-40B4-BE49-F238E27FC236}">
                <a16:creationId xmlns:a16="http://schemas.microsoft.com/office/drawing/2014/main" id="{1BD123BA-2C64-937C-FA47-AEAD5A0A31A5}"/>
              </a:ext>
            </a:extLst>
          </p:cNvPr>
          <p:cNvSpPr txBox="1"/>
          <p:nvPr/>
        </p:nvSpPr>
        <p:spPr>
          <a:xfrm>
            <a:off x="548640" y="411480"/>
            <a:ext cx="4242021" cy="82296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Implementation</a:t>
            </a:r>
            <a:endParaRPr lang="en-US" sz="3400" dirty="0"/>
          </a:p>
        </p:txBody>
      </p:sp>
      <p:sp>
        <p:nvSpPr>
          <p:cNvPr id="3" name="Shape 1">
            <a:extLst>
              <a:ext uri="{FF2B5EF4-FFF2-40B4-BE49-F238E27FC236}">
                <a16:creationId xmlns:a16="http://schemas.microsoft.com/office/drawing/2014/main" id="{8D36F291-0E86-7FF3-23B0-2A79F2232977}"/>
              </a:ext>
            </a:extLst>
          </p:cNvPr>
          <p:cNvSpPr/>
          <p:nvPr/>
        </p:nvSpPr>
        <p:spPr>
          <a:xfrm>
            <a:off x="548640" y="1383180"/>
            <a:ext cx="384048" cy="384048"/>
          </a:xfrm>
          <a:prstGeom prst="ellipse">
            <a:avLst/>
          </a:prstGeom>
          <a:solidFill>
            <a:srgbClr val="F2A65A"/>
          </a:solidFill>
          <a:ln/>
        </p:spPr>
        <p:txBody>
          <a:bodyPr/>
          <a:lstStyle/>
          <a:p>
            <a:endParaRPr lang="en-IT"/>
          </a:p>
        </p:txBody>
      </p:sp>
      <p:sp>
        <p:nvSpPr>
          <p:cNvPr id="4" name="Text 2">
            <a:extLst>
              <a:ext uri="{FF2B5EF4-FFF2-40B4-BE49-F238E27FC236}">
                <a16:creationId xmlns:a16="http://schemas.microsoft.com/office/drawing/2014/main" id="{C71F2C1B-9DC8-D05B-155E-F62D0510C638}"/>
              </a:ext>
            </a:extLst>
          </p:cNvPr>
          <p:cNvSpPr txBox="1"/>
          <p:nvPr/>
        </p:nvSpPr>
        <p:spPr>
          <a:xfrm>
            <a:off x="548640" y="1400935"/>
            <a:ext cx="384048" cy="384048"/>
          </a:xfrm>
          <a:prstGeom prst="rect">
            <a:avLst/>
          </a:prstGeom>
          <a:noFill/>
          <a:ln/>
        </p:spPr>
        <p:txBody>
          <a:bodyPr wrap="square" lIns="0" tIns="0" rIns="0" bIns="0" rtlCol="0" anchor="ctr"/>
          <a:lstStyle/>
          <a:p>
            <a:pPr marL="0" indent="0" algn="ctr">
              <a:buNone/>
            </a:pPr>
            <a:r>
              <a:rPr lang="en-US" sz="1600" b="1" dirty="0">
                <a:solidFill>
                  <a:srgbClr val="141A45"/>
                </a:solidFill>
                <a:latin typeface="Calibri" pitchFamily="34" charset="0"/>
                <a:ea typeface="Calibri" pitchFamily="34" charset="-122"/>
                <a:cs typeface="Calibri" pitchFamily="34" charset="-120"/>
              </a:rPr>
              <a:t>1</a:t>
            </a:r>
            <a:endParaRPr lang="en-US" sz="1600" dirty="0"/>
          </a:p>
        </p:txBody>
      </p:sp>
      <p:sp>
        <p:nvSpPr>
          <p:cNvPr id="5" name="Text 3">
            <a:extLst>
              <a:ext uri="{FF2B5EF4-FFF2-40B4-BE49-F238E27FC236}">
                <a16:creationId xmlns:a16="http://schemas.microsoft.com/office/drawing/2014/main" id="{90B4AEB2-0C8E-51EE-6430-55F93D177AF6}"/>
              </a:ext>
            </a:extLst>
          </p:cNvPr>
          <p:cNvSpPr txBox="1"/>
          <p:nvPr/>
        </p:nvSpPr>
        <p:spPr>
          <a:xfrm>
            <a:off x="1097280" y="1361931"/>
            <a:ext cx="4920460" cy="438912"/>
          </a:xfrm>
          <a:prstGeom prst="rect">
            <a:avLst/>
          </a:prstGeom>
          <a:noFill/>
          <a:ln/>
        </p:spPr>
        <p:txBody>
          <a:bodyPr wrap="square" lIns="0" tIns="0" rIns="0" bIns="0" rtlCol="0" anchor="ctr"/>
          <a:lstStyle/>
          <a:p>
            <a:pPr marL="0" indent="0">
              <a:buNone/>
            </a:pPr>
            <a:r>
              <a:rPr lang="en-US" sz="2000" b="1" dirty="0">
                <a:solidFill>
                  <a:srgbClr val="1E2761"/>
                </a:solidFill>
                <a:latin typeface="Calibri" pitchFamily="34" charset="0"/>
                <a:ea typeface="Calibri" pitchFamily="34" charset="-122"/>
                <a:cs typeface="Calibri" pitchFamily="34" charset="-120"/>
              </a:rPr>
              <a:t>All changes are confined to </a:t>
            </a:r>
            <a:r>
              <a:rPr lang="en-US" sz="2000" b="1" dirty="0" err="1">
                <a:solidFill>
                  <a:srgbClr val="1E2761"/>
                </a:solidFill>
                <a:latin typeface="Calibri" pitchFamily="34" charset="0"/>
                <a:ea typeface="Calibri" pitchFamily="34" charset="-122"/>
                <a:cs typeface="Calibri" pitchFamily="34" charset="-120"/>
              </a:rPr>
              <a:t>VerefooSerializer</a:t>
            </a:r>
            <a:endParaRPr lang="en-US" sz="2000" dirty="0"/>
          </a:p>
        </p:txBody>
      </p:sp>
      <p:sp>
        <p:nvSpPr>
          <p:cNvPr id="6" name="Text 4">
            <a:extLst>
              <a:ext uri="{FF2B5EF4-FFF2-40B4-BE49-F238E27FC236}">
                <a16:creationId xmlns:a16="http://schemas.microsoft.com/office/drawing/2014/main" id="{A2499221-7C26-82BD-DD50-40B9B1EF422C}"/>
              </a:ext>
            </a:extLst>
          </p:cNvPr>
          <p:cNvSpPr txBox="1"/>
          <p:nvPr/>
        </p:nvSpPr>
        <p:spPr>
          <a:xfrm>
            <a:off x="1097279" y="1735722"/>
            <a:ext cx="4333438" cy="318725"/>
          </a:xfrm>
          <a:prstGeom prst="rect">
            <a:avLst/>
          </a:prstGeom>
          <a:noFill/>
          <a:ln/>
        </p:spPr>
        <p:txBody>
          <a:bodyPr wrap="square" lIns="0" tIns="0" rIns="0" bIns="0" rtlCol="0" anchor="t"/>
          <a:lstStyle/>
          <a:p>
            <a:pPr marL="0" indent="0">
              <a:buNone/>
            </a:pPr>
            <a:r>
              <a:rPr lang="en-US" dirty="0">
                <a:solidFill>
                  <a:srgbClr val="5A6482"/>
                </a:solidFill>
                <a:latin typeface="Calibri" pitchFamily="34" charset="0"/>
                <a:ea typeface="Calibri" pitchFamily="34" charset="-122"/>
                <a:cs typeface="Calibri" pitchFamily="34" charset="-120"/>
              </a:rPr>
              <a:t>The entry point to the VEREFOO tool</a:t>
            </a:r>
            <a:endParaRPr lang="en-US" dirty="0"/>
          </a:p>
        </p:txBody>
      </p:sp>
      <p:sp>
        <p:nvSpPr>
          <p:cNvPr id="7" name="Shape 5">
            <a:extLst>
              <a:ext uri="{FF2B5EF4-FFF2-40B4-BE49-F238E27FC236}">
                <a16:creationId xmlns:a16="http://schemas.microsoft.com/office/drawing/2014/main" id="{AB34ADB8-1253-148B-8C4E-0BDDB1609896}"/>
              </a:ext>
            </a:extLst>
          </p:cNvPr>
          <p:cNvSpPr/>
          <p:nvPr/>
        </p:nvSpPr>
        <p:spPr>
          <a:xfrm flipH="1">
            <a:off x="719417" y="1767227"/>
            <a:ext cx="1447" cy="3342655"/>
          </a:xfrm>
          <a:prstGeom prst="line">
            <a:avLst/>
          </a:prstGeom>
          <a:noFill/>
          <a:ln w="19050">
            <a:solidFill>
              <a:srgbClr val="CADCFC"/>
            </a:solidFill>
            <a:prstDash val="dash"/>
          </a:ln>
        </p:spPr>
        <p:txBody>
          <a:bodyPr/>
          <a:lstStyle/>
          <a:p>
            <a:endParaRPr lang="en-IT"/>
          </a:p>
        </p:txBody>
      </p:sp>
      <p:sp>
        <p:nvSpPr>
          <p:cNvPr id="8" name="Shape 6">
            <a:extLst>
              <a:ext uri="{FF2B5EF4-FFF2-40B4-BE49-F238E27FC236}">
                <a16:creationId xmlns:a16="http://schemas.microsoft.com/office/drawing/2014/main" id="{92D66DCE-73AE-8AA0-FEFF-97F156868B6D}"/>
              </a:ext>
            </a:extLst>
          </p:cNvPr>
          <p:cNvSpPr/>
          <p:nvPr/>
        </p:nvSpPr>
        <p:spPr>
          <a:xfrm>
            <a:off x="548640" y="2300330"/>
            <a:ext cx="384048" cy="384048"/>
          </a:xfrm>
          <a:prstGeom prst="ellipse">
            <a:avLst/>
          </a:prstGeom>
          <a:solidFill>
            <a:srgbClr val="F2A65A"/>
          </a:solidFill>
          <a:ln/>
        </p:spPr>
        <p:txBody>
          <a:bodyPr/>
          <a:lstStyle/>
          <a:p>
            <a:endParaRPr lang="en-IT"/>
          </a:p>
        </p:txBody>
      </p:sp>
      <p:sp>
        <p:nvSpPr>
          <p:cNvPr id="9" name="Text 7">
            <a:extLst>
              <a:ext uri="{FF2B5EF4-FFF2-40B4-BE49-F238E27FC236}">
                <a16:creationId xmlns:a16="http://schemas.microsoft.com/office/drawing/2014/main" id="{DB73A6FA-D180-1A9E-9CF8-13B5E9B1F60B}"/>
              </a:ext>
            </a:extLst>
          </p:cNvPr>
          <p:cNvSpPr txBox="1"/>
          <p:nvPr/>
        </p:nvSpPr>
        <p:spPr>
          <a:xfrm>
            <a:off x="548640" y="2276740"/>
            <a:ext cx="384048" cy="384048"/>
          </a:xfrm>
          <a:prstGeom prst="rect">
            <a:avLst/>
          </a:prstGeom>
          <a:noFill/>
          <a:ln/>
        </p:spPr>
        <p:txBody>
          <a:bodyPr wrap="square" lIns="0" tIns="0" rIns="0" bIns="0" rtlCol="0" anchor="ctr"/>
          <a:lstStyle/>
          <a:p>
            <a:pPr marL="0" indent="0" algn="ctr">
              <a:buNone/>
            </a:pPr>
            <a:r>
              <a:rPr lang="en-US" sz="1600" b="1" dirty="0">
                <a:solidFill>
                  <a:srgbClr val="141A45"/>
                </a:solidFill>
                <a:latin typeface="Calibri" pitchFamily="34" charset="0"/>
                <a:ea typeface="Calibri" pitchFamily="34" charset="-122"/>
                <a:cs typeface="Calibri" pitchFamily="34" charset="-120"/>
              </a:rPr>
              <a:t>2</a:t>
            </a:r>
            <a:endParaRPr lang="en-US" sz="1600" dirty="0"/>
          </a:p>
        </p:txBody>
      </p:sp>
      <p:sp>
        <p:nvSpPr>
          <p:cNvPr id="13" name="Shape 11">
            <a:extLst>
              <a:ext uri="{FF2B5EF4-FFF2-40B4-BE49-F238E27FC236}">
                <a16:creationId xmlns:a16="http://schemas.microsoft.com/office/drawing/2014/main" id="{14B210A8-F5AF-C7EA-0447-9953B566B229}"/>
              </a:ext>
            </a:extLst>
          </p:cNvPr>
          <p:cNvSpPr/>
          <p:nvPr/>
        </p:nvSpPr>
        <p:spPr>
          <a:xfrm>
            <a:off x="548640" y="3666420"/>
            <a:ext cx="384048" cy="384048"/>
          </a:xfrm>
          <a:prstGeom prst="ellipse">
            <a:avLst/>
          </a:prstGeom>
          <a:solidFill>
            <a:srgbClr val="F2A65A"/>
          </a:solidFill>
          <a:ln/>
        </p:spPr>
        <p:txBody>
          <a:bodyPr/>
          <a:lstStyle/>
          <a:p>
            <a:endParaRPr lang="en-IT"/>
          </a:p>
        </p:txBody>
      </p:sp>
      <p:sp>
        <p:nvSpPr>
          <p:cNvPr id="14" name="Text 12">
            <a:extLst>
              <a:ext uri="{FF2B5EF4-FFF2-40B4-BE49-F238E27FC236}">
                <a16:creationId xmlns:a16="http://schemas.microsoft.com/office/drawing/2014/main" id="{F74CC049-17D1-680F-C51F-02193DD2CB6A}"/>
              </a:ext>
            </a:extLst>
          </p:cNvPr>
          <p:cNvSpPr txBox="1"/>
          <p:nvPr/>
        </p:nvSpPr>
        <p:spPr>
          <a:xfrm>
            <a:off x="548640" y="3674512"/>
            <a:ext cx="384048" cy="384048"/>
          </a:xfrm>
          <a:prstGeom prst="rect">
            <a:avLst/>
          </a:prstGeom>
          <a:noFill/>
          <a:ln/>
        </p:spPr>
        <p:txBody>
          <a:bodyPr wrap="square" lIns="0" tIns="0" rIns="0" bIns="0" rtlCol="0" anchor="ctr"/>
          <a:lstStyle/>
          <a:p>
            <a:pPr marL="0" indent="0" algn="ctr">
              <a:buNone/>
            </a:pPr>
            <a:r>
              <a:rPr lang="en-US" sz="1600" b="1" dirty="0">
                <a:solidFill>
                  <a:srgbClr val="141A45"/>
                </a:solidFill>
                <a:latin typeface="Calibri" pitchFamily="34" charset="0"/>
                <a:ea typeface="Calibri" pitchFamily="34" charset="-122"/>
                <a:cs typeface="Calibri" pitchFamily="34" charset="-120"/>
              </a:rPr>
              <a:t>3</a:t>
            </a:r>
            <a:endParaRPr lang="en-US" sz="1600" dirty="0"/>
          </a:p>
        </p:txBody>
      </p:sp>
      <p:sp>
        <p:nvSpPr>
          <p:cNvPr id="18" name="Shape 16">
            <a:extLst>
              <a:ext uri="{FF2B5EF4-FFF2-40B4-BE49-F238E27FC236}">
                <a16:creationId xmlns:a16="http://schemas.microsoft.com/office/drawing/2014/main" id="{64045835-64AA-E733-D1D5-6ABA0DD9BD5D}"/>
              </a:ext>
            </a:extLst>
          </p:cNvPr>
          <p:cNvSpPr/>
          <p:nvPr/>
        </p:nvSpPr>
        <p:spPr>
          <a:xfrm>
            <a:off x="548640" y="4988519"/>
            <a:ext cx="384048" cy="384048"/>
          </a:xfrm>
          <a:prstGeom prst="ellipse">
            <a:avLst/>
          </a:prstGeom>
          <a:solidFill>
            <a:srgbClr val="F2A65A"/>
          </a:solidFill>
          <a:ln/>
        </p:spPr>
        <p:txBody>
          <a:bodyPr/>
          <a:lstStyle/>
          <a:p>
            <a:endParaRPr lang="en-IT"/>
          </a:p>
        </p:txBody>
      </p:sp>
      <p:sp>
        <p:nvSpPr>
          <p:cNvPr id="19" name="Text 17">
            <a:extLst>
              <a:ext uri="{FF2B5EF4-FFF2-40B4-BE49-F238E27FC236}">
                <a16:creationId xmlns:a16="http://schemas.microsoft.com/office/drawing/2014/main" id="{3C97A0A2-3DEC-927E-3CE0-5CFCA742683D}"/>
              </a:ext>
            </a:extLst>
          </p:cNvPr>
          <p:cNvSpPr txBox="1"/>
          <p:nvPr/>
        </p:nvSpPr>
        <p:spPr>
          <a:xfrm>
            <a:off x="548640" y="4988281"/>
            <a:ext cx="384048" cy="384048"/>
          </a:xfrm>
          <a:prstGeom prst="rect">
            <a:avLst/>
          </a:prstGeom>
          <a:noFill/>
          <a:ln/>
        </p:spPr>
        <p:txBody>
          <a:bodyPr wrap="square" lIns="0" tIns="0" rIns="0" bIns="0" rtlCol="0" anchor="ctr"/>
          <a:lstStyle/>
          <a:p>
            <a:pPr marL="0" indent="0" algn="ctr">
              <a:buNone/>
            </a:pPr>
            <a:r>
              <a:rPr lang="en-US" sz="1600" b="1" dirty="0">
                <a:solidFill>
                  <a:srgbClr val="141A45"/>
                </a:solidFill>
                <a:latin typeface="Calibri" pitchFamily="34" charset="0"/>
                <a:ea typeface="Calibri" pitchFamily="34" charset="-122"/>
                <a:cs typeface="Calibri" pitchFamily="34" charset="-120"/>
              </a:rPr>
              <a:t>4</a:t>
            </a:r>
            <a:endParaRPr lang="en-US" sz="1600" dirty="0"/>
          </a:p>
        </p:txBody>
      </p:sp>
      <p:sp>
        <p:nvSpPr>
          <p:cNvPr id="42" name="Text 38">
            <a:extLst>
              <a:ext uri="{FF2B5EF4-FFF2-40B4-BE49-F238E27FC236}">
                <a16:creationId xmlns:a16="http://schemas.microsoft.com/office/drawing/2014/main" id="{431DE192-0D40-4D28-26FA-CB53BDCBED81}"/>
              </a:ext>
            </a:extLst>
          </p:cNvPr>
          <p:cNvSpPr txBox="1"/>
          <p:nvPr/>
        </p:nvSpPr>
        <p:spPr>
          <a:xfrm>
            <a:off x="11365992" y="6355080"/>
            <a:ext cx="457200" cy="320040"/>
          </a:xfrm>
          <a:prstGeom prst="rect">
            <a:avLst/>
          </a:prstGeom>
          <a:noFill/>
          <a:ln/>
        </p:spPr>
        <p:txBody>
          <a:bodyPr wrap="square" lIns="0" tIns="0" rIns="0" bIns="0" rtlCol="0" anchor="ctr"/>
          <a:lstStyle/>
          <a:p>
            <a:pPr marL="0" indent="0" algn="r">
              <a:buNone/>
            </a:pPr>
            <a:r>
              <a:rPr lang="en-US" sz="1100" dirty="0">
                <a:solidFill>
                  <a:srgbClr val="5A6482"/>
                </a:solidFill>
                <a:latin typeface="Calibri" pitchFamily="34" charset="0"/>
                <a:ea typeface="Calibri" pitchFamily="34" charset="-122"/>
                <a:cs typeface="Calibri" pitchFamily="34" charset="-120"/>
              </a:rPr>
              <a:t>8</a:t>
            </a:r>
            <a:endParaRPr lang="en-US" sz="1100" dirty="0"/>
          </a:p>
        </p:txBody>
      </p:sp>
      <p:pic>
        <p:nvPicPr>
          <p:cNvPr id="40" name="Image 2" descr="imgs/logo.png">
            <a:extLst>
              <a:ext uri="{FF2B5EF4-FFF2-40B4-BE49-F238E27FC236}">
                <a16:creationId xmlns:a16="http://schemas.microsoft.com/office/drawing/2014/main" id="{168A742F-63F7-F262-659F-3F15FF8E24C7}"/>
              </a:ext>
            </a:extLst>
          </p:cNvPr>
          <p:cNvPicPr>
            <a:picLocks noChangeAspect="1"/>
          </p:cNvPicPr>
          <p:nvPr/>
        </p:nvPicPr>
        <p:blipFill>
          <a:blip r:embed="rId3"/>
          <a:stretch>
            <a:fillRect/>
          </a:stretch>
        </p:blipFill>
        <p:spPr>
          <a:xfrm>
            <a:off x="368808" y="6350655"/>
            <a:ext cx="769199" cy="324465"/>
          </a:xfrm>
          <a:prstGeom prst="rect">
            <a:avLst/>
          </a:prstGeom>
        </p:spPr>
      </p:pic>
      <p:sp>
        <p:nvSpPr>
          <p:cNvPr id="46" name="Text 3">
            <a:extLst>
              <a:ext uri="{FF2B5EF4-FFF2-40B4-BE49-F238E27FC236}">
                <a16:creationId xmlns:a16="http://schemas.microsoft.com/office/drawing/2014/main" id="{4452C85E-A076-B60E-2DC4-942D24A99E6F}"/>
              </a:ext>
            </a:extLst>
          </p:cNvPr>
          <p:cNvSpPr txBox="1"/>
          <p:nvPr/>
        </p:nvSpPr>
        <p:spPr>
          <a:xfrm>
            <a:off x="1097279" y="2378327"/>
            <a:ext cx="4448497" cy="502920"/>
          </a:xfrm>
          <a:prstGeom prst="rect">
            <a:avLst/>
          </a:prstGeom>
          <a:noFill/>
          <a:ln/>
        </p:spPr>
        <p:txBody>
          <a:bodyPr wrap="square" lIns="0" tIns="0" rIns="0" bIns="0" rtlCol="0" anchor="ctr"/>
          <a:lstStyle/>
          <a:p>
            <a:r>
              <a:rPr lang="en-US" sz="2000" b="1" dirty="0">
                <a:solidFill>
                  <a:srgbClr val="1E2761"/>
                </a:solidFill>
                <a:latin typeface="Calibri" pitchFamily="34" charset="0"/>
                <a:ea typeface="Calibri" pitchFamily="34" charset="-122"/>
                <a:cs typeface="Calibri" pitchFamily="34" charset="-120"/>
              </a:rPr>
              <a:t>A new wrapper unpack the additional requirements</a:t>
            </a:r>
            <a:endParaRPr lang="en-US" sz="2000" dirty="0"/>
          </a:p>
        </p:txBody>
      </p:sp>
      <p:sp>
        <p:nvSpPr>
          <p:cNvPr id="47" name="Text 4">
            <a:extLst>
              <a:ext uri="{FF2B5EF4-FFF2-40B4-BE49-F238E27FC236}">
                <a16:creationId xmlns:a16="http://schemas.microsoft.com/office/drawing/2014/main" id="{A41A6CE8-5AFC-C8AC-C518-D8922AD8505E}"/>
              </a:ext>
            </a:extLst>
          </p:cNvPr>
          <p:cNvSpPr txBox="1"/>
          <p:nvPr/>
        </p:nvSpPr>
        <p:spPr>
          <a:xfrm>
            <a:off x="1118013" y="2938447"/>
            <a:ext cx="4333438" cy="704581"/>
          </a:xfrm>
          <a:prstGeom prst="rect">
            <a:avLst/>
          </a:prstGeom>
          <a:noFill/>
          <a:ln/>
        </p:spPr>
        <p:txBody>
          <a:bodyPr wrap="square" lIns="0" tIns="0" rIns="0" bIns="0" rtlCol="0" anchor="t"/>
          <a:lstStyle/>
          <a:p>
            <a:r>
              <a:rPr lang="en-US" dirty="0">
                <a:solidFill>
                  <a:srgbClr val="5A6482"/>
                </a:solidFill>
                <a:latin typeface="Calibri" pitchFamily="34" charset="0"/>
                <a:ea typeface="Calibri" pitchFamily="34" charset="-122"/>
                <a:cs typeface="Calibri" pitchFamily="34" charset="-120"/>
              </a:rPr>
              <a:t>Split A</a:t>
            </a:r>
            <a:r>
              <a:rPr lang="en-US" baseline="-25000" dirty="0">
                <a:solidFill>
                  <a:srgbClr val="5A6482"/>
                </a:solidFill>
                <a:latin typeface="Calibri" pitchFamily="34" charset="0"/>
                <a:ea typeface="Calibri" pitchFamily="34" charset="-122"/>
                <a:cs typeface="Calibri" pitchFamily="34" charset="-120"/>
              </a:rPr>
              <a:t>1</a:t>
            </a:r>
            <a:r>
              <a:rPr lang="en-US" dirty="0">
                <a:solidFill>
                  <a:srgbClr val="5A6482"/>
                </a:solidFill>
                <a:latin typeface="Calibri" pitchFamily="34" charset="0"/>
                <a:ea typeface="Calibri" pitchFamily="34" charset="-122"/>
                <a:cs typeface="Calibri" pitchFamily="34" charset="-120"/>
              </a:rPr>
              <a:t>, … A</a:t>
            </a:r>
            <a:r>
              <a:rPr lang="en-US" baseline="-25000" dirty="0">
                <a:solidFill>
                  <a:srgbClr val="5A6482"/>
                </a:solidFill>
                <a:latin typeface="Calibri" pitchFamily="34" charset="0"/>
                <a:ea typeface="Calibri" pitchFamily="34" charset="-122"/>
                <a:cs typeface="Calibri" pitchFamily="34" charset="-120"/>
              </a:rPr>
              <a:t>N</a:t>
            </a:r>
            <a:r>
              <a:rPr lang="en-US" dirty="0">
                <a:solidFill>
                  <a:srgbClr val="5A6482"/>
                </a:solidFill>
                <a:latin typeface="Calibri" pitchFamily="34" charset="0"/>
                <a:ea typeface="Calibri" pitchFamily="34" charset="-122"/>
                <a:cs typeface="Calibri" pitchFamily="34" charset="-120"/>
              </a:rPr>
              <a:t> into one call per requirement, instead of a single batch call</a:t>
            </a:r>
            <a:endParaRPr lang="en-US" dirty="0"/>
          </a:p>
        </p:txBody>
      </p:sp>
      <p:sp>
        <p:nvSpPr>
          <p:cNvPr id="50" name="Text 3">
            <a:extLst>
              <a:ext uri="{FF2B5EF4-FFF2-40B4-BE49-F238E27FC236}">
                <a16:creationId xmlns:a16="http://schemas.microsoft.com/office/drawing/2014/main" id="{AA44031B-45E1-7554-C85B-CAD56812B21A}"/>
              </a:ext>
            </a:extLst>
          </p:cNvPr>
          <p:cNvSpPr txBox="1"/>
          <p:nvPr/>
        </p:nvSpPr>
        <p:spPr>
          <a:xfrm>
            <a:off x="1097277" y="3616919"/>
            <a:ext cx="4448497" cy="502920"/>
          </a:xfrm>
          <a:prstGeom prst="rect">
            <a:avLst/>
          </a:prstGeom>
          <a:noFill/>
          <a:ln/>
        </p:spPr>
        <p:txBody>
          <a:bodyPr wrap="square" lIns="0" tIns="0" rIns="0" bIns="0" rtlCol="0" anchor="ctr"/>
          <a:lstStyle/>
          <a:p>
            <a:r>
              <a:rPr lang="en-US" sz="2000" b="1" dirty="0">
                <a:solidFill>
                  <a:srgbClr val="1E2761"/>
                </a:solidFill>
                <a:latin typeface="Calibri" pitchFamily="34" charset="0"/>
                <a:ea typeface="Calibri" pitchFamily="34" charset="-122"/>
                <a:cs typeface="Calibri" pitchFamily="34" charset="-120"/>
              </a:rPr>
              <a:t>State updated every iteration</a:t>
            </a:r>
            <a:endParaRPr lang="en-US" sz="2000" dirty="0"/>
          </a:p>
        </p:txBody>
      </p:sp>
      <p:sp>
        <p:nvSpPr>
          <p:cNvPr id="51" name="Text 4">
            <a:extLst>
              <a:ext uri="{FF2B5EF4-FFF2-40B4-BE49-F238E27FC236}">
                <a16:creationId xmlns:a16="http://schemas.microsoft.com/office/drawing/2014/main" id="{3789AFAD-5BDB-4F00-F75B-67704E4D6230}"/>
              </a:ext>
            </a:extLst>
          </p:cNvPr>
          <p:cNvSpPr txBox="1"/>
          <p:nvPr/>
        </p:nvSpPr>
        <p:spPr>
          <a:xfrm>
            <a:off x="1097276" y="4015714"/>
            <a:ext cx="4333438" cy="972805"/>
          </a:xfrm>
          <a:prstGeom prst="rect">
            <a:avLst/>
          </a:prstGeom>
          <a:noFill/>
          <a:ln/>
        </p:spPr>
        <p:txBody>
          <a:bodyPr wrap="square" lIns="0" tIns="0" rIns="0" bIns="0" rtlCol="0" anchor="t"/>
          <a:lstStyle/>
          <a:p>
            <a:r>
              <a:rPr lang="en-US" dirty="0">
                <a:solidFill>
                  <a:srgbClr val="5A6482"/>
                </a:solidFill>
                <a:latin typeface="Calibri" pitchFamily="34" charset="0"/>
                <a:cs typeface="Calibri" pitchFamily="34" charset="-120"/>
              </a:rPr>
              <a:t>Current requirements and graphs are updated </a:t>
            </a:r>
            <a:r>
              <a:rPr lang="en-US" dirty="0">
                <a:solidFill>
                  <a:srgbClr val="5A6482"/>
                </a:solidFill>
                <a:latin typeface="Calibri" pitchFamily="34" charset="0"/>
                <a:ea typeface="Calibri" pitchFamily="34" charset="-122"/>
                <a:cs typeface="Calibri" pitchFamily="34" charset="-120"/>
              </a:rPr>
              <a:t>at each call to propagate the intermediate result into the next iteration</a:t>
            </a:r>
            <a:endParaRPr lang="en-US" dirty="0"/>
          </a:p>
        </p:txBody>
      </p:sp>
      <p:sp>
        <p:nvSpPr>
          <p:cNvPr id="52" name="Text 3">
            <a:extLst>
              <a:ext uri="{FF2B5EF4-FFF2-40B4-BE49-F238E27FC236}">
                <a16:creationId xmlns:a16="http://schemas.microsoft.com/office/drawing/2014/main" id="{297463DA-7DD6-7981-91D8-B48E1567C7CA}"/>
              </a:ext>
            </a:extLst>
          </p:cNvPr>
          <p:cNvSpPr txBox="1"/>
          <p:nvPr/>
        </p:nvSpPr>
        <p:spPr>
          <a:xfrm>
            <a:off x="1097279" y="4948631"/>
            <a:ext cx="4656581" cy="502920"/>
          </a:xfrm>
          <a:prstGeom prst="rect">
            <a:avLst/>
          </a:prstGeom>
          <a:noFill/>
          <a:ln/>
        </p:spPr>
        <p:txBody>
          <a:bodyPr wrap="square" lIns="0" tIns="0" rIns="0" bIns="0" rtlCol="0" anchor="ctr"/>
          <a:lstStyle/>
          <a:p>
            <a:r>
              <a:rPr lang="en-US" sz="2000" b="1" dirty="0">
                <a:solidFill>
                  <a:srgbClr val="1E2761"/>
                </a:solidFill>
                <a:latin typeface="Calibri" pitchFamily="34" charset="0"/>
                <a:ea typeface="Calibri" pitchFamily="34" charset="-122"/>
                <a:cs typeface="Calibri" pitchFamily="34" charset="-120"/>
              </a:rPr>
              <a:t>All other components remained untouched</a:t>
            </a:r>
            <a:endParaRPr lang="en-US" sz="2000" dirty="0"/>
          </a:p>
        </p:txBody>
      </p:sp>
      <p:sp>
        <p:nvSpPr>
          <p:cNvPr id="53" name="Text 4">
            <a:extLst>
              <a:ext uri="{FF2B5EF4-FFF2-40B4-BE49-F238E27FC236}">
                <a16:creationId xmlns:a16="http://schemas.microsoft.com/office/drawing/2014/main" id="{95B320F9-5182-9991-CC8F-3D31E03A0704}"/>
              </a:ext>
            </a:extLst>
          </p:cNvPr>
          <p:cNvSpPr txBox="1"/>
          <p:nvPr/>
        </p:nvSpPr>
        <p:spPr>
          <a:xfrm>
            <a:off x="1097278" y="5347426"/>
            <a:ext cx="4333438" cy="704581"/>
          </a:xfrm>
          <a:prstGeom prst="rect">
            <a:avLst/>
          </a:prstGeom>
          <a:noFill/>
          <a:ln/>
        </p:spPr>
        <p:txBody>
          <a:bodyPr wrap="square" lIns="0" tIns="0" rIns="0" bIns="0" rtlCol="0" anchor="t"/>
          <a:lstStyle/>
          <a:p>
            <a:r>
              <a:rPr lang="en-US" dirty="0" err="1">
                <a:solidFill>
                  <a:srgbClr val="5A6482"/>
                </a:solidFill>
                <a:latin typeface="Calibri" pitchFamily="34" charset="0"/>
                <a:ea typeface="Calibri" pitchFamily="34" charset="-122"/>
                <a:cs typeface="Calibri" pitchFamily="34" charset="-120"/>
              </a:rPr>
              <a:t>MaxSMT</a:t>
            </a:r>
            <a:r>
              <a:rPr lang="en-US" dirty="0">
                <a:solidFill>
                  <a:srgbClr val="5A6482"/>
                </a:solidFill>
                <a:latin typeface="Calibri" pitchFamily="34" charset="0"/>
                <a:ea typeface="Calibri" pitchFamily="34" charset="-122"/>
                <a:cs typeface="Calibri" pitchFamily="34" charset="-120"/>
              </a:rPr>
              <a:t> encoding, </a:t>
            </a:r>
            <a:r>
              <a:rPr lang="en-US" dirty="0" err="1">
                <a:solidFill>
                  <a:srgbClr val="5A6482"/>
                </a:solidFill>
                <a:latin typeface="Calibri" pitchFamily="34" charset="0"/>
                <a:ea typeface="Calibri" pitchFamily="34" charset="-122"/>
                <a:cs typeface="Calibri" pitchFamily="34" charset="-120"/>
              </a:rPr>
              <a:t>VerefooProxy</a:t>
            </a:r>
            <a:r>
              <a:rPr lang="en-US" dirty="0">
                <a:solidFill>
                  <a:srgbClr val="5A6482"/>
                </a:solidFill>
                <a:latin typeface="Calibri" pitchFamily="34" charset="0"/>
                <a:ea typeface="Calibri" pitchFamily="34" charset="-122"/>
                <a:cs typeface="Calibri" pitchFamily="34" charset="-120"/>
              </a:rPr>
              <a:t>, </a:t>
            </a:r>
            <a:r>
              <a:rPr lang="en-US" dirty="0" err="1">
                <a:solidFill>
                  <a:srgbClr val="5A6482"/>
                </a:solidFill>
                <a:latin typeface="Calibri" pitchFamily="34" charset="0"/>
                <a:ea typeface="Calibri" pitchFamily="34" charset="-122"/>
                <a:cs typeface="Calibri" pitchFamily="34" charset="-120"/>
              </a:rPr>
              <a:t>VerefooTranslator</a:t>
            </a:r>
            <a:r>
              <a:rPr lang="en-US" dirty="0">
                <a:solidFill>
                  <a:srgbClr val="5A6482"/>
                </a:solidFill>
                <a:latin typeface="Calibri" pitchFamily="34" charset="0"/>
                <a:ea typeface="Calibri" pitchFamily="34" charset="-122"/>
                <a:cs typeface="Calibri" pitchFamily="34" charset="-120"/>
              </a:rPr>
              <a:t> unchanged</a:t>
            </a:r>
            <a:endParaRPr lang="en-US" dirty="0"/>
          </a:p>
        </p:txBody>
      </p:sp>
      <p:sp>
        <p:nvSpPr>
          <p:cNvPr id="55" name="Shape 20">
            <a:extLst>
              <a:ext uri="{FF2B5EF4-FFF2-40B4-BE49-F238E27FC236}">
                <a16:creationId xmlns:a16="http://schemas.microsoft.com/office/drawing/2014/main" id="{7EAC637C-5843-706B-E0C0-1B8684217F59}"/>
              </a:ext>
            </a:extLst>
          </p:cNvPr>
          <p:cNvSpPr/>
          <p:nvPr/>
        </p:nvSpPr>
        <p:spPr>
          <a:xfrm>
            <a:off x="8778500" y="1402979"/>
            <a:ext cx="446686" cy="459735"/>
          </a:xfrm>
          <a:prstGeom prst="roundRect">
            <a:avLst>
              <a:gd name="adj" fmla="val 16000"/>
            </a:avLst>
          </a:prstGeom>
          <a:solidFill>
            <a:srgbClr val="F2F5FC"/>
          </a:solidFill>
          <a:ln w="12700">
            <a:solidFill>
              <a:srgbClr val="CADCFC"/>
            </a:solidFill>
            <a:prstDash val="solid"/>
          </a:ln>
        </p:spPr>
        <p:txBody>
          <a:bodyPr anchor="ctr"/>
          <a:lstStyle/>
          <a:p>
            <a:pPr algn="ctr"/>
            <a:r>
              <a:rPr lang="en-IT" sz="1600" b="1" dirty="0">
                <a:latin typeface="Calibri" pitchFamily="34" charset="0"/>
                <a:cs typeface="Calibri" pitchFamily="34" charset="-120"/>
              </a:rPr>
              <a:t>A</a:t>
            </a:r>
            <a:r>
              <a:rPr lang="en-IT" sz="1600" b="1" baseline="-25000" dirty="0">
                <a:latin typeface="Calibri" pitchFamily="34" charset="0"/>
                <a:cs typeface="Calibri" pitchFamily="34" charset="-120"/>
              </a:rPr>
              <a:t>1</a:t>
            </a:r>
            <a:endParaRPr lang="en-IT" sz="1250" b="1" baseline="-25000" dirty="0">
              <a:latin typeface="Calibri" pitchFamily="34" charset="0"/>
              <a:cs typeface="Calibri" pitchFamily="34" charset="-120"/>
            </a:endParaRPr>
          </a:p>
        </p:txBody>
      </p:sp>
      <p:sp>
        <p:nvSpPr>
          <p:cNvPr id="58" name="Shape 23">
            <a:extLst>
              <a:ext uri="{FF2B5EF4-FFF2-40B4-BE49-F238E27FC236}">
                <a16:creationId xmlns:a16="http://schemas.microsoft.com/office/drawing/2014/main" id="{D4C012E3-D698-74B4-7538-E4D37CF38188}"/>
              </a:ext>
            </a:extLst>
          </p:cNvPr>
          <p:cNvSpPr/>
          <p:nvPr/>
        </p:nvSpPr>
        <p:spPr>
          <a:xfrm>
            <a:off x="6717297" y="2147713"/>
            <a:ext cx="4711170" cy="3186145"/>
          </a:xfrm>
          <a:prstGeom prst="roundRect">
            <a:avLst>
              <a:gd name="adj" fmla="val 4242"/>
            </a:avLst>
          </a:prstGeom>
          <a:solidFill>
            <a:srgbClr val="FFF8EF"/>
          </a:solidFill>
          <a:ln w="22225">
            <a:solidFill>
              <a:srgbClr val="F2A65A"/>
            </a:solidFill>
            <a:prstDash val="dash"/>
          </a:ln>
        </p:spPr>
        <p:txBody>
          <a:bodyPr/>
          <a:lstStyle/>
          <a:p>
            <a:endParaRPr lang="en-IT" dirty="0"/>
          </a:p>
        </p:txBody>
      </p:sp>
      <p:sp>
        <p:nvSpPr>
          <p:cNvPr id="59" name="Text 24">
            <a:extLst>
              <a:ext uri="{FF2B5EF4-FFF2-40B4-BE49-F238E27FC236}">
                <a16:creationId xmlns:a16="http://schemas.microsoft.com/office/drawing/2014/main" id="{85A46E5C-E1DC-57FB-5534-3285F27E1131}"/>
              </a:ext>
            </a:extLst>
          </p:cNvPr>
          <p:cNvSpPr txBox="1"/>
          <p:nvPr/>
        </p:nvSpPr>
        <p:spPr>
          <a:xfrm>
            <a:off x="6859409" y="4978772"/>
            <a:ext cx="1515426" cy="320040"/>
          </a:xfrm>
          <a:prstGeom prst="rect">
            <a:avLst/>
          </a:prstGeom>
          <a:noFill/>
          <a:ln/>
        </p:spPr>
        <p:txBody>
          <a:bodyPr wrap="square" lIns="0" tIns="0" rIns="0" bIns="0" rtlCol="0" anchor="ctr"/>
          <a:lstStyle/>
          <a:p>
            <a:pPr marL="0" indent="0">
              <a:buNone/>
            </a:pPr>
            <a:r>
              <a:rPr lang="en-US" sz="1250" b="1" dirty="0">
                <a:solidFill>
                  <a:srgbClr val="F2A65A"/>
                </a:solidFill>
                <a:latin typeface="Calibri" pitchFamily="34" charset="0"/>
                <a:ea typeface="Calibri" pitchFamily="34" charset="-122"/>
                <a:cs typeface="Calibri" pitchFamily="34" charset="-120"/>
              </a:rPr>
              <a:t>NEW — iterative loop</a:t>
            </a:r>
            <a:endParaRPr lang="en-US" sz="1250" dirty="0"/>
          </a:p>
        </p:txBody>
      </p:sp>
      <p:sp>
        <p:nvSpPr>
          <p:cNvPr id="63" name="Shape 28">
            <a:extLst>
              <a:ext uri="{FF2B5EF4-FFF2-40B4-BE49-F238E27FC236}">
                <a16:creationId xmlns:a16="http://schemas.microsoft.com/office/drawing/2014/main" id="{0AA6FA79-19BA-5F3C-4D63-1243490EE0D1}"/>
              </a:ext>
            </a:extLst>
          </p:cNvPr>
          <p:cNvSpPr/>
          <p:nvPr/>
        </p:nvSpPr>
        <p:spPr>
          <a:xfrm>
            <a:off x="7113267" y="2830388"/>
            <a:ext cx="1252230" cy="432516"/>
          </a:xfrm>
          <a:prstGeom prst="roundRect">
            <a:avLst>
              <a:gd name="adj" fmla="val 11111"/>
            </a:avLst>
          </a:prstGeom>
          <a:solidFill>
            <a:srgbClr val="1E2761"/>
          </a:solidFill>
          <a:ln/>
        </p:spPr>
        <p:txBody>
          <a:bodyPr anchor="ctr"/>
          <a:lstStyle/>
          <a:p>
            <a:pPr algn="ctr"/>
            <a:r>
              <a:rPr lang="en-IT" sz="1600" b="1" dirty="0">
                <a:solidFill>
                  <a:srgbClr val="FFFFFF"/>
                </a:solidFill>
                <a:latin typeface="Calibri" pitchFamily="34" charset="0"/>
                <a:cs typeface="Calibri" pitchFamily="34" charset="-120"/>
              </a:rPr>
              <a:t>Solver</a:t>
            </a:r>
          </a:p>
        </p:txBody>
      </p:sp>
      <p:sp>
        <p:nvSpPr>
          <p:cNvPr id="65" name="Shape 30">
            <a:extLst>
              <a:ext uri="{FF2B5EF4-FFF2-40B4-BE49-F238E27FC236}">
                <a16:creationId xmlns:a16="http://schemas.microsoft.com/office/drawing/2014/main" id="{68A75F38-37F9-D158-6805-937F2397C766}"/>
              </a:ext>
            </a:extLst>
          </p:cNvPr>
          <p:cNvSpPr/>
          <p:nvPr/>
        </p:nvSpPr>
        <p:spPr>
          <a:xfrm>
            <a:off x="10142107" y="2741593"/>
            <a:ext cx="10725" cy="2142878"/>
          </a:xfrm>
          <a:prstGeom prst="line">
            <a:avLst/>
          </a:prstGeom>
          <a:noFill/>
          <a:ln w="19050">
            <a:solidFill>
              <a:srgbClr val="F2A65A"/>
            </a:solidFill>
            <a:prstDash val="dash"/>
          </a:ln>
        </p:spPr>
        <p:txBody>
          <a:bodyPr/>
          <a:lstStyle/>
          <a:p>
            <a:endParaRPr lang="en-IT"/>
          </a:p>
        </p:txBody>
      </p:sp>
      <p:sp>
        <p:nvSpPr>
          <p:cNvPr id="66" name="Text 31">
            <a:extLst>
              <a:ext uri="{FF2B5EF4-FFF2-40B4-BE49-F238E27FC236}">
                <a16:creationId xmlns:a16="http://schemas.microsoft.com/office/drawing/2014/main" id="{034C25EA-5924-2BA2-D218-9C456EDCE839}"/>
              </a:ext>
            </a:extLst>
          </p:cNvPr>
          <p:cNvSpPr txBox="1"/>
          <p:nvPr/>
        </p:nvSpPr>
        <p:spPr>
          <a:xfrm>
            <a:off x="9922497" y="2408217"/>
            <a:ext cx="451619" cy="414342"/>
          </a:xfrm>
          <a:prstGeom prst="rect">
            <a:avLst/>
          </a:prstGeom>
          <a:noFill/>
          <a:ln/>
        </p:spPr>
        <p:txBody>
          <a:bodyPr wrap="square" lIns="0" tIns="0" rIns="0" bIns="0" rtlCol="0" anchor="ctr"/>
          <a:lstStyle/>
          <a:p>
            <a:pPr marL="0" indent="0" algn="ctr">
              <a:buNone/>
            </a:pPr>
            <a:r>
              <a:rPr lang="en-US" sz="2000" b="1" dirty="0">
                <a:solidFill>
                  <a:srgbClr val="F2A65A"/>
                </a:solidFill>
                <a:latin typeface="Calibri" pitchFamily="34" charset="0"/>
                <a:ea typeface="Calibri" pitchFamily="34" charset="-122"/>
                <a:cs typeface="Calibri" pitchFamily="34" charset="-120"/>
              </a:rPr>
              <a:t>↻</a:t>
            </a:r>
            <a:endParaRPr lang="en-US" sz="2000" b="1" dirty="0"/>
          </a:p>
        </p:txBody>
      </p:sp>
      <p:sp>
        <p:nvSpPr>
          <p:cNvPr id="67" name="Text 32">
            <a:extLst>
              <a:ext uri="{FF2B5EF4-FFF2-40B4-BE49-F238E27FC236}">
                <a16:creationId xmlns:a16="http://schemas.microsoft.com/office/drawing/2014/main" id="{15A5A97A-5FC9-028F-5DCA-4237305CE4AB}"/>
              </a:ext>
            </a:extLst>
          </p:cNvPr>
          <p:cNvSpPr txBox="1"/>
          <p:nvPr/>
        </p:nvSpPr>
        <p:spPr>
          <a:xfrm>
            <a:off x="10261016" y="3463988"/>
            <a:ext cx="959775" cy="710916"/>
          </a:xfrm>
          <a:prstGeom prst="rect">
            <a:avLst/>
          </a:prstGeom>
          <a:noFill/>
          <a:ln/>
        </p:spPr>
        <p:txBody>
          <a:bodyPr wrap="square" lIns="0" tIns="0" rIns="0" bIns="0" rtlCol="0" anchor="ctr"/>
          <a:lstStyle/>
          <a:p>
            <a:pPr marL="0" indent="0">
              <a:lnSpc>
                <a:spcPct val="100000"/>
              </a:lnSpc>
              <a:buNone/>
            </a:pPr>
            <a:r>
              <a:rPr lang="en-US" sz="1600" i="1" dirty="0">
                <a:solidFill>
                  <a:srgbClr val="F2A65A"/>
                </a:solidFill>
                <a:latin typeface="Calibri" pitchFamily="34" charset="0"/>
                <a:ea typeface="Calibri" pitchFamily="34" charset="-122"/>
                <a:cs typeface="Calibri" pitchFamily="34" charset="-120"/>
              </a:rPr>
              <a:t>Repeat for each A</a:t>
            </a:r>
            <a:r>
              <a:rPr lang="en-US" sz="1600" i="1" baseline="-25000" dirty="0">
                <a:solidFill>
                  <a:srgbClr val="F2A65A"/>
                </a:solidFill>
                <a:latin typeface="Calibri" pitchFamily="34" charset="0"/>
                <a:ea typeface="Calibri" pitchFamily="34" charset="-122"/>
                <a:cs typeface="Calibri" pitchFamily="34" charset="-120"/>
              </a:rPr>
              <a:t>i</a:t>
            </a:r>
          </a:p>
          <a:p>
            <a:pPr marL="0" indent="0">
              <a:lnSpc>
                <a:spcPct val="100000"/>
              </a:lnSpc>
              <a:buNone/>
            </a:pPr>
            <a:endParaRPr lang="en-US" sz="1600" baseline="-25000" dirty="0"/>
          </a:p>
        </p:txBody>
      </p:sp>
      <p:sp>
        <p:nvSpPr>
          <p:cNvPr id="70" name="Shape 35">
            <a:extLst>
              <a:ext uri="{FF2B5EF4-FFF2-40B4-BE49-F238E27FC236}">
                <a16:creationId xmlns:a16="http://schemas.microsoft.com/office/drawing/2014/main" id="{ABE1E68F-3258-35B4-8850-41CB320ED4F4}"/>
              </a:ext>
            </a:extLst>
          </p:cNvPr>
          <p:cNvSpPr/>
          <p:nvPr/>
        </p:nvSpPr>
        <p:spPr>
          <a:xfrm>
            <a:off x="8469281" y="5681508"/>
            <a:ext cx="2145506" cy="457200"/>
          </a:xfrm>
          <a:prstGeom prst="roundRect">
            <a:avLst>
              <a:gd name="adj" fmla="val 16000"/>
            </a:avLst>
          </a:prstGeom>
          <a:solidFill>
            <a:srgbClr val="1E2761"/>
          </a:solidFill>
          <a:ln/>
        </p:spPr>
        <p:txBody>
          <a:bodyPr anchor="ctr"/>
          <a:lstStyle/>
          <a:p>
            <a:pPr algn="ctr"/>
            <a:r>
              <a:rPr lang="en-IT" sz="1400" b="1" dirty="0">
                <a:solidFill>
                  <a:srgbClr val="FFFFFF"/>
                </a:solidFill>
                <a:latin typeface="Calibri" pitchFamily="34" charset="0"/>
                <a:cs typeface="Calibri" pitchFamily="34" charset="-120"/>
              </a:rPr>
              <a:t>Final configuration</a:t>
            </a:r>
          </a:p>
        </p:txBody>
      </p:sp>
      <p:sp>
        <p:nvSpPr>
          <p:cNvPr id="15" name="Shape 20">
            <a:extLst>
              <a:ext uri="{FF2B5EF4-FFF2-40B4-BE49-F238E27FC236}">
                <a16:creationId xmlns:a16="http://schemas.microsoft.com/office/drawing/2014/main" id="{3BC46EB4-4D8F-05E5-7C1C-2DDE0E3665E4}"/>
              </a:ext>
            </a:extLst>
          </p:cNvPr>
          <p:cNvSpPr/>
          <p:nvPr/>
        </p:nvSpPr>
        <p:spPr>
          <a:xfrm>
            <a:off x="6978831" y="1334033"/>
            <a:ext cx="1317987" cy="606496"/>
          </a:xfrm>
          <a:prstGeom prst="roundRect">
            <a:avLst>
              <a:gd name="adj" fmla="val 16000"/>
            </a:avLst>
          </a:prstGeom>
          <a:solidFill>
            <a:srgbClr val="F2F5FC"/>
          </a:solidFill>
          <a:ln w="12700">
            <a:solidFill>
              <a:srgbClr val="CADCFC"/>
            </a:solidFill>
            <a:prstDash val="solid"/>
          </a:ln>
        </p:spPr>
        <p:txBody>
          <a:bodyPr anchor="ctr"/>
          <a:lstStyle/>
          <a:p>
            <a:pPr algn="ctr"/>
            <a:r>
              <a:rPr lang="en-IT" b="1" dirty="0">
                <a:latin typeface="Calibri" pitchFamily="34" charset="0"/>
                <a:cs typeface="Calibri" pitchFamily="34" charset="-120"/>
              </a:rPr>
              <a:t>P</a:t>
            </a:r>
            <a:r>
              <a:rPr lang="en-IT" b="1" baseline="-25000" dirty="0">
                <a:latin typeface="Calibri" pitchFamily="34" charset="0"/>
                <a:cs typeface="Calibri" pitchFamily="34" charset="-120"/>
              </a:rPr>
              <a:t>0</a:t>
            </a:r>
            <a:endParaRPr lang="en-IT" dirty="0"/>
          </a:p>
        </p:txBody>
      </p:sp>
      <p:sp>
        <p:nvSpPr>
          <p:cNvPr id="16" name="Shape 28">
            <a:extLst>
              <a:ext uri="{FF2B5EF4-FFF2-40B4-BE49-F238E27FC236}">
                <a16:creationId xmlns:a16="http://schemas.microsoft.com/office/drawing/2014/main" id="{D96D8921-33C2-F7CC-EB19-6244EFF7D2EC}"/>
              </a:ext>
            </a:extLst>
          </p:cNvPr>
          <p:cNvSpPr/>
          <p:nvPr/>
        </p:nvSpPr>
        <p:spPr>
          <a:xfrm>
            <a:off x="7599228" y="3499080"/>
            <a:ext cx="1252230" cy="414342"/>
          </a:xfrm>
          <a:prstGeom prst="roundRect">
            <a:avLst>
              <a:gd name="adj" fmla="val 11111"/>
            </a:avLst>
          </a:prstGeom>
          <a:solidFill>
            <a:srgbClr val="1E2761"/>
          </a:solidFill>
          <a:ln/>
        </p:spPr>
        <p:txBody>
          <a:bodyPr anchor="ctr"/>
          <a:lstStyle/>
          <a:p>
            <a:pPr algn="ctr"/>
            <a:r>
              <a:rPr lang="en-IT" sz="1600" b="1" dirty="0">
                <a:solidFill>
                  <a:srgbClr val="FFFFFF"/>
                </a:solidFill>
                <a:latin typeface="Calibri" pitchFamily="34" charset="0"/>
                <a:cs typeface="Calibri" pitchFamily="34" charset="-120"/>
              </a:rPr>
              <a:t>Solver</a:t>
            </a:r>
          </a:p>
        </p:txBody>
      </p:sp>
      <p:cxnSp>
        <p:nvCxnSpPr>
          <p:cNvPr id="23" name="Elbow Connector 22">
            <a:extLst>
              <a:ext uri="{FF2B5EF4-FFF2-40B4-BE49-F238E27FC236}">
                <a16:creationId xmlns:a16="http://schemas.microsoft.com/office/drawing/2014/main" id="{4474F170-2607-FB60-ADAA-C47E904995A4}"/>
              </a:ext>
            </a:extLst>
          </p:cNvPr>
          <p:cNvCxnSpPr>
            <a:cxnSpLocks/>
          </p:cNvCxnSpPr>
          <p:nvPr/>
        </p:nvCxnSpPr>
        <p:spPr>
          <a:xfrm rot="16200000" flipH="1">
            <a:off x="7190684" y="2217958"/>
            <a:ext cx="874541" cy="339578"/>
          </a:xfrm>
          <a:prstGeom prst="bentConnector3">
            <a:avLst>
              <a:gd name="adj1" fmla="val 4385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Elbow Connector 24">
            <a:extLst>
              <a:ext uri="{FF2B5EF4-FFF2-40B4-BE49-F238E27FC236}">
                <a16:creationId xmlns:a16="http://schemas.microsoft.com/office/drawing/2014/main" id="{C2CBC2B5-D028-B03E-A903-D7C425FB3B68}"/>
              </a:ext>
            </a:extLst>
          </p:cNvPr>
          <p:cNvCxnSpPr>
            <a:cxnSpLocks/>
            <a:stCxn id="55" idx="2"/>
          </p:cNvCxnSpPr>
          <p:nvPr/>
        </p:nvCxnSpPr>
        <p:spPr>
          <a:xfrm rot="5400000">
            <a:off x="8050044" y="1864605"/>
            <a:ext cx="953691" cy="949908"/>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Elbow Connector 26">
            <a:extLst>
              <a:ext uri="{FF2B5EF4-FFF2-40B4-BE49-F238E27FC236}">
                <a16:creationId xmlns:a16="http://schemas.microsoft.com/office/drawing/2014/main" id="{112C6003-DC79-AA21-1DBB-316D1BDDDB92}"/>
              </a:ext>
            </a:extLst>
          </p:cNvPr>
          <p:cNvCxnSpPr>
            <a:cxnSpLocks/>
          </p:cNvCxnSpPr>
          <p:nvPr/>
        </p:nvCxnSpPr>
        <p:spPr>
          <a:xfrm rot="5400000">
            <a:off x="8242703" y="2212257"/>
            <a:ext cx="1641737" cy="956926"/>
          </a:xfrm>
          <a:prstGeom prst="bentConnector3">
            <a:avLst>
              <a:gd name="adj1" fmla="val 3689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Elbow Connector 32">
            <a:extLst>
              <a:ext uri="{FF2B5EF4-FFF2-40B4-BE49-F238E27FC236}">
                <a16:creationId xmlns:a16="http://schemas.microsoft.com/office/drawing/2014/main" id="{D01C1EC2-0030-A0DB-BE48-6E123BE6A269}"/>
              </a:ext>
            </a:extLst>
          </p:cNvPr>
          <p:cNvCxnSpPr>
            <a:cxnSpLocks/>
            <a:stCxn id="63" idx="2"/>
            <a:endCxn id="16" idx="0"/>
          </p:cNvCxnSpPr>
          <p:nvPr/>
        </p:nvCxnSpPr>
        <p:spPr>
          <a:xfrm rot="16200000" flipH="1">
            <a:off x="7864274" y="3138011"/>
            <a:ext cx="236176" cy="48596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73" name="Shape 20">
            <a:extLst>
              <a:ext uri="{FF2B5EF4-FFF2-40B4-BE49-F238E27FC236}">
                <a16:creationId xmlns:a16="http://schemas.microsoft.com/office/drawing/2014/main" id="{FBE0AB1F-192A-010F-1784-FAF2609A7E92}"/>
              </a:ext>
            </a:extLst>
          </p:cNvPr>
          <p:cNvSpPr/>
          <p:nvPr/>
        </p:nvSpPr>
        <p:spPr>
          <a:xfrm>
            <a:off x="9313036" y="1402979"/>
            <a:ext cx="446686" cy="459735"/>
          </a:xfrm>
          <a:prstGeom prst="roundRect">
            <a:avLst>
              <a:gd name="adj" fmla="val 16000"/>
            </a:avLst>
          </a:prstGeom>
          <a:solidFill>
            <a:srgbClr val="F2F5FC"/>
          </a:solidFill>
          <a:ln w="12700">
            <a:solidFill>
              <a:srgbClr val="CADCFC"/>
            </a:solidFill>
            <a:prstDash val="solid"/>
          </a:ln>
        </p:spPr>
        <p:txBody>
          <a:bodyPr anchor="ctr"/>
          <a:lstStyle/>
          <a:p>
            <a:pPr algn="ctr"/>
            <a:r>
              <a:rPr lang="en-IT" sz="1600" b="1" dirty="0">
                <a:latin typeface="Calibri" pitchFamily="34" charset="0"/>
                <a:cs typeface="Calibri" pitchFamily="34" charset="-120"/>
              </a:rPr>
              <a:t>A</a:t>
            </a:r>
            <a:r>
              <a:rPr lang="en-IT" sz="1600" b="1" baseline="-25000" dirty="0">
                <a:latin typeface="Calibri" pitchFamily="34" charset="0"/>
                <a:cs typeface="Calibri" pitchFamily="34" charset="-120"/>
              </a:rPr>
              <a:t>2</a:t>
            </a:r>
            <a:endParaRPr lang="en-IT" sz="1250" b="1" baseline="-25000" dirty="0">
              <a:latin typeface="Calibri" pitchFamily="34" charset="0"/>
              <a:cs typeface="Calibri" pitchFamily="34" charset="-120"/>
            </a:endParaRPr>
          </a:p>
        </p:txBody>
      </p:sp>
      <p:sp>
        <p:nvSpPr>
          <p:cNvPr id="74" name="Shape 20">
            <a:extLst>
              <a:ext uri="{FF2B5EF4-FFF2-40B4-BE49-F238E27FC236}">
                <a16:creationId xmlns:a16="http://schemas.microsoft.com/office/drawing/2014/main" id="{0948380C-ECA8-AD08-A0E8-5668A7BE06B3}"/>
              </a:ext>
            </a:extLst>
          </p:cNvPr>
          <p:cNvSpPr/>
          <p:nvPr/>
        </p:nvSpPr>
        <p:spPr>
          <a:xfrm>
            <a:off x="9864379" y="1402979"/>
            <a:ext cx="446686" cy="459735"/>
          </a:xfrm>
          <a:prstGeom prst="roundRect">
            <a:avLst>
              <a:gd name="adj" fmla="val 16000"/>
            </a:avLst>
          </a:prstGeom>
          <a:solidFill>
            <a:srgbClr val="F2F5FC"/>
          </a:solidFill>
          <a:ln w="12700">
            <a:solidFill>
              <a:srgbClr val="CADCFC"/>
            </a:solidFill>
            <a:prstDash val="solid"/>
          </a:ln>
        </p:spPr>
        <p:txBody>
          <a:bodyPr anchor="ctr"/>
          <a:lstStyle/>
          <a:p>
            <a:pPr algn="ctr"/>
            <a:r>
              <a:rPr lang="en-IT" sz="1600" b="1" dirty="0">
                <a:latin typeface="Calibri" pitchFamily="34" charset="0"/>
                <a:cs typeface="Calibri" pitchFamily="34" charset="-120"/>
              </a:rPr>
              <a:t>A</a:t>
            </a:r>
            <a:r>
              <a:rPr lang="en-IT" sz="1600" b="1" baseline="-25000" dirty="0">
                <a:latin typeface="Calibri" pitchFamily="34" charset="0"/>
                <a:cs typeface="Calibri" pitchFamily="34" charset="-120"/>
              </a:rPr>
              <a:t>1</a:t>
            </a:r>
            <a:endParaRPr lang="en-IT" sz="1250" b="1" baseline="-25000" dirty="0">
              <a:latin typeface="Calibri" pitchFamily="34" charset="0"/>
              <a:cs typeface="Calibri" pitchFamily="34" charset="-120"/>
            </a:endParaRPr>
          </a:p>
        </p:txBody>
      </p:sp>
      <p:sp>
        <p:nvSpPr>
          <p:cNvPr id="75" name="Shape 20">
            <a:extLst>
              <a:ext uri="{FF2B5EF4-FFF2-40B4-BE49-F238E27FC236}">
                <a16:creationId xmlns:a16="http://schemas.microsoft.com/office/drawing/2014/main" id="{83CF0EC3-580E-F7E4-4B13-C9C46689F5F1}"/>
              </a:ext>
            </a:extLst>
          </p:cNvPr>
          <p:cNvSpPr/>
          <p:nvPr/>
        </p:nvSpPr>
        <p:spPr>
          <a:xfrm>
            <a:off x="10789772" y="1412653"/>
            <a:ext cx="446686" cy="459735"/>
          </a:xfrm>
          <a:prstGeom prst="roundRect">
            <a:avLst>
              <a:gd name="adj" fmla="val 16000"/>
            </a:avLst>
          </a:prstGeom>
          <a:solidFill>
            <a:srgbClr val="F2F5FC"/>
          </a:solidFill>
          <a:ln w="12700">
            <a:solidFill>
              <a:srgbClr val="CADCFC"/>
            </a:solidFill>
            <a:prstDash val="solid"/>
          </a:ln>
        </p:spPr>
        <p:txBody>
          <a:bodyPr anchor="ctr"/>
          <a:lstStyle/>
          <a:p>
            <a:pPr algn="ctr"/>
            <a:r>
              <a:rPr lang="en-IT" sz="1600" b="1" dirty="0">
                <a:latin typeface="Calibri" pitchFamily="34" charset="0"/>
                <a:cs typeface="Calibri" pitchFamily="34" charset="-120"/>
              </a:rPr>
              <a:t>A</a:t>
            </a:r>
            <a:r>
              <a:rPr lang="en-IT" sz="1600" b="1" baseline="-25000" dirty="0">
                <a:latin typeface="Calibri" pitchFamily="34" charset="0"/>
                <a:cs typeface="Calibri" pitchFamily="34" charset="-120"/>
              </a:rPr>
              <a:t>N</a:t>
            </a:r>
            <a:endParaRPr lang="en-IT" sz="1250" b="1" baseline="-25000" dirty="0">
              <a:latin typeface="Calibri" pitchFamily="34" charset="0"/>
              <a:cs typeface="Calibri" pitchFamily="34" charset="-120"/>
            </a:endParaRPr>
          </a:p>
        </p:txBody>
      </p:sp>
      <p:sp>
        <p:nvSpPr>
          <p:cNvPr id="78" name="Text 33">
            <a:extLst>
              <a:ext uri="{FF2B5EF4-FFF2-40B4-BE49-F238E27FC236}">
                <a16:creationId xmlns:a16="http://schemas.microsoft.com/office/drawing/2014/main" id="{04AA4DF7-99C2-5DE4-BB8D-DD3C30CBDF9F}"/>
              </a:ext>
            </a:extLst>
          </p:cNvPr>
          <p:cNvSpPr txBox="1"/>
          <p:nvPr/>
        </p:nvSpPr>
        <p:spPr>
          <a:xfrm>
            <a:off x="9790183" y="1098748"/>
            <a:ext cx="1526929" cy="219456"/>
          </a:xfrm>
          <a:prstGeom prst="rect">
            <a:avLst/>
          </a:prstGeom>
          <a:noFill/>
          <a:ln/>
        </p:spPr>
        <p:txBody>
          <a:bodyPr wrap="square" lIns="0" tIns="0" rIns="0" bIns="0" rtlCol="0" anchor="ctr"/>
          <a:lstStyle/>
          <a:p>
            <a:pPr marL="0" indent="0" algn="r">
              <a:buNone/>
            </a:pPr>
            <a:r>
              <a:rPr lang="en-US" sz="1200" i="1" dirty="0">
                <a:solidFill>
                  <a:srgbClr val="5A6482"/>
                </a:solidFill>
                <a:latin typeface="Calibri" pitchFamily="34" charset="0"/>
                <a:ea typeface="Calibri" pitchFamily="34" charset="-122"/>
                <a:cs typeface="Calibri" pitchFamily="34" charset="-120"/>
              </a:rPr>
              <a:t>Additional Requirements</a:t>
            </a:r>
            <a:endParaRPr lang="en-US" sz="1200" dirty="0"/>
          </a:p>
        </p:txBody>
      </p:sp>
      <p:sp>
        <p:nvSpPr>
          <p:cNvPr id="79" name="Text 33">
            <a:extLst>
              <a:ext uri="{FF2B5EF4-FFF2-40B4-BE49-F238E27FC236}">
                <a16:creationId xmlns:a16="http://schemas.microsoft.com/office/drawing/2014/main" id="{DDB7FCF1-2044-B932-DF74-E35B1F62C1B5}"/>
              </a:ext>
            </a:extLst>
          </p:cNvPr>
          <p:cNvSpPr txBox="1"/>
          <p:nvPr/>
        </p:nvSpPr>
        <p:spPr>
          <a:xfrm>
            <a:off x="6998113" y="1087607"/>
            <a:ext cx="1238019" cy="219456"/>
          </a:xfrm>
          <a:prstGeom prst="rect">
            <a:avLst/>
          </a:prstGeom>
          <a:noFill/>
          <a:ln/>
        </p:spPr>
        <p:txBody>
          <a:bodyPr wrap="square" lIns="0" tIns="0" rIns="0" bIns="0" rtlCol="0" anchor="ctr"/>
          <a:lstStyle/>
          <a:p>
            <a:pPr marL="0" indent="0">
              <a:buNone/>
            </a:pPr>
            <a:r>
              <a:rPr lang="en-US" sz="1200" i="1" dirty="0">
                <a:solidFill>
                  <a:srgbClr val="5A6482"/>
                </a:solidFill>
                <a:latin typeface="Calibri" pitchFamily="34" charset="0"/>
                <a:ea typeface="Calibri" pitchFamily="34" charset="-122"/>
                <a:cs typeface="Calibri" pitchFamily="34" charset="-120"/>
              </a:rPr>
              <a:t>Initial Requirements</a:t>
            </a:r>
            <a:endParaRPr lang="en-US" sz="1200" dirty="0"/>
          </a:p>
        </p:txBody>
      </p:sp>
      <p:sp>
        <p:nvSpPr>
          <p:cNvPr id="83" name="Shape 28">
            <a:extLst>
              <a:ext uri="{FF2B5EF4-FFF2-40B4-BE49-F238E27FC236}">
                <a16:creationId xmlns:a16="http://schemas.microsoft.com/office/drawing/2014/main" id="{5202A0EC-41FE-E451-0F50-25FEDAD340AB}"/>
              </a:ext>
            </a:extLst>
          </p:cNvPr>
          <p:cNvSpPr/>
          <p:nvPr/>
        </p:nvSpPr>
        <p:spPr>
          <a:xfrm>
            <a:off x="8814790" y="4564430"/>
            <a:ext cx="1252230" cy="414342"/>
          </a:xfrm>
          <a:prstGeom prst="roundRect">
            <a:avLst>
              <a:gd name="adj" fmla="val 11111"/>
            </a:avLst>
          </a:prstGeom>
          <a:solidFill>
            <a:srgbClr val="1E2761"/>
          </a:solidFill>
          <a:ln/>
        </p:spPr>
        <p:txBody>
          <a:bodyPr anchor="ctr"/>
          <a:lstStyle/>
          <a:p>
            <a:pPr algn="ctr"/>
            <a:r>
              <a:rPr lang="en-IT" sz="1600" b="1" dirty="0">
                <a:solidFill>
                  <a:srgbClr val="FFFFFF"/>
                </a:solidFill>
                <a:latin typeface="Calibri" pitchFamily="34" charset="0"/>
                <a:cs typeface="Calibri" pitchFamily="34" charset="-120"/>
              </a:rPr>
              <a:t>Solver</a:t>
            </a:r>
          </a:p>
        </p:txBody>
      </p:sp>
      <p:cxnSp>
        <p:nvCxnSpPr>
          <p:cNvPr id="85" name="Elbow Connector 84">
            <a:extLst>
              <a:ext uri="{FF2B5EF4-FFF2-40B4-BE49-F238E27FC236}">
                <a16:creationId xmlns:a16="http://schemas.microsoft.com/office/drawing/2014/main" id="{5BBEDB2C-15EB-EFD5-4A54-2FC6B75728A6}"/>
              </a:ext>
            </a:extLst>
          </p:cNvPr>
          <p:cNvCxnSpPr>
            <a:cxnSpLocks/>
            <a:stCxn id="75" idx="2"/>
          </p:cNvCxnSpPr>
          <p:nvPr/>
        </p:nvCxnSpPr>
        <p:spPr>
          <a:xfrm rot="5400000">
            <a:off x="8979948" y="2531263"/>
            <a:ext cx="2692042" cy="1374293"/>
          </a:xfrm>
          <a:prstGeom prst="bentConnector3">
            <a:avLst>
              <a:gd name="adj1" fmla="val 4334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710AE6BA-0F82-C5D7-C9E4-12C124BAC79B}"/>
              </a:ext>
            </a:extLst>
          </p:cNvPr>
          <p:cNvCxnSpPr>
            <a:cxnSpLocks/>
          </p:cNvCxnSpPr>
          <p:nvPr/>
        </p:nvCxnSpPr>
        <p:spPr>
          <a:xfrm>
            <a:off x="9338638" y="4174904"/>
            <a:ext cx="0" cy="3895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EC95E091-86B0-2AE1-AC4D-8AA5B17C3E3E}"/>
              </a:ext>
            </a:extLst>
          </p:cNvPr>
          <p:cNvCxnSpPr>
            <a:cxnSpLocks/>
            <a:endCxn id="70" idx="0"/>
          </p:cNvCxnSpPr>
          <p:nvPr/>
        </p:nvCxnSpPr>
        <p:spPr>
          <a:xfrm>
            <a:off x="9542034" y="4988281"/>
            <a:ext cx="0" cy="6932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2" name="Text 24">
            <a:extLst>
              <a:ext uri="{FF2B5EF4-FFF2-40B4-BE49-F238E27FC236}">
                <a16:creationId xmlns:a16="http://schemas.microsoft.com/office/drawing/2014/main" id="{40C5921F-917D-8F7E-20F5-508F6C131E95}"/>
              </a:ext>
            </a:extLst>
          </p:cNvPr>
          <p:cNvSpPr txBox="1"/>
          <p:nvPr/>
        </p:nvSpPr>
        <p:spPr>
          <a:xfrm>
            <a:off x="6641409" y="514173"/>
            <a:ext cx="1655409" cy="320040"/>
          </a:xfrm>
          <a:prstGeom prst="rect">
            <a:avLst/>
          </a:prstGeom>
          <a:noFill/>
          <a:ln/>
        </p:spPr>
        <p:txBody>
          <a:bodyPr wrap="square" lIns="0" tIns="0" rIns="0" bIns="0" rtlCol="0" anchor="ctr"/>
          <a:lstStyle/>
          <a:p>
            <a:pPr marL="0" indent="0">
              <a:buNone/>
            </a:pPr>
            <a:r>
              <a:rPr lang="en-US" sz="1400" b="1" dirty="0" err="1">
                <a:solidFill>
                  <a:srgbClr val="F2A65A"/>
                </a:solidFill>
                <a:latin typeface="Calibri" pitchFamily="34" charset="0"/>
                <a:ea typeface="Calibri" pitchFamily="34" charset="-122"/>
                <a:cs typeface="Calibri" pitchFamily="34" charset="-120"/>
              </a:rPr>
              <a:t>VerefooSerializer</a:t>
            </a:r>
            <a:endParaRPr lang="en-US" sz="1250" dirty="0"/>
          </a:p>
        </p:txBody>
      </p:sp>
      <p:sp>
        <p:nvSpPr>
          <p:cNvPr id="115" name="TextBox 114">
            <a:extLst>
              <a:ext uri="{FF2B5EF4-FFF2-40B4-BE49-F238E27FC236}">
                <a16:creationId xmlns:a16="http://schemas.microsoft.com/office/drawing/2014/main" id="{5BDF0BB9-5BF9-B56A-5E69-284CA7195CB7}"/>
              </a:ext>
            </a:extLst>
          </p:cNvPr>
          <p:cNvSpPr txBox="1"/>
          <p:nvPr/>
        </p:nvSpPr>
        <p:spPr>
          <a:xfrm>
            <a:off x="10415722" y="1404437"/>
            <a:ext cx="331292" cy="369332"/>
          </a:xfrm>
          <a:prstGeom prst="rect">
            <a:avLst/>
          </a:prstGeom>
          <a:noFill/>
        </p:spPr>
        <p:txBody>
          <a:bodyPr wrap="square">
            <a:spAutoFit/>
          </a:bodyPr>
          <a:lstStyle/>
          <a:p>
            <a:r>
              <a:rPr lang="en-US" sz="1800" dirty="0">
                <a:solidFill>
                  <a:srgbClr val="5A6482"/>
                </a:solidFill>
                <a:latin typeface="Calibri" pitchFamily="34" charset="0"/>
                <a:ea typeface="Calibri" pitchFamily="34" charset="-122"/>
                <a:cs typeface="Calibri" pitchFamily="34" charset="-120"/>
              </a:rPr>
              <a:t>…</a:t>
            </a:r>
            <a:endParaRPr lang="en-IT" dirty="0"/>
          </a:p>
        </p:txBody>
      </p:sp>
      <p:sp>
        <p:nvSpPr>
          <p:cNvPr id="116" name="TextBox 115">
            <a:extLst>
              <a:ext uri="{FF2B5EF4-FFF2-40B4-BE49-F238E27FC236}">
                <a16:creationId xmlns:a16="http://schemas.microsoft.com/office/drawing/2014/main" id="{7218DAF3-4F1D-C317-051A-768981BCD6F5}"/>
              </a:ext>
            </a:extLst>
          </p:cNvPr>
          <p:cNvSpPr txBox="1"/>
          <p:nvPr/>
        </p:nvSpPr>
        <p:spPr>
          <a:xfrm>
            <a:off x="8790375" y="3908391"/>
            <a:ext cx="331292" cy="369332"/>
          </a:xfrm>
          <a:prstGeom prst="rect">
            <a:avLst/>
          </a:prstGeom>
          <a:noFill/>
        </p:spPr>
        <p:txBody>
          <a:bodyPr wrap="square" anchor="t">
            <a:spAutoFit/>
          </a:bodyPr>
          <a:lstStyle/>
          <a:p>
            <a:r>
              <a:rPr lang="en-US" sz="1800" dirty="0">
                <a:solidFill>
                  <a:srgbClr val="5A6482"/>
                </a:solidFill>
                <a:latin typeface="Calibri" pitchFamily="34" charset="0"/>
                <a:ea typeface="Calibri" pitchFamily="34" charset="-122"/>
                <a:cs typeface="Calibri" pitchFamily="34" charset="-120"/>
              </a:rPr>
              <a:t>…</a:t>
            </a:r>
            <a:endParaRPr lang="en-IT" dirty="0"/>
          </a:p>
        </p:txBody>
      </p:sp>
    </p:spTree>
    <p:extLst>
      <p:ext uri="{BB962C8B-B14F-4D97-AF65-F5344CB8AC3E}">
        <p14:creationId xmlns:p14="http://schemas.microsoft.com/office/powerpoint/2010/main" val="4236360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4677451" cy="82296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Qualitative validation</a:t>
            </a:r>
            <a:endParaRPr lang="en-US" sz="3400" dirty="0"/>
          </a:p>
        </p:txBody>
      </p:sp>
      <p:sp>
        <p:nvSpPr>
          <p:cNvPr id="3" name="Text 1"/>
          <p:cNvSpPr txBox="1"/>
          <p:nvPr/>
        </p:nvSpPr>
        <p:spPr>
          <a:xfrm>
            <a:off x="753407" y="1750767"/>
            <a:ext cx="4324149" cy="1678233"/>
          </a:xfrm>
          <a:prstGeom prst="rect">
            <a:avLst/>
          </a:prstGeom>
          <a:noFill/>
          <a:ln/>
        </p:spPr>
        <p:txBody>
          <a:bodyPr wrap="square" lIns="0" tIns="0" rIns="0" bIns="0" rtlCol="0" anchor="t"/>
          <a:lstStyle/>
          <a:p>
            <a:pPr marL="342900" indent="-342900">
              <a:spcAft>
                <a:spcPts val="800"/>
              </a:spcAft>
              <a:buSzPct val="100000"/>
              <a:buFont typeface="Arial" panose="020B0604020202020204" pitchFamily="34" charset="0"/>
              <a:buChar char="•"/>
            </a:pPr>
            <a:r>
              <a:rPr lang="en-US" sz="2000" dirty="0">
                <a:solidFill>
                  <a:srgbClr val="232A4D"/>
                </a:solidFill>
                <a:latin typeface="Calibri" pitchFamily="34" charset="0"/>
                <a:ea typeface="Calibri" pitchFamily="34" charset="-122"/>
                <a:cs typeface="Calibri" pitchFamily="34" charset="-120"/>
              </a:rPr>
              <a:t>CESNET: 23 nodes, 28 links</a:t>
            </a:r>
            <a:endParaRPr lang="en-US" sz="2000" dirty="0"/>
          </a:p>
          <a:p>
            <a:pPr marL="342900" indent="-342900">
              <a:spcAft>
                <a:spcPts val="800"/>
              </a:spcAft>
              <a:buSzPct val="100000"/>
              <a:buFont typeface="Arial" panose="020B0604020202020204" pitchFamily="34" charset="0"/>
              <a:buChar char="•"/>
            </a:pPr>
            <a:r>
              <a:rPr lang="en-US" sz="2000" dirty="0">
                <a:solidFill>
                  <a:srgbClr val="232A4D"/>
                </a:solidFill>
                <a:latin typeface="Calibri" pitchFamily="34" charset="0"/>
                <a:ea typeface="Calibri" pitchFamily="34" charset="-122"/>
                <a:cs typeface="Calibri" pitchFamily="34" charset="-120"/>
              </a:rPr>
              <a:t>P</a:t>
            </a:r>
            <a:r>
              <a:rPr lang="en-US" sz="2000" baseline="-25000" dirty="0">
                <a:solidFill>
                  <a:srgbClr val="232A4D"/>
                </a:solidFill>
                <a:latin typeface="Calibri" pitchFamily="34" charset="0"/>
                <a:ea typeface="Calibri" pitchFamily="34" charset="-122"/>
                <a:cs typeface="Calibri" pitchFamily="34" charset="-120"/>
              </a:rPr>
              <a:t>0</a:t>
            </a:r>
            <a:r>
              <a:rPr lang="en-US" sz="2000" dirty="0">
                <a:solidFill>
                  <a:srgbClr val="232A4D"/>
                </a:solidFill>
                <a:latin typeface="Calibri" pitchFamily="34" charset="0"/>
                <a:ea typeface="Calibri" pitchFamily="34" charset="-122"/>
                <a:cs typeface="Calibri" pitchFamily="34" charset="-120"/>
              </a:rPr>
              <a:t>: 10 NSRs </a:t>
            </a:r>
            <a:r>
              <a:rPr lang="en-IT" sz="2000" dirty="0">
                <a:solidFill>
                  <a:srgbClr val="232A4D"/>
                </a:solidFill>
                <a:latin typeface="Calibri" pitchFamily="34" charset="0"/>
                <a:cs typeface="Calibri" pitchFamily="34" charset="-120"/>
              </a:rPr>
              <a:t>— </a:t>
            </a:r>
            <a:r>
              <a:rPr lang="en-US" sz="2000" dirty="0">
                <a:solidFill>
                  <a:srgbClr val="232A4D"/>
                </a:solidFill>
                <a:latin typeface="Calibri" pitchFamily="34" charset="0"/>
                <a:ea typeface="Calibri" pitchFamily="34" charset="-122"/>
                <a:cs typeface="Calibri" pitchFamily="34" charset="-120"/>
              </a:rPr>
              <a:t>enforced by 3 firewalls</a:t>
            </a:r>
            <a:endParaRPr lang="en-US" sz="2000" dirty="0"/>
          </a:p>
          <a:p>
            <a:pPr marL="342900" indent="-342900">
              <a:spcAft>
                <a:spcPts val="800"/>
              </a:spcAft>
              <a:buSzPct val="100000"/>
              <a:buFont typeface="Arial" panose="020B0604020202020204" pitchFamily="34" charset="0"/>
              <a:buChar char="•"/>
            </a:pPr>
            <a:r>
              <a:rPr lang="en-US" sz="2000" dirty="0">
                <a:solidFill>
                  <a:srgbClr val="232A4D"/>
                </a:solidFill>
                <a:latin typeface="Calibri" pitchFamily="34" charset="0"/>
                <a:ea typeface="Calibri" pitchFamily="34" charset="-122"/>
                <a:cs typeface="Calibri" pitchFamily="34" charset="-120"/>
              </a:rPr>
              <a:t>5 additional NSRs introduced </a:t>
            </a:r>
            <a:r>
              <a:rPr lang="en-US" sz="2000" i="1" dirty="0">
                <a:solidFill>
                  <a:srgbClr val="232A4D"/>
                </a:solidFill>
                <a:latin typeface="Calibri" pitchFamily="34" charset="0"/>
                <a:ea typeface="Calibri" pitchFamily="34" charset="-122"/>
                <a:cs typeface="Calibri" pitchFamily="34" charset="-120"/>
              </a:rPr>
              <a:t>iteratively</a:t>
            </a:r>
            <a:endParaRPr lang="en-US" sz="2000" i="1" dirty="0"/>
          </a:p>
        </p:txBody>
      </p:sp>
      <p:sp>
        <p:nvSpPr>
          <p:cNvPr id="10" name="Text 5"/>
          <p:cNvSpPr txBox="1"/>
          <p:nvPr/>
        </p:nvSpPr>
        <p:spPr>
          <a:xfrm>
            <a:off x="11365992" y="6355080"/>
            <a:ext cx="457200" cy="320040"/>
          </a:xfrm>
          <a:prstGeom prst="rect">
            <a:avLst/>
          </a:prstGeom>
          <a:noFill/>
          <a:ln/>
        </p:spPr>
        <p:txBody>
          <a:bodyPr wrap="square" lIns="0" tIns="0" rIns="0" bIns="0" rtlCol="0" anchor="ctr"/>
          <a:lstStyle/>
          <a:p>
            <a:pPr marL="0" indent="0" algn="r">
              <a:buNone/>
            </a:pPr>
            <a:r>
              <a:rPr lang="en-US" sz="1100" dirty="0">
                <a:solidFill>
                  <a:srgbClr val="5A6482"/>
                </a:solidFill>
                <a:latin typeface="Calibri" pitchFamily="34" charset="0"/>
                <a:ea typeface="Calibri" pitchFamily="34" charset="-122"/>
                <a:cs typeface="Calibri" pitchFamily="34" charset="-120"/>
              </a:rPr>
              <a:t>9</a:t>
            </a:r>
            <a:endParaRPr lang="en-US" sz="1100" dirty="0"/>
          </a:p>
        </p:txBody>
      </p:sp>
      <p:pic>
        <p:nvPicPr>
          <p:cNvPr id="8" name="Image 2" descr="imgs/logo.png">
            <a:extLst>
              <a:ext uri="{FF2B5EF4-FFF2-40B4-BE49-F238E27FC236}">
                <a16:creationId xmlns:a16="http://schemas.microsoft.com/office/drawing/2014/main" id="{A464A56C-D4DB-E69F-279D-3E19BACF3D2C}"/>
              </a:ext>
            </a:extLst>
          </p:cNvPr>
          <p:cNvPicPr>
            <a:picLocks noChangeAspect="1"/>
          </p:cNvPicPr>
          <p:nvPr/>
        </p:nvPicPr>
        <p:blipFill>
          <a:blip r:embed="rId3"/>
          <a:stretch>
            <a:fillRect/>
          </a:stretch>
        </p:blipFill>
        <p:spPr>
          <a:xfrm>
            <a:off x="368808" y="6350655"/>
            <a:ext cx="769199" cy="324465"/>
          </a:xfrm>
          <a:prstGeom prst="rect">
            <a:avLst/>
          </a:prstGeom>
        </p:spPr>
      </p:pic>
      <p:pic>
        <p:nvPicPr>
          <p:cNvPr id="12" name="Picture 11">
            <a:extLst>
              <a:ext uri="{FF2B5EF4-FFF2-40B4-BE49-F238E27FC236}">
                <a16:creationId xmlns:a16="http://schemas.microsoft.com/office/drawing/2014/main" id="{564A4EFD-E71B-2316-03E7-CCD6627E8C13}"/>
              </a:ext>
            </a:extLst>
          </p:cNvPr>
          <p:cNvPicPr>
            <a:picLocks noChangeAspect="1"/>
          </p:cNvPicPr>
          <p:nvPr/>
        </p:nvPicPr>
        <p:blipFill>
          <a:blip r:embed="rId4"/>
          <a:srcRect t="9848"/>
          <a:stretch>
            <a:fillRect/>
          </a:stretch>
        </p:blipFill>
        <p:spPr>
          <a:xfrm>
            <a:off x="5226091" y="1234440"/>
            <a:ext cx="6598988" cy="3880808"/>
          </a:xfrm>
          <a:prstGeom prst="rect">
            <a:avLst/>
          </a:prstGeom>
        </p:spPr>
      </p:pic>
      <p:sp>
        <p:nvSpPr>
          <p:cNvPr id="15" name="TextBox 14">
            <a:extLst>
              <a:ext uri="{FF2B5EF4-FFF2-40B4-BE49-F238E27FC236}">
                <a16:creationId xmlns:a16="http://schemas.microsoft.com/office/drawing/2014/main" id="{5367874D-D89F-2D85-F65A-3ADF58C2F8A2}"/>
              </a:ext>
            </a:extLst>
          </p:cNvPr>
          <p:cNvSpPr txBox="1"/>
          <p:nvPr/>
        </p:nvSpPr>
        <p:spPr>
          <a:xfrm>
            <a:off x="904091" y="3670511"/>
            <a:ext cx="1515158" cy="461665"/>
          </a:xfrm>
          <a:prstGeom prst="rect">
            <a:avLst/>
          </a:prstGeom>
          <a:noFill/>
        </p:spPr>
        <p:txBody>
          <a:bodyPr wrap="square">
            <a:spAutoFit/>
          </a:bodyPr>
          <a:lstStyle/>
          <a:p>
            <a:pPr>
              <a:spcAft>
                <a:spcPts val="800"/>
              </a:spcAft>
              <a:buSzPct val="100000"/>
            </a:pPr>
            <a:r>
              <a:rPr lang="en-US" sz="2400" b="1" dirty="0">
                <a:solidFill>
                  <a:srgbClr val="232A4D"/>
                </a:solidFill>
                <a:latin typeface="Calibri" pitchFamily="34" charset="0"/>
                <a:ea typeface="Calibri" pitchFamily="34" charset="-122"/>
                <a:cs typeface="Calibri" pitchFamily="34" charset="-120"/>
              </a:rPr>
              <a:t>Results</a:t>
            </a:r>
            <a:r>
              <a:rPr lang="en-US" sz="2000" b="1" dirty="0">
                <a:solidFill>
                  <a:srgbClr val="232A4D"/>
                </a:solidFill>
                <a:latin typeface="Calibri" pitchFamily="34" charset="0"/>
                <a:ea typeface="Calibri" pitchFamily="34" charset="-122"/>
                <a:cs typeface="Calibri" pitchFamily="34" charset="-120"/>
              </a:rPr>
              <a:t>:</a:t>
            </a:r>
          </a:p>
        </p:txBody>
      </p:sp>
      <p:sp>
        <p:nvSpPr>
          <p:cNvPr id="22" name="Shape 2">
            <a:extLst>
              <a:ext uri="{FF2B5EF4-FFF2-40B4-BE49-F238E27FC236}">
                <a16:creationId xmlns:a16="http://schemas.microsoft.com/office/drawing/2014/main" id="{E8D1D506-D304-F2FC-FAB1-CBEFBBC2A59B}"/>
              </a:ext>
            </a:extLst>
          </p:cNvPr>
          <p:cNvSpPr/>
          <p:nvPr/>
        </p:nvSpPr>
        <p:spPr>
          <a:xfrm>
            <a:off x="2591912" y="4209091"/>
            <a:ext cx="2060480" cy="737745"/>
          </a:xfrm>
          <a:prstGeom prst="roundRect">
            <a:avLst>
              <a:gd name="adj" fmla="val 5000"/>
            </a:avLst>
          </a:prstGeom>
          <a:solidFill>
            <a:srgbClr val="F2F5FC"/>
          </a:solidFill>
          <a:ln/>
        </p:spPr>
        <p:txBody>
          <a:bodyPr/>
          <a:lstStyle/>
          <a:p>
            <a:endParaRPr lang="en-IT"/>
          </a:p>
        </p:txBody>
      </p:sp>
      <p:sp>
        <p:nvSpPr>
          <p:cNvPr id="23" name="Text 4">
            <a:extLst>
              <a:ext uri="{FF2B5EF4-FFF2-40B4-BE49-F238E27FC236}">
                <a16:creationId xmlns:a16="http://schemas.microsoft.com/office/drawing/2014/main" id="{281A80C9-5BE7-0CAD-3BB2-98837B913602}"/>
              </a:ext>
            </a:extLst>
          </p:cNvPr>
          <p:cNvSpPr txBox="1"/>
          <p:nvPr/>
        </p:nvSpPr>
        <p:spPr>
          <a:xfrm>
            <a:off x="2730922" y="4393151"/>
            <a:ext cx="482882" cy="292770"/>
          </a:xfrm>
          <a:prstGeom prst="rect">
            <a:avLst/>
          </a:prstGeom>
          <a:noFill/>
          <a:ln/>
        </p:spPr>
        <p:txBody>
          <a:bodyPr wrap="square" lIns="0" tIns="0" rIns="0" bIns="0" rtlCol="0" anchor="ctr"/>
          <a:lstStyle/>
          <a:p>
            <a:pPr marL="0" indent="0">
              <a:buNone/>
            </a:pPr>
            <a:r>
              <a:rPr lang="en-US" sz="4400" b="1" dirty="0">
                <a:solidFill>
                  <a:schemeClr val="accent2"/>
                </a:solidFill>
                <a:latin typeface="Cambria" pitchFamily="34" charset="0"/>
              </a:rPr>
              <a:t>4</a:t>
            </a:r>
            <a:endParaRPr lang="en-US" sz="6000" dirty="0">
              <a:solidFill>
                <a:schemeClr val="accent2"/>
              </a:solidFill>
            </a:endParaRPr>
          </a:p>
        </p:txBody>
      </p:sp>
      <p:sp>
        <p:nvSpPr>
          <p:cNvPr id="28" name="TextBox 27">
            <a:extLst>
              <a:ext uri="{FF2B5EF4-FFF2-40B4-BE49-F238E27FC236}">
                <a16:creationId xmlns:a16="http://schemas.microsoft.com/office/drawing/2014/main" id="{D1A09E14-25DA-12DF-1232-B61222ECDB45}"/>
              </a:ext>
            </a:extLst>
          </p:cNvPr>
          <p:cNvSpPr txBox="1"/>
          <p:nvPr/>
        </p:nvSpPr>
        <p:spPr>
          <a:xfrm>
            <a:off x="3127708" y="4254797"/>
            <a:ext cx="1515158" cy="646331"/>
          </a:xfrm>
          <a:prstGeom prst="rect">
            <a:avLst/>
          </a:prstGeom>
          <a:noFill/>
        </p:spPr>
        <p:txBody>
          <a:bodyPr wrap="square">
            <a:spAutoFit/>
          </a:bodyPr>
          <a:lstStyle/>
          <a:p>
            <a:r>
              <a:rPr lang="en-US" sz="1800" i="1" dirty="0">
                <a:solidFill>
                  <a:schemeClr val="accent2"/>
                </a:solidFill>
                <a:latin typeface="Calibri" pitchFamily="34" charset="0"/>
                <a:ea typeface="Calibri" pitchFamily="34" charset="-122"/>
                <a:cs typeface="Calibri" pitchFamily="34" charset="-120"/>
              </a:rPr>
              <a:t>Configuration rules</a:t>
            </a:r>
            <a:endParaRPr lang="en-IT" i="1" dirty="0"/>
          </a:p>
        </p:txBody>
      </p:sp>
      <p:sp>
        <p:nvSpPr>
          <p:cNvPr id="30" name="Shape 2">
            <a:extLst>
              <a:ext uri="{FF2B5EF4-FFF2-40B4-BE49-F238E27FC236}">
                <a16:creationId xmlns:a16="http://schemas.microsoft.com/office/drawing/2014/main" id="{94399238-EC27-CEC1-9E9A-7802A1B87978}"/>
              </a:ext>
            </a:extLst>
          </p:cNvPr>
          <p:cNvSpPr/>
          <p:nvPr/>
        </p:nvSpPr>
        <p:spPr>
          <a:xfrm>
            <a:off x="904091" y="4209091"/>
            <a:ext cx="1626965" cy="737745"/>
          </a:xfrm>
          <a:prstGeom prst="roundRect">
            <a:avLst>
              <a:gd name="adj" fmla="val 5000"/>
            </a:avLst>
          </a:prstGeom>
          <a:solidFill>
            <a:srgbClr val="F2F5FC"/>
          </a:solidFill>
          <a:ln/>
        </p:spPr>
        <p:txBody>
          <a:bodyPr/>
          <a:lstStyle/>
          <a:p>
            <a:endParaRPr lang="en-IT"/>
          </a:p>
        </p:txBody>
      </p:sp>
      <p:sp>
        <p:nvSpPr>
          <p:cNvPr id="31" name="Text 4">
            <a:extLst>
              <a:ext uri="{FF2B5EF4-FFF2-40B4-BE49-F238E27FC236}">
                <a16:creationId xmlns:a16="http://schemas.microsoft.com/office/drawing/2014/main" id="{3BF17876-9729-AA4F-F1FD-F0EBBB111D97}"/>
              </a:ext>
            </a:extLst>
          </p:cNvPr>
          <p:cNvSpPr txBox="1"/>
          <p:nvPr/>
        </p:nvSpPr>
        <p:spPr>
          <a:xfrm>
            <a:off x="1052626" y="4393151"/>
            <a:ext cx="482882" cy="292770"/>
          </a:xfrm>
          <a:prstGeom prst="rect">
            <a:avLst/>
          </a:prstGeom>
          <a:noFill/>
          <a:ln/>
        </p:spPr>
        <p:txBody>
          <a:bodyPr wrap="square" lIns="0" tIns="0" rIns="0" bIns="0" rtlCol="0" anchor="ctr"/>
          <a:lstStyle/>
          <a:p>
            <a:pPr marL="0" indent="0">
              <a:buNone/>
            </a:pPr>
            <a:r>
              <a:rPr lang="en-US" sz="4400" b="1" dirty="0">
                <a:solidFill>
                  <a:schemeClr val="accent2"/>
                </a:solidFill>
                <a:latin typeface="Cambria" pitchFamily="34" charset="0"/>
              </a:rPr>
              <a:t>5</a:t>
            </a:r>
            <a:endParaRPr lang="en-US" sz="6000" dirty="0">
              <a:solidFill>
                <a:schemeClr val="accent2"/>
              </a:solidFill>
            </a:endParaRPr>
          </a:p>
        </p:txBody>
      </p:sp>
      <p:sp>
        <p:nvSpPr>
          <p:cNvPr id="32" name="TextBox 31">
            <a:extLst>
              <a:ext uri="{FF2B5EF4-FFF2-40B4-BE49-F238E27FC236}">
                <a16:creationId xmlns:a16="http://schemas.microsoft.com/office/drawing/2014/main" id="{BB0DA184-8375-330D-91FB-F5A874C2CE59}"/>
              </a:ext>
            </a:extLst>
          </p:cNvPr>
          <p:cNvSpPr txBox="1"/>
          <p:nvPr/>
        </p:nvSpPr>
        <p:spPr>
          <a:xfrm>
            <a:off x="1449412" y="4254797"/>
            <a:ext cx="1081644" cy="646331"/>
          </a:xfrm>
          <a:prstGeom prst="rect">
            <a:avLst/>
          </a:prstGeom>
          <a:noFill/>
        </p:spPr>
        <p:txBody>
          <a:bodyPr wrap="square">
            <a:spAutoFit/>
          </a:bodyPr>
          <a:lstStyle/>
          <a:p>
            <a:r>
              <a:rPr lang="en-US" i="1" dirty="0">
                <a:solidFill>
                  <a:schemeClr val="accent2"/>
                </a:solidFill>
                <a:latin typeface="Calibri" pitchFamily="34" charset="0"/>
                <a:ea typeface="Calibri" pitchFamily="34" charset="-122"/>
                <a:cs typeface="Calibri" pitchFamily="34" charset="-120"/>
              </a:rPr>
              <a:t>Firewalls allocated</a:t>
            </a:r>
            <a:endParaRPr lang="en-IT" i="1" dirty="0"/>
          </a:p>
        </p:txBody>
      </p:sp>
      <p:sp>
        <p:nvSpPr>
          <p:cNvPr id="33" name="Shape 2">
            <a:extLst>
              <a:ext uri="{FF2B5EF4-FFF2-40B4-BE49-F238E27FC236}">
                <a16:creationId xmlns:a16="http://schemas.microsoft.com/office/drawing/2014/main" id="{CFD6F4DA-FE3F-0D49-DCDF-EBB56AB85609}"/>
              </a:ext>
            </a:extLst>
          </p:cNvPr>
          <p:cNvSpPr/>
          <p:nvPr/>
        </p:nvSpPr>
        <p:spPr>
          <a:xfrm>
            <a:off x="904091" y="5001318"/>
            <a:ext cx="3738775" cy="737745"/>
          </a:xfrm>
          <a:prstGeom prst="roundRect">
            <a:avLst>
              <a:gd name="adj" fmla="val 5000"/>
            </a:avLst>
          </a:prstGeom>
          <a:solidFill>
            <a:srgbClr val="F2F5FC"/>
          </a:solidFill>
          <a:ln/>
        </p:spPr>
        <p:txBody>
          <a:bodyPr/>
          <a:lstStyle/>
          <a:p>
            <a:endParaRPr lang="en-IT"/>
          </a:p>
        </p:txBody>
      </p:sp>
      <p:sp>
        <p:nvSpPr>
          <p:cNvPr id="35" name="TextBox 34">
            <a:extLst>
              <a:ext uri="{FF2B5EF4-FFF2-40B4-BE49-F238E27FC236}">
                <a16:creationId xmlns:a16="http://schemas.microsoft.com/office/drawing/2014/main" id="{0CE51F55-2EA0-33F1-FC0A-AA7C44B64A76}"/>
              </a:ext>
            </a:extLst>
          </p:cNvPr>
          <p:cNvSpPr txBox="1"/>
          <p:nvPr/>
        </p:nvSpPr>
        <p:spPr>
          <a:xfrm>
            <a:off x="1052626" y="5047024"/>
            <a:ext cx="3590239" cy="646331"/>
          </a:xfrm>
          <a:prstGeom prst="rect">
            <a:avLst/>
          </a:prstGeom>
          <a:noFill/>
        </p:spPr>
        <p:txBody>
          <a:bodyPr wrap="square">
            <a:spAutoFit/>
          </a:bodyPr>
          <a:lstStyle/>
          <a:p>
            <a:r>
              <a:rPr lang="en-US" i="1" dirty="0">
                <a:solidFill>
                  <a:srgbClr val="5A6482"/>
                </a:solidFill>
                <a:latin typeface="Calibri" pitchFamily="34" charset="0"/>
                <a:cs typeface="Calibri" pitchFamily="34" charset="-120"/>
              </a:rPr>
              <a:t>No previously satisfied requirement ever broken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7CA7B9B-3B25-C912-D919-191E522CFEB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FF26AA6-5284-AB18-76AB-E61D377E7AD1}"/>
              </a:ext>
            </a:extLst>
          </p:cNvPr>
          <p:cNvSpPr txBox="1"/>
          <p:nvPr/>
        </p:nvSpPr>
        <p:spPr>
          <a:xfrm>
            <a:off x="548640" y="411480"/>
            <a:ext cx="7039276" cy="82296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Validation: Iterative vs. Monolithic</a:t>
            </a:r>
            <a:endParaRPr lang="en-US" sz="3400" dirty="0"/>
          </a:p>
        </p:txBody>
      </p:sp>
      <p:sp>
        <p:nvSpPr>
          <p:cNvPr id="4" name="Text 1">
            <a:extLst>
              <a:ext uri="{FF2B5EF4-FFF2-40B4-BE49-F238E27FC236}">
                <a16:creationId xmlns:a16="http://schemas.microsoft.com/office/drawing/2014/main" id="{93E3BB26-CEBB-AAA6-1D20-ED3F9AEEF07C}"/>
              </a:ext>
            </a:extLst>
          </p:cNvPr>
          <p:cNvSpPr txBox="1"/>
          <p:nvPr/>
        </p:nvSpPr>
        <p:spPr>
          <a:xfrm>
            <a:off x="6094476" y="38921"/>
            <a:ext cx="5420310" cy="274320"/>
          </a:xfrm>
          <a:prstGeom prst="rect">
            <a:avLst/>
          </a:prstGeom>
          <a:noFill/>
          <a:ln/>
        </p:spPr>
        <p:txBody>
          <a:bodyPr wrap="square" lIns="0" tIns="0" rIns="0" bIns="0" rtlCol="0" anchor="ctr"/>
          <a:lstStyle/>
          <a:p>
            <a:pPr marL="0" indent="0" algn="ctr">
              <a:buNone/>
            </a:pPr>
            <a:r>
              <a:rPr lang="en-US" sz="1100" i="1" dirty="0">
                <a:solidFill>
                  <a:srgbClr val="5A6482"/>
                </a:solidFill>
                <a:latin typeface="Calibri" pitchFamily="34" charset="0"/>
                <a:ea typeface="Calibri" pitchFamily="34" charset="-122"/>
                <a:cs typeface="Calibri" pitchFamily="34" charset="-120"/>
              </a:rPr>
              <a:t>Iterative (left) and monolithic (right) firewall placement over the same 15 NSRs</a:t>
            </a:r>
            <a:endParaRPr lang="en-US" sz="1100" dirty="0"/>
          </a:p>
        </p:txBody>
      </p:sp>
      <p:sp>
        <p:nvSpPr>
          <p:cNvPr id="6" name="Text 3">
            <a:extLst>
              <a:ext uri="{FF2B5EF4-FFF2-40B4-BE49-F238E27FC236}">
                <a16:creationId xmlns:a16="http://schemas.microsoft.com/office/drawing/2014/main" id="{981295AA-71EB-164C-2F3A-1DF7ADA1F4F8}"/>
              </a:ext>
            </a:extLst>
          </p:cNvPr>
          <p:cNvSpPr txBox="1"/>
          <p:nvPr/>
        </p:nvSpPr>
        <p:spPr>
          <a:xfrm>
            <a:off x="1138007" y="5454833"/>
            <a:ext cx="7463427" cy="675908"/>
          </a:xfrm>
          <a:prstGeom prst="rect">
            <a:avLst/>
          </a:prstGeom>
          <a:noFill/>
          <a:ln/>
        </p:spPr>
        <p:txBody>
          <a:bodyPr wrap="square" lIns="0" tIns="0" rIns="0" bIns="0" rtlCol="0" anchor="t"/>
          <a:lstStyle/>
          <a:p>
            <a:pPr marL="342900" indent="-342900">
              <a:buFont typeface="Arial" panose="020B0604020202020204" pitchFamily="34" charset="0"/>
              <a:buChar char="•"/>
            </a:pPr>
            <a:r>
              <a:rPr lang="en-US" sz="2000" dirty="0">
                <a:solidFill>
                  <a:srgbClr val="1E2761"/>
                </a:solidFill>
                <a:latin typeface="Calibri" pitchFamily="34" charset="0"/>
                <a:ea typeface="Calibri" pitchFamily="34" charset="-122"/>
                <a:cs typeface="Calibri" pitchFamily="34" charset="-120"/>
              </a:rPr>
              <a:t>One extra rule in the iterative result; negligible cost</a:t>
            </a:r>
          </a:p>
          <a:p>
            <a:pPr marL="342900" indent="-342900">
              <a:buFont typeface="Arial" panose="020B0604020202020204" pitchFamily="34" charset="0"/>
              <a:buChar char="•"/>
            </a:pPr>
            <a:r>
              <a:rPr lang="en-US" sz="2000" b="1" dirty="0">
                <a:solidFill>
                  <a:srgbClr val="1E2761"/>
                </a:solidFill>
                <a:latin typeface="Calibri" pitchFamily="34" charset="0"/>
                <a:cs typeface="Calibri" pitchFamily="34" charset="-120"/>
              </a:rPr>
              <a:t>Iterative stays stable</a:t>
            </a:r>
            <a:r>
              <a:rPr lang="en-US" sz="2000" dirty="0">
                <a:solidFill>
                  <a:srgbClr val="1E2761"/>
                </a:solidFill>
                <a:latin typeface="Calibri" pitchFamily="34" charset="0"/>
                <a:cs typeface="Calibri" pitchFamily="34" charset="-120"/>
              </a:rPr>
              <a:t>: already valid firewall are never reconfigured</a:t>
            </a:r>
            <a:endParaRPr lang="en-US" sz="2000" dirty="0"/>
          </a:p>
        </p:txBody>
      </p:sp>
      <p:sp>
        <p:nvSpPr>
          <p:cNvPr id="11" name="Text 6">
            <a:extLst>
              <a:ext uri="{FF2B5EF4-FFF2-40B4-BE49-F238E27FC236}">
                <a16:creationId xmlns:a16="http://schemas.microsoft.com/office/drawing/2014/main" id="{47277847-6263-34CD-C778-BC68A312C7CB}"/>
              </a:ext>
            </a:extLst>
          </p:cNvPr>
          <p:cNvSpPr txBox="1"/>
          <p:nvPr/>
        </p:nvSpPr>
        <p:spPr>
          <a:xfrm>
            <a:off x="11365992" y="6355080"/>
            <a:ext cx="457200" cy="320040"/>
          </a:xfrm>
          <a:prstGeom prst="rect">
            <a:avLst/>
          </a:prstGeom>
          <a:noFill/>
          <a:ln/>
        </p:spPr>
        <p:txBody>
          <a:bodyPr wrap="square" lIns="0" tIns="0" rIns="0" bIns="0" rtlCol="0" anchor="ctr"/>
          <a:lstStyle/>
          <a:p>
            <a:pPr marL="0" indent="0" algn="r">
              <a:buNone/>
            </a:pPr>
            <a:r>
              <a:rPr lang="en-US" sz="1100" dirty="0">
                <a:solidFill>
                  <a:srgbClr val="5A6482"/>
                </a:solidFill>
                <a:latin typeface="Calibri" pitchFamily="34" charset="0"/>
                <a:ea typeface="Calibri" pitchFamily="34" charset="-122"/>
                <a:cs typeface="Calibri" pitchFamily="34" charset="-120"/>
              </a:rPr>
              <a:t>10</a:t>
            </a:r>
            <a:endParaRPr lang="en-US" sz="1100" dirty="0"/>
          </a:p>
        </p:txBody>
      </p:sp>
      <p:pic>
        <p:nvPicPr>
          <p:cNvPr id="9" name="Image 2" descr="imgs/logo.png">
            <a:extLst>
              <a:ext uri="{FF2B5EF4-FFF2-40B4-BE49-F238E27FC236}">
                <a16:creationId xmlns:a16="http://schemas.microsoft.com/office/drawing/2014/main" id="{AE03B543-D810-179E-DBAA-D523E5A929B8}"/>
              </a:ext>
            </a:extLst>
          </p:cNvPr>
          <p:cNvPicPr>
            <a:picLocks noChangeAspect="1"/>
          </p:cNvPicPr>
          <p:nvPr/>
        </p:nvPicPr>
        <p:blipFill>
          <a:blip r:embed="rId3"/>
          <a:stretch>
            <a:fillRect/>
          </a:stretch>
        </p:blipFill>
        <p:spPr>
          <a:xfrm>
            <a:off x="368808" y="6350655"/>
            <a:ext cx="769199" cy="324465"/>
          </a:xfrm>
          <a:prstGeom prst="rect">
            <a:avLst/>
          </a:prstGeom>
        </p:spPr>
      </p:pic>
      <p:sp>
        <p:nvSpPr>
          <p:cNvPr id="16" name="TextBox 15">
            <a:extLst>
              <a:ext uri="{FF2B5EF4-FFF2-40B4-BE49-F238E27FC236}">
                <a16:creationId xmlns:a16="http://schemas.microsoft.com/office/drawing/2014/main" id="{84D940D6-9E55-9FCE-480D-2CC7554D1E1E}"/>
              </a:ext>
            </a:extLst>
          </p:cNvPr>
          <p:cNvSpPr txBox="1"/>
          <p:nvPr/>
        </p:nvSpPr>
        <p:spPr>
          <a:xfrm>
            <a:off x="753407" y="5018983"/>
            <a:ext cx="2725598" cy="400110"/>
          </a:xfrm>
          <a:prstGeom prst="rect">
            <a:avLst/>
          </a:prstGeom>
          <a:noFill/>
        </p:spPr>
        <p:txBody>
          <a:bodyPr wrap="square">
            <a:spAutoFit/>
          </a:bodyPr>
          <a:lstStyle/>
          <a:p>
            <a:pPr>
              <a:spcAft>
                <a:spcPts val="1400"/>
              </a:spcAft>
              <a:buSzPct val="100000"/>
            </a:pPr>
            <a:r>
              <a:rPr lang="en-US" sz="2000" b="1" dirty="0">
                <a:solidFill>
                  <a:srgbClr val="232A4D"/>
                </a:solidFill>
                <a:latin typeface="Calibri" pitchFamily="34" charset="0"/>
                <a:ea typeface="Calibri" pitchFamily="34" charset="-122"/>
                <a:cs typeface="Calibri" pitchFamily="34" charset="-120"/>
              </a:rPr>
              <a:t>Comparison:</a:t>
            </a:r>
          </a:p>
        </p:txBody>
      </p:sp>
      <p:sp>
        <p:nvSpPr>
          <p:cNvPr id="10" name="TextBox 9">
            <a:extLst>
              <a:ext uri="{FF2B5EF4-FFF2-40B4-BE49-F238E27FC236}">
                <a16:creationId xmlns:a16="http://schemas.microsoft.com/office/drawing/2014/main" id="{32171E44-8AF0-95E1-9B95-B4D703519D70}"/>
              </a:ext>
            </a:extLst>
          </p:cNvPr>
          <p:cNvSpPr txBox="1"/>
          <p:nvPr/>
        </p:nvSpPr>
        <p:spPr>
          <a:xfrm>
            <a:off x="639462" y="1161064"/>
            <a:ext cx="11183729" cy="400110"/>
          </a:xfrm>
          <a:prstGeom prst="rect">
            <a:avLst/>
          </a:prstGeom>
          <a:noFill/>
        </p:spPr>
        <p:txBody>
          <a:bodyPr wrap="square">
            <a:spAutoFit/>
          </a:bodyPr>
          <a:lstStyle/>
          <a:p>
            <a:r>
              <a:rPr lang="en-IT" sz="2000" dirty="0">
                <a:solidFill>
                  <a:srgbClr val="232A4D"/>
                </a:solidFill>
                <a:latin typeface="Calibri" pitchFamily="34" charset="0"/>
                <a:cs typeface="Calibri" pitchFamily="34" charset="-120"/>
              </a:rPr>
              <a:t>The two results are directly </a:t>
            </a:r>
            <a:r>
              <a:rPr lang="en-IT" sz="2000" b="1" dirty="0">
                <a:solidFill>
                  <a:srgbClr val="232A4D"/>
                </a:solidFill>
                <a:latin typeface="Calibri" pitchFamily="34" charset="0"/>
                <a:cs typeface="Calibri" pitchFamily="34" charset="-120"/>
              </a:rPr>
              <a:t>comparable</a:t>
            </a:r>
            <a:r>
              <a:rPr lang="en-IT" sz="2000" dirty="0">
                <a:solidFill>
                  <a:srgbClr val="232A4D"/>
                </a:solidFill>
                <a:latin typeface="Calibri" pitchFamily="34" charset="0"/>
                <a:cs typeface="Calibri" pitchFamily="34" charset="-120"/>
              </a:rPr>
              <a:t>: both reach 5 firewalls, 3 of them in the exact same positions.</a:t>
            </a:r>
            <a:endParaRPr lang="en-US" sz="2000" dirty="0">
              <a:solidFill>
                <a:srgbClr val="232A4D"/>
              </a:solidFill>
              <a:latin typeface="Calibri" pitchFamily="34" charset="0"/>
              <a:cs typeface="Calibri" pitchFamily="34" charset="-120"/>
            </a:endParaRPr>
          </a:p>
        </p:txBody>
      </p:sp>
      <p:sp>
        <p:nvSpPr>
          <p:cNvPr id="22" name="Text 1">
            <a:extLst>
              <a:ext uri="{FF2B5EF4-FFF2-40B4-BE49-F238E27FC236}">
                <a16:creationId xmlns:a16="http://schemas.microsoft.com/office/drawing/2014/main" id="{DEB42CDB-DF80-5E76-C3E7-F084877E91A9}"/>
              </a:ext>
            </a:extLst>
          </p:cNvPr>
          <p:cNvSpPr txBox="1"/>
          <p:nvPr/>
        </p:nvSpPr>
        <p:spPr>
          <a:xfrm>
            <a:off x="3384321" y="4766412"/>
            <a:ext cx="5420310" cy="274320"/>
          </a:xfrm>
          <a:prstGeom prst="rect">
            <a:avLst/>
          </a:prstGeom>
          <a:noFill/>
          <a:ln/>
        </p:spPr>
        <p:txBody>
          <a:bodyPr wrap="square" lIns="0" tIns="0" rIns="0" bIns="0" rtlCol="0" anchor="ctr"/>
          <a:lstStyle/>
          <a:p>
            <a:pPr marL="0" indent="0" algn="ctr">
              <a:buNone/>
            </a:pPr>
            <a:r>
              <a:rPr lang="en-US" sz="1100" i="1" dirty="0">
                <a:solidFill>
                  <a:srgbClr val="5A6482"/>
                </a:solidFill>
                <a:latin typeface="Calibri" pitchFamily="34" charset="0"/>
                <a:ea typeface="Calibri" pitchFamily="34" charset="-122"/>
                <a:cs typeface="Calibri" pitchFamily="34" charset="-120"/>
              </a:rPr>
              <a:t>Iterative (left) and monolithic (right) firewall placement over the same 15 NSRs and topology</a:t>
            </a:r>
            <a:endParaRPr lang="en-US" sz="1100" dirty="0"/>
          </a:p>
        </p:txBody>
      </p:sp>
      <p:grpSp>
        <p:nvGrpSpPr>
          <p:cNvPr id="28" name="Group 27">
            <a:extLst>
              <a:ext uri="{FF2B5EF4-FFF2-40B4-BE49-F238E27FC236}">
                <a16:creationId xmlns:a16="http://schemas.microsoft.com/office/drawing/2014/main" id="{EDEEFF77-2333-A1E9-4F38-8683E8F4880B}"/>
              </a:ext>
            </a:extLst>
          </p:cNvPr>
          <p:cNvGrpSpPr/>
          <p:nvPr/>
        </p:nvGrpSpPr>
        <p:grpSpPr>
          <a:xfrm>
            <a:off x="713786" y="1724657"/>
            <a:ext cx="10761379" cy="2941462"/>
            <a:chOff x="713786" y="1929775"/>
            <a:chExt cx="10761379" cy="2941462"/>
          </a:xfrm>
        </p:grpSpPr>
        <p:pic>
          <p:nvPicPr>
            <p:cNvPr id="24" name="Picture 23">
              <a:extLst>
                <a:ext uri="{FF2B5EF4-FFF2-40B4-BE49-F238E27FC236}">
                  <a16:creationId xmlns:a16="http://schemas.microsoft.com/office/drawing/2014/main" id="{E3229EE9-D51B-1685-1A24-0E44510A490B}"/>
                </a:ext>
              </a:extLst>
            </p:cNvPr>
            <p:cNvPicPr>
              <a:picLocks noChangeAspect="1"/>
            </p:cNvPicPr>
            <p:nvPr/>
          </p:nvPicPr>
          <p:blipFill>
            <a:blip r:embed="rId4"/>
            <a:srcRect l="2197" t="17632" r="3069" b="10411"/>
            <a:stretch>
              <a:fillRect/>
            </a:stretch>
          </p:blipFill>
          <p:spPr>
            <a:xfrm>
              <a:off x="713786" y="1976177"/>
              <a:ext cx="10761379" cy="2895060"/>
            </a:xfrm>
            <a:prstGeom prst="rect">
              <a:avLst/>
            </a:prstGeom>
          </p:spPr>
        </p:pic>
        <p:sp>
          <p:nvSpPr>
            <p:cNvPr id="26" name="Text 33">
              <a:extLst>
                <a:ext uri="{FF2B5EF4-FFF2-40B4-BE49-F238E27FC236}">
                  <a16:creationId xmlns:a16="http://schemas.microsoft.com/office/drawing/2014/main" id="{7CB967E6-59F2-CABF-3350-650D9BBF1535}"/>
                </a:ext>
              </a:extLst>
            </p:cNvPr>
            <p:cNvSpPr txBox="1"/>
            <p:nvPr/>
          </p:nvSpPr>
          <p:spPr>
            <a:xfrm>
              <a:off x="4505307" y="1929775"/>
              <a:ext cx="1238019" cy="219456"/>
            </a:xfrm>
            <a:prstGeom prst="rect">
              <a:avLst/>
            </a:prstGeom>
            <a:noFill/>
            <a:ln/>
          </p:spPr>
          <p:txBody>
            <a:bodyPr wrap="square" lIns="0" tIns="0" rIns="0" bIns="0" rtlCol="0" anchor="ctr"/>
            <a:lstStyle/>
            <a:p>
              <a:pPr algn="r"/>
              <a:r>
                <a:rPr lang="en-US" sz="1200" i="1" dirty="0">
                  <a:solidFill>
                    <a:schemeClr val="bg2">
                      <a:lumMod val="50000"/>
                    </a:schemeClr>
                  </a:solidFill>
                  <a:latin typeface="Calibri" pitchFamily="34" charset="0"/>
                  <a:cs typeface="Calibri" pitchFamily="34" charset="-120"/>
                </a:rPr>
                <a:t>Iterative solution</a:t>
              </a:r>
            </a:p>
          </p:txBody>
        </p:sp>
        <p:sp>
          <p:nvSpPr>
            <p:cNvPr id="27" name="Text 33">
              <a:extLst>
                <a:ext uri="{FF2B5EF4-FFF2-40B4-BE49-F238E27FC236}">
                  <a16:creationId xmlns:a16="http://schemas.microsoft.com/office/drawing/2014/main" id="{0E8870AE-D69C-B353-210B-9F9A22A63219}"/>
                </a:ext>
              </a:extLst>
            </p:cNvPr>
            <p:cNvSpPr txBox="1"/>
            <p:nvPr/>
          </p:nvSpPr>
          <p:spPr>
            <a:xfrm>
              <a:off x="10075794" y="1929775"/>
              <a:ext cx="1238019" cy="219456"/>
            </a:xfrm>
            <a:prstGeom prst="rect">
              <a:avLst/>
            </a:prstGeom>
            <a:noFill/>
            <a:ln/>
          </p:spPr>
          <p:txBody>
            <a:bodyPr wrap="square" lIns="0" tIns="0" rIns="0" bIns="0" rtlCol="0" anchor="ctr"/>
            <a:lstStyle/>
            <a:p>
              <a:pPr marL="0" indent="0" algn="r">
                <a:buNone/>
              </a:pPr>
              <a:r>
                <a:rPr lang="en-US" sz="1200" i="1" dirty="0">
                  <a:solidFill>
                    <a:schemeClr val="bg2">
                      <a:lumMod val="50000"/>
                    </a:schemeClr>
                  </a:solidFill>
                  <a:latin typeface="Calibri" pitchFamily="34" charset="0"/>
                  <a:ea typeface="Calibri" pitchFamily="34" charset="-122"/>
                  <a:cs typeface="Calibri" pitchFamily="34" charset="-120"/>
                </a:rPr>
                <a:t>Monolithic solution</a:t>
              </a:r>
              <a:endParaRPr lang="en-US" sz="1200" i="1" dirty="0">
                <a:solidFill>
                  <a:schemeClr val="bg2">
                    <a:lumMod val="50000"/>
                  </a:schemeClr>
                </a:solidFill>
              </a:endParaRPr>
            </a:p>
          </p:txBody>
        </p:sp>
      </p:grpSp>
    </p:spTree>
    <p:extLst>
      <p:ext uri="{BB962C8B-B14F-4D97-AF65-F5344CB8AC3E}">
        <p14:creationId xmlns:p14="http://schemas.microsoft.com/office/powerpoint/2010/main" val="14431706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C44F3C9-88E4-7358-287F-196208B4EF5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21C06F9-371C-26B2-0FE9-EC6218987C73}"/>
              </a:ext>
            </a:extLst>
          </p:cNvPr>
          <p:cNvSpPr txBox="1"/>
          <p:nvPr/>
        </p:nvSpPr>
        <p:spPr>
          <a:xfrm>
            <a:off x="548640" y="411480"/>
            <a:ext cx="11091672" cy="82296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Conclusions &amp; Future Work</a:t>
            </a:r>
            <a:endParaRPr lang="en-US" sz="3400" dirty="0"/>
          </a:p>
        </p:txBody>
      </p:sp>
      <p:sp>
        <p:nvSpPr>
          <p:cNvPr id="3" name="Shape 1">
            <a:extLst>
              <a:ext uri="{FF2B5EF4-FFF2-40B4-BE49-F238E27FC236}">
                <a16:creationId xmlns:a16="http://schemas.microsoft.com/office/drawing/2014/main" id="{F96ABDB5-EB37-0B7C-70D4-EAF4A849D53C}"/>
              </a:ext>
            </a:extLst>
          </p:cNvPr>
          <p:cNvSpPr/>
          <p:nvPr/>
        </p:nvSpPr>
        <p:spPr>
          <a:xfrm>
            <a:off x="548640" y="1417320"/>
            <a:ext cx="5394960" cy="4480560"/>
          </a:xfrm>
          <a:prstGeom prst="roundRect">
            <a:avLst>
              <a:gd name="adj" fmla="val 2449"/>
            </a:avLst>
          </a:prstGeom>
          <a:solidFill>
            <a:srgbClr val="F2F5FC"/>
          </a:solidFill>
          <a:ln/>
        </p:spPr>
        <p:txBody>
          <a:bodyPr/>
          <a:lstStyle/>
          <a:p>
            <a:endParaRPr lang="en-IT"/>
          </a:p>
        </p:txBody>
      </p:sp>
      <p:sp>
        <p:nvSpPr>
          <p:cNvPr id="4" name="Text 2">
            <a:extLst>
              <a:ext uri="{FF2B5EF4-FFF2-40B4-BE49-F238E27FC236}">
                <a16:creationId xmlns:a16="http://schemas.microsoft.com/office/drawing/2014/main" id="{1C362ACE-9B6F-EC61-4518-67E6C3CFDF9A}"/>
              </a:ext>
            </a:extLst>
          </p:cNvPr>
          <p:cNvSpPr txBox="1"/>
          <p:nvPr/>
        </p:nvSpPr>
        <p:spPr>
          <a:xfrm>
            <a:off x="822960" y="1600200"/>
            <a:ext cx="4572000" cy="365760"/>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Conclusions</a:t>
            </a:r>
            <a:endParaRPr lang="en-US" sz="1800" dirty="0"/>
          </a:p>
        </p:txBody>
      </p:sp>
      <p:sp>
        <p:nvSpPr>
          <p:cNvPr id="5" name="Text 3">
            <a:extLst>
              <a:ext uri="{FF2B5EF4-FFF2-40B4-BE49-F238E27FC236}">
                <a16:creationId xmlns:a16="http://schemas.microsoft.com/office/drawing/2014/main" id="{EA1CF1CE-A72B-7168-652A-A169AA191D8E}"/>
              </a:ext>
            </a:extLst>
          </p:cNvPr>
          <p:cNvSpPr txBox="1"/>
          <p:nvPr/>
        </p:nvSpPr>
        <p:spPr>
          <a:xfrm>
            <a:off x="822960" y="2011680"/>
            <a:ext cx="4846320" cy="3657600"/>
          </a:xfrm>
          <a:prstGeom prst="rect">
            <a:avLst/>
          </a:prstGeom>
          <a:noFill/>
          <a:ln/>
        </p:spPr>
        <p:txBody>
          <a:bodyPr wrap="square" lIns="0" tIns="0" rIns="0" bIns="0" rtlCol="0" anchor="t"/>
          <a:lstStyle/>
          <a:p>
            <a:pPr marL="285750" indent="-285750">
              <a:spcAft>
                <a:spcPts val="1400"/>
              </a:spcAft>
              <a:buSzPct val="100000"/>
              <a:buFont typeface="Arial" panose="020B0604020202020204" pitchFamily="34" charset="0"/>
              <a:buChar char="•"/>
            </a:pPr>
            <a:r>
              <a:rPr lang="en-US" sz="2000" b="1" dirty="0">
                <a:solidFill>
                  <a:srgbClr val="232A4D"/>
                </a:solidFill>
                <a:latin typeface="Calibri" pitchFamily="34" charset="0"/>
                <a:ea typeface="Calibri" pitchFamily="34" charset="-122"/>
                <a:cs typeface="Calibri" pitchFamily="34" charset="-120"/>
              </a:rPr>
              <a:t>Validated</a:t>
            </a:r>
            <a:r>
              <a:rPr lang="en-US" sz="2000" dirty="0">
                <a:solidFill>
                  <a:srgbClr val="232A4D"/>
                </a:solidFill>
                <a:latin typeface="Calibri" pitchFamily="34" charset="0"/>
                <a:ea typeface="Calibri" pitchFamily="34" charset="-122"/>
                <a:cs typeface="Calibri" pitchFamily="34" charset="-120"/>
              </a:rPr>
              <a:t> qualitatively on a realistic CESNET topology</a:t>
            </a:r>
            <a:endParaRPr lang="en-US" sz="2000" dirty="0"/>
          </a:p>
          <a:p>
            <a:pPr marL="285750" indent="-285750">
              <a:spcAft>
                <a:spcPts val="1400"/>
              </a:spcAft>
              <a:buSzPct val="100000"/>
              <a:buFont typeface="Arial" panose="020B0604020202020204" pitchFamily="34" charset="0"/>
              <a:buChar char="•"/>
            </a:pPr>
            <a:r>
              <a:rPr lang="en-IT" sz="2000" b="1" dirty="0">
                <a:solidFill>
                  <a:srgbClr val="232A4D"/>
                </a:solidFill>
                <a:latin typeface="Calibri" pitchFamily="34" charset="0"/>
                <a:cs typeface="Calibri" pitchFamily="34" charset="-120"/>
              </a:rPr>
              <a:t>Correctness is guaranteed</a:t>
            </a:r>
            <a:r>
              <a:rPr lang="en-IT" sz="2000" dirty="0">
                <a:solidFill>
                  <a:srgbClr val="232A4D"/>
                </a:solidFill>
                <a:latin typeface="Calibri" pitchFamily="34" charset="0"/>
                <a:cs typeface="Calibri" pitchFamily="34" charset="-120"/>
              </a:rPr>
              <a:t>, and the result is comparable to the monolithic baseline: 3 identical firewall allocations, only one extra rule</a:t>
            </a:r>
          </a:p>
          <a:p>
            <a:pPr marL="285750" indent="-285750">
              <a:spcAft>
                <a:spcPts val="1400"/>
              </a:spcAft>
              <a:buSzPct val="100000"/>
              <a:buFont typeface="Arial" panose="020B0604020202020204" pitchFamily="34" charset="0"/>
              <a:buChar char="•"/>
            </a:pPr>
            <a:r>
              <a:rPr lang="en-IT" sz="2000" dirty="0">
                <a:solidFill>
                  <a:srgbClr val="232A4D"/>
                </a:solidFill>
                <a:latin typeface="Calibri" pitchFamily="34" charset="0"/>
                <a:cs typeface="Calibri" pitchFamily="34" charset="-120"/>
              </a:rPr>
              <a:t>Particularly </a:t>
            </a:r>
            <a:r>
              <a:rPr lang="en-IT" sz="2000" b="1" dirty="0">
                <a:solidFill>
                  <a:srgbClr val="232A4D"/>
                </a:solidFill>
                <a:latin typeface="Calibri" pitchFamily="34" charset="0"/>
                <a:cs typeface="Calibri" pitchFamily="34" charset="-120"/>
              </a:rPr>
              <a:t>suited to highly dynamic environments</a:t>
            </a:r>
            <a:r>
              <a:rPr lang="en-IT" sz="2000" dirty="0">
                <a:solidFill>
                  <a:srgbClr val="232A4D"/>
                </a:solidFill>
                <a:latin typeface="Calibri" pitchFamily="34" charset="0"/>
                <a:cs typeface="Calibri" pitchFamily="34" charset="-120"/>
              </a:rPr>
              <a:t>, where reconfiguration can become a bottleneck or a massive operational cost</a:t>
            </a:r>
            <a:endParaRPr lang="en-US" sz="2000" dirty="0">
              <a:solidFill>
                <a:srgbClr val="232A4D"/>
              </a:solidFill>
              <a:latin typeface="Calibri" pitchFamily="34" charset="0"/>
              <a:cs typeface="Calibri" pitchFamily="34" charset="-120"/>
            </a:endParaRPr>
          </a:p>
        </p:txBody>
      </p:sp>
      <p:sp>
        <p:nvSpPr>
          <p:cNvPr id="6" name="Shape 4">
            <a:extLst>
              <a:ext uri="{FF2B5EF4-FFF2-40B4-BE49-F238E27FC236}">
                <a16:creationId xmlns:a16="http://schemas.microsoft.com/office/drawing/2014/main" id="{1BD0ADC6-DB84-48F3-BB8F-ABE835BCCE8F}"/>
              </a:ext>
            </a:extLst>
          </p:cNvPr>
          <p:cNvSpPr/>
          <p:nvPr/>
        </p:nvSpPr>
        <p:spPr>
          <a:xfrm>
            <a:off x="6172200" y="1417320"/>
            <a:ext cx="5440680" cy="3066998"/>
          </a:xfrm>
          <a:prstGeom prst="roundRect">
            <a:avLst>
              <a:gd name="adj" fmla="val 2449"/>
            </a:avLst>
          </a:prstGeom>
          <a:solidFill>
            <a:srgbClr val="F2F5FC"/>
          </a:solidFill>
          <a:ln/>
        </p:spPr>
        <p:txBody>
          <a:bodyPr/>
          <a:lstStyle/>
          <a:p>
            <a:endParaRPr lang="en-IT"/>
          </a:p>
        </p:txBody>
      </p:sp>
      <p:sp>
        <p:nvSpPr>
          <p:cNvPr id="7" name="Text 5">
            <a:extLst>
              <a:ext uri="{FF2B5EF4-FFF2-40B4-BE49-F238E27FC236}">
                <a16:creationId xmlns:a16="http://schemas.microsoft.com/office/drawing/2014/main" id="{36BD2362-36FE-C984-1FD5-E31F5F0ABE63}"/>
              </a:ext>
            </a:extLst>
          </p:cNvPr>
          <p:cNvSpPr txBox="1"/>
          <p:nvPr/>
        </p:nvSpPr>
        <p:spPr>
          <a:xfrm>
            <a:off x="6446520" y="1600200"/>
            <a:ext cx="4572000" cy="365760"/>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Future Work</a:t>
            </a:r>
            <a:endParaRPr lang="en-US" sz="2000" dirty="0"/>
          </a:p>
        </p:txBody>
      </p:sp>
      <p:sp>
        <p:nvSpPr>
          <p:cNvPr id="8" name="Text 6">
            <a:extLst>
              <a:ext uri="{FF2B5EF4-FFF2-40B4-BE49-F238E27FC236}">
                <a16:creationId xmlns:a16="http://schemas.microsoft.com/office/drawing/2014/main" id="{3ABCCAC5-CF1B-44C7-1F32-75E8B77000C4}"/>
              </a:ext>
            </a:extLst>
          </p:cNvPr>
          <p:cNvSpPr txBox="1"/>
          <p:nvPr/>
        </p:nvSpPr>
        <p:spPr>
          <a:xfrm>
            <a:off x="6446520" y="2011680"/>
            <a:ext cx="4892040" cy="2472638"/>
          </a:xfrm>
          <a:prstGeom prst="rect">
            <a:avLst/>
          </a:prstGeom>
          <a:noFill/>
          <a:ln/>
        </p:spPr>
        <p:txBody>
          <a:bodyPr wrap="square" lIns="0" tIns="0" rIns="0" bIns="0" rtlCol="0" anchor="t"/>
          <a:lstStyle/>
          <a:p>
            <a:pPr marL="285750" indent="-285750">
              <a:spcAft>
                <a:spcPts val="1400"/>
              </a:spcAft>
              <a:buSzPct val="100000"/>
              <a:buFont typeface="Arial" panose="020B0604020202020204" pitchFamily="34" charset="0"/>
              <a:buChar char="•"/>
            </a:pPr>
            <a:r>
              <a:rPr lang="en-IT" sz="2000" dirty="0">
                <a:solidFill>
                  <a:srgbClr val="232A4D"/>
                </a:solidFill>
                <a:latin typeface="Calibri" pitchFamily="34" charset="0"/>
                <a:cs typeface="Calibri" pitchFamily="34" charset="-120"/>
              </a:rPr>
              <a:t>Quantitative benchmarking is still missing and needed: execution time against the monolithic baseline, across multiple topologies and configurations</a:t>
            </a:r>
            <a:endParaRPr lang="en-US" sz="2000" dirty="0">
              <a:solidFill>
                <a:srgbClr val="232A4D"/>
              </a:solidFill>
              <a:latin typeface="Calibri" pitchFamily="34" charset="0"/>
              <a:cs typeface="Calibri" pitchFamily="34" charset="-120"/>
            </a:endParaRPr>
          </a:p>
          <a:p>
            <a:pPr marL="285750" indent="-285750">
              <a:spcAft>
                <a:spcPts val="1400"/>
              </a:spcAft>
              <a:buSzPct val="100000"/>
              <a:buFont typeface="Arial" panose="020B0604020202020204" pitchFamily="34" charset="0"/>
              <a:buChar char="•"/>
            </a:pPr>
            <a:r>
              <a:rPr lang="en-IT" sz="2000" dirty="0">
                <a:solidFill>
                  <a:srgbClr val="232A4D"/>
                </a:solidFill>
                <a:latin typeface="Calibri" pitchFamily="34" charset="0"/>
                <a:cs typeface="Calibri" pitchFamily="34" charset="-120"/>
              </a:rPr>
              <a:t>Further optimizations could be explored: traffic-aware NSR ordering, and support for NSR removal</a:t>
            </a:r>
            <a:endParaRPr lang="en-US" sz="2000" dirty="0">
              <a:solidFill>
                <a:srgbClr val="232A4D"/>
              </a:solidFill>
              <a:latin typeface="Calibri" pitchFamily="34" charset="0"/>
              <a:cs typeface="Calibri" pitchFamily="34" charset="-120"/>
            </a:endParaRPr>
          </a:p>
        </p:txBody>
      </p:sp>
      <p:sp>
        <p:nvSpPr>
          <p:cNvPr id="11" name="Text 7">
            <a:extLst>
              <a:ext uri="{FF2B5EF4-FFF2-40B4-BE49-F238E27FC236}">
                <a16:creationId xmlns:a16="http://schemas.microsoft.com/office/drawing/2014/main" id="{3859B316-246F-A045-86E7-256BE4139B13}"/>
              </a:ext>
            </a:extLst>
          </p:cNvPr>
          <p:cNvSpPr txBox="1"/>
          <p:nvPr/>
        </p:nvSpPr>
        <p:spPr>
          <a:xfrm>
            <a:off x="11365992" y="6355080"/>
            <a:ext cx="457200" cy="320040"/>
          </a:xfrm>
          <a:prstGeom prst="rect">
            <a:avLst/>
          </a:prstGeom>
          <a:noFill/>
          <a:ln/>
        </p:spPr>
        <p:txBody>
          <a:bodyPr wrap="square" lIns="0" tIns="0" rIns="0" bIns="0" rtlCol="0" anchor="ctr"/>
          <a:lstStyle/>
          <a:p>
            <a:pPr marL="0" indent="0" algn="r">
              <a:buNone/>
            </a:pPr>
            <a:r>
              <a:rPr lang="en-US" sz="1100" dirty="0">
                <a:solidFill>
                  <a:srgbClr val="5A6482"/>
                </a:solidFill>
                <a:latin typeface="Calibri" pitchFamily="34" charset="0"/>
                <a:ea typeface="Calibri" pitchFamily="34" charset="-122"/>
                <a:cs typeface="Calibri" pitchFamily="34" charset="-120"/>
              </a:rPr>
              <a:t>11</a:t>
            </a:r>
            <a:endParaRPr lang="en-US" sz="1100" dirty="0"/>
          </a:p>
        </p:txBody>
      </p:sp>
      <p:pic>
        <p:nvPicPr>
          <p:cNvPr id="9" name="Image 2" descr="imgs/logo.png">
            <a:extLst>
              <a:ext uri="{FF2B5EF4-FFF2-40B4-BE49-F238E27FC236}">
                <a16:creationId xmlns:a16="http://schemas.microsoft.com/office/drawing/2014/main" id="{AF3458D4-8D4F-5FBF-9ECE-AA901F4DE1F3}"/>
              </a:ext>
            </a:extLst>
          </p:cNvPr>
          <p:cNvPicPr>
            <a:picLocks noChangeAspect="1"/>
          </p:cNvPicPr>
          <p:nvPr/>
        </p:nvPicPr>
        <p:blipFill>
          <a:blip r:embed="rId3"/>
          <a:stretch>
            <a:fillRect/>
          </a:stretch>
        </p:blipFill>
        <p:spPr>
          <a:xfrm>
            <a:off x="368808" y="6350655"/>
            <a:ext cx="769199" cy="324465"/>
          </a:xfrm>
          <a:prstGeom prst="rect">
            <a:avLst/>
          </a:prstGeom>
        </p:spPr>
      </p:pic>
    </p:spTree>
    <p:extLst>
      <p:ext uri="{BB962C8B-B14F-4D97-AF65-F5344CB8AC3E}">
        <p14:creationId xmlns:p14="http://schemas.microsoft.com/office/powerpoint/2010/main" val="27152312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141A45"/>
          </a:solidFill>
          <a:ln/>
        </p:spPr>
        <p:txBody>
          <a:bodyPr/>
          <a:lstStyle/>
          <a:p>
            <a:endParaRPr lang="en-IT"/>
          </a:p>
        </p:txBody>
      </p:sp>
      <p:sp>
        <p:nvSpPr>
          <p:cNvPr id="3" name="Shape 1"/>
          <p:cNvSpPr/>
          <p:nvPr/>
        </p:nvSpPr>
        <p:spPr>
          <a:xfrm>
            <a:off x="-1645920" y="4389120"/>
            <a:ext cx="3474720" cy="3474720"/>
          </a:xfrm>
          <a:prstGeom prst="ellipse">
            <a:avLst/>
          </a:prstGeom>
          <a:solidFill>
            <a:srgbClr val="141A45"/>
          </a:solidFill>
          <a:ln/>
        </p:spPr>
        <p:txBody>
          <a:bodyPr/>
          <a:lstStyle/>
          <a:p>
            <a:endParaRPr lang="en-IT"/>
          </a:p>
        </p:txBody>
      </p:sp>
      <p:sp>
        <p:nvSpPr>
          <p:cNvPr id="4" name="Text 2"/>
          <p:cNvSpPr txBox="1"/>
          <p:nvPr/>
        </p:nvSpPr>
        <p:spPr>
          <a:xfrm>
            <a:off x="0" y="2651760"/>
            <a:ext cx="12188952" cy="1554480"/>
          </a:xfrm>
          <a:prstGeom prst="rect">
            <a:avLst/>
          </a:prstGeom>
          <a:noFill/>
          <a:ln/>
        </p:spPr>
        <p:txBody>
          <a:bodyPr wrap="square" lIns="0" tIns="0" rIns="0" bIns="0" rtlCol="0" anchor="ctr"/>
          <a:lstStyle/>
          <a:p>
            <a:pPr marL="0" indent="0" algn="ctr">
              <a:lnSpc>
                <a:spcPct val="110000"/>
              </a:lnSpc>
              <a:buNone/>
            </a:pPr>
            <a:r>
              <a:rPr lang="en-US" sz="3400" b="1" dirty="0">
                <a:solidFill>
                  <a:srgbClr val="FFFFFF"/>
                </a:solidFill>
                <a:latin typeface="Cambria" pitchFamily="34" charset="0"/>
                <a:ea typeface="Cambria" pitchFamily="34" charset="-122"/>
                <a:cs typeface="Cambria" pitchFamily="34" charset="-120"/>
              </a:rPr>
              <a:t>Thank you</a:t>
            </a:r>
            <a:endParaRPr lang="en-US" sz="3400" dirty="0"/>
          </a:p>
          <a:p>
            <a:pPr marL="0" indent="0" algn="ctr">
              <a:lnSpc>
                <a:spcPct val="110000"/>
              </a:lnSpc>
              <a:buNone/>
            </a:pPr>
            <a:r>
              <a:rPr lang="en-US" sz="3400" b="1" dirty="0">
                <a:solidFill>
                  <a:srgbClr val="FFFFFF"/>
                </a:solidFill>
                <a:latin typeface="Cambria" pitchFamily="34" charset="0"/>
                <a:ea typeface="Cambria" pitchFamily="34" charset="-122"/>
                <a:cs typeface="Cambria" pitchFamily="34" charset="-120"/>
              </a:rPr>
              <a:t>for your attention</a:t>
            </a:r>
            <a:endParaRPr lang="en-US" sz="3400" dirty="0"/>
          </a:p>
        </p:txBody>
      </p:sp>
      <p:pic>
        <p:nvPicPr>
          <p:cNvPr id="7" name="Picture 6">
            <a:extLst>
              <a:ext uri="{FF2B5EF4-FFF2-40B4-BE49-F238E27FC236}">
                <a16:creationId xmlns:a16="http://schemas.microsoft.com/office/drawing/2014/main" id="{C6797A01-CFA7-855C-D729-938649400F50}"/>
              </a:ext>
            </a:extLst>
          </p:cNvPr>
          <p:cNvPicPr>
            <a:picLocks noChangeAspect="1"/>
          </p:cNvPicPr>
          <p:nvPr/>
        </p:nvPicPr>
        <p:blipFill>
          <a:blip r:embed="rId3"/>
          <a:stretch>
            <a:fillRect/>
          </a:stretch>
        </p:blipFill>
        <p:spPr>
          <a:xfrm>
            <a:off x="5318440" y="5785511"/>
            <a:ext cx="1552071" cy="68193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8FCC2-7343-E047-FDE7-91F5E11AF01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14A2165-8D1C-930A-0D50-316EE51AD368}"/>
              </a:ext>
            </a:extLst>
          </p:cNvPr>
          <p:cNvSpPr/>
          <p:nvPr/>
        </p:nvSpPr>
        <p:spPr>
          <a:xfrm>
            <a:off x="9692640" y="-1463040"/>
            <a:ext cx="4206240" cy="4206240"/>
          </a:xfrm>
          <a:prstGeom prst="ellipse">
            <a:avLst/>
          </a:prstGeom>
          <a:solidFill>
            <a:schemeClr val="accent1">
              <a:lumMod val="20000"/>
              <a:lumOff val="80000"/>
            </a:schemeClr>
          </a:solidFill>
          <a:ln/>
        </p:spPr>
        <p:txBody>
          <a:bodyPr/>
          <a:lstStyle/>
          <a:p>
            <a:endParaRPr lang="en-IT"/>
          </a:p>
        </p:txBody>
      </p:sp>
      <p:sp>
        <p:nvSpPr>
          <p:cNvPr id="3" name="Shape 1">
            <a:extLst>
              <a:ext uri="{FF2B5EF4-FFF2-40B4-BE49-F238E27FC236}">
                <a16:creationId xmlns:a16="http://schemas.microsoft.com/office/drawing/2014/main" id="{94E9DE65-6DF2-9BD1-BB18-1A9CC80C40BE}"/>
              </a:ext>
            </a:extLst>
          </p:cNvPr>
          <p:cNvSpPr/>
          <p:nvPr/>
        </p:nvSpPr>
        <p:spPr>
          <a:xfrm>
            <a:off x="-1645920" y="4389120"/>
            <a:ext cx="3474720" cy="3474720"/>
          </a:xfrm>
          <a:prstGeom prst="ellipse">
            <a:avLst/>
          </a:prstGeom>
          <a:solidFill>
            <a:schemeClr val="accent1">
              <a:lumMod val="20000"/>
              <a:lumOff val="80000"/>
            </a:schemeClr>
          </a:solidFill>
          <a:ln/>
        </p:spPr>
        <p:txBody>
          <a:bodyPr/>
          <a:lstStyle/>
          <a:p>
            <a:endParaRPr lang="en-IT"/>
          </a:p>
        </p:txBody>
      </p:sp>
      <p:sp>
        <p:nvSpPr>
          <p:cNvPr id="4" name="Text 2">
            <a:extLst>
              <a:ext uri="{FF2B5EF4-FFF2-40B4-BE49-F238E27FC236}">
                <a16:creationId xmlns:a16="http://schemas.microsoft.com/office/drawing/2014/main" id="{318D860D-E4BE-80C2-AB5F-7C06B432ADA9}"/>
              </a:ext>
            </a:extLst>
          </p:cNvPr>
          <p:cNvSpPr txBox="1"/>
          <p:nvPr/>
        </p:nvSpPr>
        <p:spPr>
          <a:xfrm>
            <a:off x="0" y="2651760"/>
            <a:ext cx="12188952" cy="1554480"/>
          </a:xfrm>
          <a:prstGeom prst="rect">
            <a:avLst/>
          </a:prstGeom>
          <a:noFill/>
          <a:ln/>
        </p:spPr>
        <p:txBody>
          <a:bodyPr wrap="square" lIns="0" tIns="0" rIns="0" bIns="0" rtlCol="0" anchor="ctr"/>
          <a:lstStyle/>
          <a:p>
            <a:pPr marL="0" indent="0" algn="ctr">
              <a:lnSpc>
                <a:spcPct val="110000"/>
              </a:lnSpc>
              <a:buNone/>
            </a:pPr>
            <a:r>
              <a:rPr lang="en-US" sz="3400" b="1" dirty="0">
                <a:solidFill>
                  <a:srgbClr val="002060"/>
                </a:solidFill>
                <a:latin typeface="Cambria" pitchFamily="34" charset="0"/>
                <a:ea typeface="Cambria" pitchFamily="34" charset="-122"/>
                <a:cs typeface="Cambria" pitchFamily="34" charset="-120"/>
              </a:rPr>
              <a:t>ANNEX</a:t>
            </a:r>
            <a:endParaRPr lang="en-US" sz="3400" dirty="0">
              <a:solidFill>
                <a:srgbClr val="002060"/>
              </a:solidFill>
            </a:endParaRPr>
          </a:p>
        </p:txBody>
      </p:sp>
      <p:pic>
        <p:nvPicPr>
          <p:cNvPr id="5" name="Image 0" descr="imgs/logo.png">
            <a:extLst>
              <a:ext uri="{FF2B5EF4-FFF2-40B4-BE49-F238E27FC236}">
                <a16:creationId xmlns:a16="http://schemas.microsoft.com/office/drawing/2014/main" id="{028FA037-5B76-B8C5-86F9-5C631FB5B440}"/>
              </a:ext>
            </a:extLst>
          </p:cNvPr>
          <p:cNvPicPr>
            <a:picLocks noChangeAspect="1"/>
          </p:cNvPicPr>
          <p:nvPr/>
        </p:nvPicPr>
        <p:blipFill>
          <a:blip r:embed="rId3"/>
          <a:stretch>
            <a:fillRect/>
          </a:stretch>
        </p:blipFill>
        <p:spPr>
          <a:xfrm>
            <a:off x="5317236" y="5806440"/>
            <a:ext cx="1554480" cy="683481"/>
          </a:xfrm>
          <a:prstGeom prst="rect">
            <a:avLst/>
          </a:prstGeom>
        </p:spPr>
      </p:pic>
    </p:spTree>
    <p:extLst>
      <p:ext uri="{BB962C8B-B14F-4D97-AF65-F5344CB8AC3E}">
        <p14:creationId xmlns:p14="http://schemas.microsoft.com/office/powerpoint/2010/main" val="41827278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2576</TotalTime>
  <Words>3244</Words>
  <Application>Microsoft Macintosh PowerPoint</Application>
  <PresentationFormat>Widescreen</PresentationFormat>
  <Paragraphs>259</Paragraphs>
  <Slides>13</Slides>
  <Notes>13</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Del Ministro  Filippo</cp:lastModifiedBy>
  <cp:revision>30</cp:revision>
  <dcterms:created xsi:type="dcterms:W3CDTF">2026-09-20T10:33:19Z</dcterms:created>
  <dcterms:modified xsi:type="dcterms:W3CDTF">2026-09-27T19:14:16Z</dcterms:modified>
</cp:coreProperties>
</file>