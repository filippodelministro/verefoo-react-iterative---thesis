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26"/>
    <p:restoredTop sz="81099"/>
  </p:normalViewPr>
  <p:slideViewPr>
    <p:cSldViewPr snapToGrid="0" snapToObjects="1">
      <p:cViewPr>
        <p:scale>
          <a:sx n="129" d="100"/>
          <a:sy n="129" d="100"/>
        </p:scale>
        <p:origin x="12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66463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Good morning everyone, thank you for being here. My name is Filippo Del Ministro and today I'll present my thesis, "An Incremental Approach to Automatic Firewall Configuration," supervised by professors Fulvio Valenza, Daniele Bringhenti, Francesco Pizzato, and Riccardo Sisto.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Let's start with the context. The growing complexity of modern networks is exactly why security is shifting from a single perimeter firewall to a distributed approach — multiple packet-filtering firewalls spread across the topology, what we call microsegmentation. This shift brings well-known benefits: finer-grained control over traffic, containment of lateral movement if one segment is compromised, and policies tailored to each part of the network — for instance, a stricter policy for the data centre than for a general office segment. But it also complicates configuration: there are more firewall instances to manage, and if that configuration is kept manual, it becomes error-prone and offers no guarantee of correctness — a single mistake can silently violate a security requirement, or block legitimate traffic.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[1:45-2:45] Before looking at the incremental variants, let's briefly look at VEREFOO itself. Given a network topology, modeled as a Service Graph, and a set of Network Security Requirements — the NSRs, describing which traffic flows must be allowed or denied — VEREFOO automates the whole placement and configuration process. Internally, it builds an Allocation Graph, marking every link of the network as a candidate firewall position, an Allocation Place, and encodes the placement and configuration problem as a MaxSMT instance. Solving it produces a firewall allocation scheme and a filtering policy for each allocated firewall, minimizing the number of firewalls and rules while guaranteeing that every requirement is satisfied by construction.</a:t>
            </a:r>
          </a:p>
          <a:p>
            <a:endParaRPr lang="en-US" dirty="0"/>
          </a:p>
          <a:p>
            <a:endParaRPr lang="en-US" dirty="0"/>
          </a:p>
          <a:p>
            <a:pPr marL="228600" marR="0" lvl="0" indent="-228600" algn="l" defTabSz="914400" rtl="0" eaLnBrk="1" fontAlgn="auto" latinLnBrk="0" hangingPunct="1">
              <a:lnSpc>
                <a:spcPct val="100000"/>
              </a:lnSpc>
              <a:spcBef>
                <a:spcPts val="0"/>
              </a:spcBef>
              <a:spcAft>
                <a:spcPts val="0"/>
              </a:spcAft>
              <a:buClrTx/>
              <a:buSzPct val="100000"/>
              <a:buFontTx/>
              <a:buChar char="▪"/>
              <a:tabLst/>
              <a:defRPr/>
            </a:pPr>
            <a:r>
              <a:rPr lang="en-US" sz="1200" dirty="0">
                <a:solidFill>
                  <a:srgbClr val="232A4D"/>
                </a:solidFill>
                <a:latin typeface="Calibri" pitchFamily="34" charset="0"/>
                <a:ea typeface="Calibri" pitchFamily="34" charset="-122"/>
                <a:cs typeface="Calibri" pitchFamily="34" charset="-120"/>
              </a:rPr>
              <a:t>Solving it yields a firewall allocation scheme and a filtering policy per firewall, minimizing firewalls and rules while guaranteeing every NSR is satisfied by construction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VEREFOO, as we just saw, guarantees correctness and optimality by construction, but it's monolithic: any change to the NSR set triggers a full recomputation from scratch. React-VEREFOO was developed to overcome this: it classifies each NSR as added, kept, or deleted, and reconfigures only the portion of the network actually affected by the change. This gives a big speedup when only a small fraction of requirements changes — but that advantage shrinks as the batch of new requirements grows. That's the gap this thesis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[3:45-4:45] The question at the heart of the thesis: if React-VEREFOO is fastest with few new requirements, why not always give it just one at a time? Instead of a batch that progressively degrades performance, push the incremental principle to its extreme, keeping the problem minimal at every step, regardless of how many requirements must ultimately be incorporated.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[4:45-6:30] The thesis contribution: Iterative VEREFOO. Instead of passing a batch to React-VEREFOO, we introduce requirements one at a time, invoking it internally at each step for the minimal update. Two structures evolve: consideredProps (already-enforced requirements, passed as the initial set) and currentGraph (configuration updated after the last verified requirement). Every iteration thus always receives the smallest possible incremental problem. Correctness is always guaranteed.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err="1">
                <a:solidFill>
                  <a:srgbClr val="1E2761"/>
                </a:solidFill>
                <a:latin typeface="Courier New" pitchFamily="34" charset="0"/>
                <a:ea typeface="Courier New" pitchFamily="34" charset="-122"/>
                <a:cs typeface="Courier New" pitchFamily="34" charset="-120"/>
              </a:rPr>
              <a:t>consideredProps</a:t>
            </a:r>
            <a:r>
              <a:rPr lang="en-US" sz="1200" dirty="0">
                <a:solidFill>
                  <a:srgbClr val="232A4D"/>
                </a:solidFill>
                <a:latin typeface="Calibri" pitchFamily="34" charset="0"/>
                <a:ea typeface="Calibri" pitchFamily="34" charset="-122"/>
                <a:cs typeface="Calibri" pitchFamily="34" charset="-120"/>
              </a:rPr>
              <a:t>  — NSRs already enforced, passed as the initial set</a:t>
            </a:r>
            <a:endParaRPr lang="en-US" sz="1200"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err="1">
                <a:solidFill>
                  <a:srgbClr val="1E2761"/>
                </a:solidFill>
                <a:latin typeface="Courier New" pitchFamily="34" charset="0"/>
                <a:ea typeface="Courier New" pitchFamily="34" charset="-122"/>
                <a:cs typeface="Courier New" pitchFamily="34" charset="-120"/>
              </a:rPr>
              <a:t>currentGraph</a:t>
            </a:r>
            <a:r>
              <a:rPr lang="en-US" sz="1200" dirty="0">
                <a:solidFill>
                  <a:srgbClr val="232A4D"/>
                </a:solidFill>
                <a:latin typeface="Calibri" pitchFamily="34" charset="0"/>
                <a:ea typeface="Calibri" pitchFamily="34" charset="-122"/>
                <a:cs typeface="Calibri" pitchFamily="34" charset="-120"/>
              </a:rPr>
              <a:t>  — network configuration, updated after every step</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[6:30-7:15] Vanilla VEREFOO: one solver call over all requirements together, global optimum. React-VEREFOO: one call over a batch, reuses the existing configuration. Iterative: one call per single requirement, reuses the configuration at every step, local (greedy) optimum but always over the smallest possible portion of the network.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approach was integrated by modifying VerefooSerializer, the entry point shared by the three variants. The new constructor wraps React-VEREFOO in a loop that introduces one requirement at a time, updating consideredProps and currentGraph between iterations. The rest of the pipeline (MaxSMT, VerefooProxy, Translator) is unchanged: a targeted change, not a rewrite.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[8:15-9:30] Validation on a real topology: CESNET, the Czech academic backbone, 23 nodes and 28 links. Starting from an initial configuration with ten NSRs enforced by three firewalls, I introduced five new requirements one at a time, tracing each iteration to confirm every new requirement was satisfied without breaking the previous ones. Result: fifteen requirements satisfied, five final firewalls.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[9:30-10:30] Comparison with vanilla VEREFOO, a single monolithic solve, over the same fifteen requirements. Both allocate five firewalls, three in the same positions. The iterative one needs one extra rule: the monolithic solver sees everything at once and can make one firewall serve two purposes. It's the price of incrementality, nearly negligible, offset by the fact that the iterative approach never relocates an already-valid firewall, avoiding operational cost and transient insecure states.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[10:30-11:45] The iterative approach was validated qualitatively and reaches a result that almost matches the monolithic baseline in firewall count, with just one extra rule, despite never having visibility beyond the single requirement being processed. I expect scalability to be the main advantage as topologies and reconfigurations grow larger. Future work: quantitative time benchmark at larger scale, traffic-based requirement ordering to reduce tie-driven reconfigurations, support for NSR removal.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[11:45-12:00] Thank you for your attention, and I'm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41A45"/>
          </a:solidFill>
          <a:ln/>
        </p:spPr>
        <p:txBody>
          <a:bodyPr/>
          <a:lstStyle/>
          <a:p>
            <a:endParaRPr lang="en-IT"/>
          </a:p>
        </p:txBody>
      </p:sp>
      <p:sp>
        <p:nvSpPr>
          <p:cNvPr id="3" name="Shape 1"/>
          <p:cNvSpPr/>
          <p:nvPr/>
        </p:nvSpPr>
        <p:spPr>
          <a:xfrm>
            <a:off x="10607040" y="4572000"/>
            <a:ext cx="3108960" cy="3108960"/>
          </a:xfrm>
          <a:prstGeom prst="ellipse">
            <a:avLst/>
          </a:prstGeom>
          <a:solidFill>
            <a:srgbClr val="141A45"/>
          </a:solidFill>
          <a:ln/>
        </p:spPr>
        <p:txBody>
          <a:bodyPr/>
          <a:lstStyle/>
          <a:p>
            <a:endParaRPr lang="en-IT"/>
          </a:p>
        </p:txBody>
      </p:sp>
      <p:sp>
        <p:nvSpPr>
          <p:cNvPr id="4" name="Text 2"/>
          <p:cNvSpPr txBox="1"/>
          <p:nvPr/>
        </p:nvSpPr>
        <p:spPr>
          <a:xfrm>
            <a:off x="731520" y="1234440"/>
            <a:ext cx="7315200" cy="365760"/>
          </a:xfrm>
          <a:prstGeom prst="rect">
            <a:avLst/>
          </a:prstGeom>
          <a:noFill/>
          <a:ln/>
        </p:spPr>
        <p:txBody>
          <a:bodyPr wrap="square" lIns="0" tIns="0" rIns="0" bIns="0" rtlCol="0" anchor="ctr"/>
          <a:lstStyle/>
          <a:p>
            <a:pPr marL="0" indent="0">
              <a:buNone/>
            </a:pPr>
            <a:r>
              <a:rPr lang="en-US" sz="1400" b="1" kern="0" spc="200" dirty="0">
                <a:solidFill>
                  <a:srgbClr val="F2A65A"/>
                </a:solidFill>
                <a:latin typeface="Calibri" pitchFamily="34" charset="0"/>
                <a:ea typeface="Calibri" pitchFamily="34" charset="-122"/>
                <a:cs typeface="Calibri" pitchFamily="34" charset="-120"/>
              </a:rPr>
              <a:t>MASTER DEGREE THESIS</a:t>
            </a:r>
            <a:endParaRPr lang="en-US" sz="1400" dirty="0"/>
          </a:p>
        </p:txBody>
      </p:sp>
      <p:sp>
        <p:nvSpPr>
          <p:cNvPr id="5" name="Text 3"/>
          <p:cNvSpPr txBox="1"/>
          <p:nvPr/>
        </p:nvSpPr>
        <p:spPr>
          <a:xfrm>
            <a:off x="731520" y="1691640"/>
            <a:ext cx="9875520" cy="1920240"/>
          </a:xfrm>
          <a:prstGeom prst="rect">
            <a:avLst/>
          </a:prstGeom>
          <a:noFill/>
          <a:ln/>
        </p:spPr>
        <p:txBody>
          <a:bodyPr wrap="square" lIns="0" tIns="0" rIns="0" bIns="0" rtlCol="0" anchor="ctr"/>
          <a:lstStyle/>
          <a:p>
            <a:pPr marL="0" indent="0">
              <a:lnSpc>
                <a:spcPct val="108000"/>
              </a:lnSpc>
              <a:buNone/>
            </a:pPr>
            <a:r>
              <a:rPr lang="en-US" sz="3800" b="1" dirty="0">
                <a:solidFill>
                  <a:srgbClr val="FFFFFF"/>
                </a:solidFill>
                <a:latin typeface="Cambria" pitchFamily="34" charset="0"/>
                <a:ea typeface="Cambria" pitchFamily="34" charset="-122"/>
                <a:cs typeface="Cambria" pitchFamily="34" charset="-120"/>
              </a:rPr>
              <a:t>An Incremental Approach to</a:t>
            </a:r>
            <a:endParaRPr lang="en-US" sz="3800" dirty="0"/>
          </a:p>
          <a:p>
            <a:pPr marL="0" indent="0">
              <a:lnSpc>
                <a:spcPct val="108000"/>
              </a:lnSpc>
              <a:buNone/>
            </a:pPr>
            <a:r>
              <a:rPr lang="en-US" sz="3800" b="1" dirty="0">
                <a:solidFill>
                  <a:srgbClr val="FFFFFF"/>
                </a:solidFill>
                <a:latin typeface="Cambria" pitchFamily="34" charset="0"/>
                <a:ea typeface="Cambria" pitchFamily="34" charset="-122"/>
                <a:cs typeface="Cambria" pitchFamily="34" charset="-120"/>
              </a:rPr>
              <a:t>Automatic Firewall Configuration</a:t>
            </a:r>
            <a:endParaRPr lang="en-US" sz="3800" dirty="0"/>
          </a:p>
        </p:txBody>
      </p:sp>
      <p:sp>
        <p:nvSpPr>
          <p:cNvPr id="6" name="Shape 4"/>
          <p:cNvSpPr/>
          <p:nvPr/>
        </p:nvSpPr>
        <p:spPr>
          <a:xfrm>
            <a:off x="758952" y="3794760"/>
            <a:ext cx="1463040" cy="0"/>
          </a:xfrm>
          <a:prstGeom prst="line">
            <a:avLst/>
          </a:prstGeom>
          <a:noFill/>
          <a:ln w="38100">
            <a:solidFill>
              <a:srgbClr val="F2A65A"/>
            </a:solidFill>
            <a:prstDash val="solid"/>
          </a:ln>
        </p:spPr>
        <p:txBody>
          <a:bodyPr/>
          <a:lstStyle/>
          <a:p>
            <a:endParaRPr lang="en-IT"/>
          </a:p>
        </p:txBody>
      </p:sp>
      <p:sp>
        <p:nvSpPr>
          <p:cNvPr id="7" name="Text 5"/>
          <p:cNvSpPr txBox="1"/>
          <p:nvPr/>
        </p:nvSpPr>
        <p:spPr>
          <a:xfrm>
            <a:off x="731520" y="4069080"/>
            <a:ext cx="7315200" cy="3657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Filippo Del Ministro</a:t>
            </a:r>
            <a:endParaRPr lang="en-US" sz="1800" dirty="0"/>
          </a:p>
        </p:txBody>
      </p:sp>
      <p:sp>
        <p:nvSpPr>
          <p:cNvPr id="8" name="Text 6"/>
          <p:cNvSpPr txBox="1"/>
          <p:nvPr/>
        </p:nvSpPr>
        <p:spPr>
          <a:xfrm>
            <a:off x="731520" y="4617720"/>
            <a:ext cx="5486400" cy="1554480"/>
          </a:xfrm>
          <a:prstGeom prst="rect">
            <a:avLst/>
          </a:prstGeom>
          <a:noFill/>
          <a:ln/>
        </p:spPr>
        <p:txBody>
          <a:bodyPr wrap="square" lIns="0" tIns="0" rIns="0" bIns="0" rtlCol="0" anchor="ctr"/>
          <a:lstStyle/>
          <a:p>
            <a:pPr marL="0" indent="0">
              <a:spcAft>
                <a:spcPts val="200"/>
              </a:spcAft>
              <a:buNone/>
            </a:pPr>
            <a:r>
              <a:rPr lang="en-US" sz="1300" b="1" dirty="0">
                <a:solidFill>
                  <a:srgbClr val="CADCFC"/>
                </a:solidFill>
                <a:latin typeface="Calibri" pitchFamily="34" charset="0"/>
                <a:ea typeface="Calibri" pitchFamily="34" charset="-122"/>
                <a:cs typeface="Calibri" pitchFamily="34" charset="-120"/>
              </a:rPr>
              <a:t>Supervisors</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Fulvio Valenza</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Daniele Bringhenti</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Francesco Pizzato</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Riccardo Sisto</a:t>
            </a:r>
            <a:endParaRPr lang="en-US" sz="1400" dirty="0"/>
          </a:p>
        </p:txBody>
      </p:sp>
      <p:sp>
        <p:nvSpPr>
          <p:cNvPr id="9" name="Text 7"/>
          <p:cNvSpPr txBox="1"/>
          <p:nvPr/>
        </p:nvSpPr>
        <p:spPr>
          <a:xfrm>
            <a:off x="731520" y="6172200"/>
            <a:ext cx="914400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Politecnico di Torino  |  Cybersecurity  |  Academic Year 2025-2026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Background</a:t>
            </a:r>
            <a:endParaRPr lang="en-US" sz="3400" dirty="0"/>
          </a:p>
        </p:txBody>
      </p:sp>
      <p:sp>
        <p:nvSpPr>
          <p:cNvPr id="3" name="Text 1"/>
          <p:cNvSpPr txBox="1"/>
          <p:nvPr/>
        </p:nvSpPr>
        <p:spPr>
          <a:xfrm>
            <a:off x="612120" y="1876153"/>
            <a:ext cx="5120640" cy="3105694"/>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The growing complexity of modern networks is driving a shift from a single perimeter firewall to distributed, packet-filtering firewalls (microsegmentation)</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This brings </a:t>
            </a:r>
            <a:r>
              <a:rPr lang="en-US" sz="1500" b="1" dirty="0">
                <a:solidFill>
                  <a:srgbClr val="232A4D"/>
                </a:solidFill>
                <a:latin typeface="Calibri" pitchFamily="34" charset="0"/>
                <a:ea typeface="Calibri" pitchFamily="34" charset="-122"/>
                <a:cs typeface="Calibri" pitchFamily="34" charset="-120"/>
              </a:rPr>
              <a:t>well-known benefits</a:t>
            </a:r>
            <a:r>
              <a:rPr lang="en-US" sz="1500" dirty="0">
                <a:solidFill>
                  <a:srgbClr val="232A4D"/>
                </a:solidFill>
                <a:latin typeface="Calibri" pitchFamily="34" charset="0"/>
                <a:ea typeface="Calibri" pitchFamily="34" charset="-122"/>
                <a:cs typeface="Calibri" pitchFamily="34" charset="-120"/>
              </a:rPr>
              <a:t>: finer-grained control, containment of lateral movement, and policies tailored to each segment (e.g., office vs. data centre)</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But it also </a:t>
            </a:r>
            <a:r>
              <a:rPr lang="en-US" sz="1500" b="1" dirty="0">
                <a:solidFill>
                  <a:srgbClr val="232A4D"/>
                </a:solidFill>
                <a:latin typeface="Calibri" pitchFamily="34" charset="0"/>
                <a:ea typeface="Calibri" pitchFamily="34" charset="-122"/>
                <a:cs typeface="Calibri" pitchFamily="34" charset="-120"/>
              </a:rPr>
              <a:t>increase complexity </a:t>
            </a:r>
            <a:r>
              <a:rPr lang="en-US" sz="1500" dirty="0">
                <a:solidFill>
                  <a:srgbClr val="232A4D"/>
                </a:solidFill>
                <a:latin typeface="Calibri" pitchFamily="34" charset="0"/>
                <a:ea typeface="Calibri" pitchFamily="34" charset="-122"/>
                <a:cs typeface="Calibri" pitchFamily="34" charset="-120"/>
              </a:rPr>
              <a:t>for configuration: more instances, more rules, more chances for conflicts</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If kept manual, this configuration is error-prone and offers no guarantee of correctness</a:t>
            </a:r>
            <a:endParaRPr lang="en-US" sz="1500" dirty="0"/>
          </a:p>
        </p:txBody>
      </p:sp>
      <p:grpSp>
        <p:nvGrpSpPr>
          <p:cNvPr id="14" name="Group 13">
            <a:extLst>
              <a:ext uri="{FF2B5EF4-FFF2-40B4-BE49-F238E27FC236}">
                <a16:creationId xmlns:a16="http://schemas.microsoft.com/office/drawing/2014/main" id="{8FD349FD-C146-36B6-530E-F801EBA6F1E0}"/>
              </a:ext>
            </a:extLst>
          </p:cNvPr>
          <p:cNvGrpSpPr/>
          <p:nvPr/>
        </p:nvGrpSpPr>
        <p:grpSpPr>
          <a:xfrm>
            <a:off x="7111257" y="3330332"/>
            <a:ext cx="4254735" cy="2960740"/>
            <a:chOff x="7282543" y="3551465"/>
            <a:chExt cx="3597184" cy="2503170"/>
          </a:xfrm>
        </p:grpSpPr>
        <p:pic>
          <p:nvPicPr>
            <p:cNvPr id="11" name="Picture 10">
              <a:extLst>
                <a:ext uri="{FF2B5EF4-FFF2-40B4-BE49-F238E27FC236}">
                  <a16:creationId xmlns:a16="http://schemas.microsoft.com/office/drawing/2014/main" id="{F8F1C82A-F97C-4B52-23E7-2A89CE5B4C2D}"/>
                </a:ext>
              </a:extLst>
            </p:cNvPr>
            <p:cNvPicPr>
              <a:picLocks noChangeAspect="1"/>
            </p:cNvPicPr>
            <p:nvPr/>
          </p:nvPicPr>
          <p:blipFill>
            <a:blip r:embed="rId3"/>
            <a:srcRect l="6076" t="7929" r="3781" b="10989"/>
            <a:stretch>
              <a:fillRect/>
            </a:stretch>
          </p:blipFill>
          <p:spPr>
            <a:xfrm>
              <a:off x="7282543" y="3551465"/>
              <a:ext cx="3597184" cy="2228850"/>
            </a:xfrm>
            <a:prstGeom prst="rect">
              <a:avLst/>
            </a:prstGeom>
          </p:spPr>
        </p:pic>
        <p:sp>
          <p:nvSpPr>
            <p:cNvPr id="7" name="Text 3"/>
            <p:cNvSpPr txBox="1"/>
            <p:nvPr/>
          </p:nvSpPr>
          <p:spPr>
            <a:xfrm>
              <a:off x="8404317" y="5780315"/>
              <a:ext cx="2475410" cy="274320"/>
            </a:xfrm>
            <a:prstGeom prst="rect">
              <a:avLst/>
            </a:prstGeom>
            <a:noFill/>
            <a:ln/>
          </p:spPr>
          <p:txBody>
            <a:bodyPr wrap="square" lIns="0" tIns="0" rIns="0" bIns="0" rtlCol="0" anchor="ctr"/>
            <a:lstStyle/>
            <a:p>
              <a:pPr marL="0" indent="0" algn="r">
                <a:buNone/>
              </a:pPr>
              <a:r>
                <a:rPr lang="en-US" sz="1100" i="1" dirty="0">
                  <a:solidFill>
                    <a:srgbClr val="5A6482"/>
                  </a:solidFill>
                  <a:latin typeface="Calibri" pitchFamily="34" charset="0"/>
                  <a:ea typeface="Calibri" pitchFamily="34" charset="-122"/>
                  <a:cs typeface="Calibri" pitchFamily="34" charset="-120"/>
                </a:rPr>
                <a:t>Distributed firewalls (microsegmentation)</a:t>
              </a:r>
              <a:endParaRPr lang="en-US" sz="1100" dirty="0"/>
            </a:p>
          </p:txBody>
        </p:sp>
      </p:grpSp>
      <p:pic>
        <p:nvPicPr>
          <p:cNvPr id="9" name="Image 2" descr="imgs/logo.png"/>
          <p:cNvPicPr>
            <a:picLocks noChangeAspect="1"/>
          </p:cNvPicPr>
          <p:nvPr/>
        </p:nvPicPr>
        <p:blipFill>
          <a:blip r:embed="rId4"/>
          <a:stretch>
            <a:fillRect/>
          </a:stretch>
        </p:blipFill>
        <p:spPr>
          <a:xfrm>
            <a:off x="368808" y="6350655"/>
            <a:ext cx="769199" cy="324465"/>
          </a:xfrm>
          <a:prstGeom prst="rect">
            <a:avLst/>
          </a:prstGeom>
        </p:spPr>
      </p:pic>
      <p:sp>
        <p:nvSpPr>
          <p:cNvPr id="10" name="Text 4"/>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2</a:t>
            </a:r>
            <a:endParaRPr lang="en-US" sz="1100" dirty="0"/>
          </a:p>
        </p:txBody>
      </p:sp>
      <p:grpSp>
        <p:nvGrpSpPr>
          <p:cNvPr id="15" name="Group 14">
            <a:extLst>
              <a:ext uri="{FF2B5EF4-FFF2-40B4-BE49-F238E27FC236}">
                <a16:creationId xmlns:a16="http://schemas.microsoft.com/office/drawing/2014/main" id="{D41F3185-95FB-635A-F174-87777368A7C8}"/>
              </a:ext>
            </a:extLst>
          </p:cNvPr>
          <p:cNvGrpSpPr/>
          <p:nvPr/>
        </p:nvGrpSpPr>
        <p:grpSpPr>
          <a:xfrm>
            <a:off x="7307036" y="411480"/>
            <a:ext cx="3992335" cy="2711166"/>
            <a:chOff x="7437663" y="472386"/>
            <a:chExt cx="3600451" cy="2445040"/>
          </a:xfrm>
        </p:grpSpPr>
        <p:sp>
          <p:nvSpPr>
            <p:cNvPr id="5" name="Text 2"/>
            <p:cNvSpPr txBox="1"/>
            <p:nvPr/>
          </p:nvSpPr>
          <p:spPr>
            <a:xfrm>
              <a:off x="9216172" y="2643106"/>
              <a:ext cx="1821942" cy="274320"/>
            </a:xfrm>
            <a:prstGeom prst="rect">
              <a:avLst/>
            </a:prstGeom>
            <a:noFill/>
            <a:ln/>
          </p:spPr>
          <p:txBody>
            <a:bodyPr wrap="square" lIns="0" tIns="0" rIns="0" bIns="0" rtlCol="0" anchor="ctr"/>
            <a:lstStyle/>
            <a:p>
              <a:pPr marL="0" indent="0" algn="r">
                <a:buNone/>
              </a:pPr>
              <a:r>
                <a:rPr lang="en-US" sz="1100" i="1" dirty="0">
                  <a:solidFill>
                    <a:srgbClr val="5A6482"/>
                  </a:solidFill>
                  <a:latin typeface="Calibri" pitchFamily="34" charset="0"/>
                  <a:ea typeface="Calibri" pitchFamily="34" charset="-122"/>
                  <a:cs typeface="Calibri" pitchFamily="34" charset="-120"/>
                </a:rPr>
                <a:t>Traditional perimeter firewall</a:t>
              </a:r>
              <a:endParaRPr lang="en-US" sz="1100" dirty="0"/>
            </a:p>
          </p:txBody>
        </p:sp>
        <p:pic>
          <p:nvPicPr>
            <p:cNvPr id="13" name="Picture 12">
              <a:extLst>
                <a:ext uri="{FF2B5EF4-FFF2-40B4-BE49-F238E27FC236}">
                  <a16:creationId xmlns:a16="http://schemas.microsoft.com/office/drawing/2014/main" id="{19117C4F-36AF-2F05-ABAD-461813C668EC}"/>
                </a:ext>
              </a:extLst>
            </p:cNvPr>
            <p:cNvPicPr>
              <a:picLocks noChangeAspect="1"/>
            </p:cNvPicPr>
            <p:nvPr/>
          </p:nvPicPr>
          <p:blipFill>
            <a:blip r:embed="rId5"/>
            <a:srcRect l="3319" t="8756" r="2764" b="8180"/>
            <a:stretch>
              <a:fillRect/>
            </a:stretch>
          </p:blipFill>
          <p:spPr>
            <a:xfrm>
              <a:off x="7437663" y="472386"/>
              <a:ext cx="3600451" cy="2193580"/>
            </a:xfrm>
            <a:prstGeom prst="rect">
              <a:avLst/>
            </a:prstGeom>
          </p:spPr>
        </p:pic>
      </p:grpSp>
      <p:cxnSp>
        <p:nvCxnSpPr>
          <p:cNvPr id="17" name="Straight Connector 16">
            <a:extLst>
              <a:ext uri="{FF2B5EF4-FFF2-40B4-BE49-F238E27FC236}">
                <a16:creationId xmlns:a16="http://schemas.microsoft.com/office/drawing/2014/main" id="{5EC09C95-2C15-3942-2C82-45C84E99DBF7}"/>
              </a:ext>
            </a:extLst>
          </p:cNvPr>
          <p:cNvCxnSpPr>
            <a:cxnSpLocks/>
          </p:cNvCxnSpPr>
          <p:nvPr/>
        </p:nvCxnSpPr>
        <p:spPr>
          <a:xfrm>
            <a:off x="6621236" y="3216728"/>
            <a:ext cx="5019076" cy="0"/>
          </a:xfrm>
          <a:prstGeom prst="line">
            <a:avLst/>
          </a:prstGeom>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B8EAD40-CDFF-B24A-FFB7-2E760572698C}"/>
              </a:ext>
            </a:extLst>
          </p:cNvPr>
          <p:cNvPicPr>
            <a:picLocks noChangeAspect="1"/>
          </p:cNvPicPr>
          <p:nvPr/>
        </p:nvPicPr>
        <p:blipFill>
          <a:blip r:embed="rId3"/>
          <a:srcRect l="2852" t="7251" r="2674" b="13071"/>
          <a:stretch>
            <a:fillRect/>
          </a:stretch>
        </p:blipFill>
        <p:spPr>
          <a:xfrm>
            <a:off x="1258637" y="2531587"/>
            <a:ext cx="9671678" cy="3704437"/>
          </a:xfrm>
          <a:prstGeom prst="rect">
            <a:avLst/>
          </a:prstGeom>
        </p:spPr>
      </p:pic>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What is VEREFOO?</a:t>
            </a:r>
            <a:endParaRPr lang="en-US" sz="3400" dirty="0"/>
          </a:p>
        </p:txBody>
      </p:sp>
      <p:sp>
        <p:nvSpPr>
          <p:cNvPr id="3" name="Text 1"/>
          <p:cNvSpPr txBox="1"/>
          <p:nvPr/>
        </p:nvSpPr>
        <p:spPr>
          <a:xfrm>
            <a:off x="731520" y="1386840"/>
            <a:ext cx="11091672" cy="1228898"/>
          </a:xfrm>
          <a:prstGeom prst="rect">
            <a:avLst/>
          </a:prstGeom>
          <a:noFill/>
          <a:ln/>
        </p:spPr>
        <p:txBody>
          <a:bodyPr wrap="square" lIns="0" tIns="0" rIns="0" bIns="0" rtlCol="0" anchor="t"/>
          <a:lstStyle/>
          <a:p>
            <a:pPr>
              <a:spcAft>
                <a:spcPts val="1400"/>
              </a:spcAft>
              <a:buSzPct val="100000"/>
            </a:pPr>
            <a:r>
              <a:rPr lang="en-US" sz="1400" dirty="0">
                <a:solidFill>
                  <a:srgbClr val="232A4D"/>
                </a:solidFill>
                <a:latin typeface="Calibri" pitchFamily="34" charset="0"/>
                <a:ea typeface="Calibri" pitchFamily="34" charset="-122"/>
                <a:cs typeface="Calibri" pitchFamily="34" charset="-120"/>
              </a:rPr>
              <a:t>Automates firewall placement and rule configuration for a given network</a:t>
            </a:r>
            <a:endParaRPr lang="en-US" sz="1400" dirty="0"/>
          </a:p>
          <a:p>
            <a:pPr marL="228600" indent="-228600">
              <a:spcAft>
                <a:spcPts val="1400"/>
              </a:spcAft>
              <a:buSzPct val="100000"/>
              <a:buChar char="▪"/>
            </a:pPr>
            <a:r>
              <a:rPr lang="en-US" sz="1400" dirty="0">
                <a:solidFill>
                  <a:srgbClr val="232A4D"/>
                </a:solidFill>
                <a:latin typeface="Calibri" pitchFamily="34" charset="0"/>
                <a:ea typeface="Calibri" pitchFamily="34" charset="-122"/>
                <a:cs typeface="Calibri" pitchFamily="34" charset="-120"/>
              </a:rPr>
              <a:t>Input: a network topology, and a set of Network Security Requirements (NSRs) — which traffic flows must be allowed or denied</a:t>
            </a:r>
            <a:endParaRPr lang="en-US" sz="1400" dirty="0"/>
          </a:p>
          <a:p>
            <a:pPr marL="228600" indent="-228600">
              <a:spcAft>
                <a:spcPts val="1400"/>
              </a:spcAft>
              <a:buSzPct val="100000"/>
              <a:buChar char="▪"/>
            </a:pPr>
            <a:r>
              <a:rPr lang="en-US" sz="1400" dirty="0">
                <a:solidFill>
                  <a:srgbClr val="232A4D"/>
                </a:solidFill>
                <a:latin typeface="Calibri" pitchFamily="34" charset="0"/>
                <a:ea typeface="Calibri" pitchFamily="34" charset="-122"/>
                <a:cs typeface="Calibri" pitchFamily="34" charset="-120"/>
              </a:rPr>
              <a:t>Output: firewall allocation scheme and a filtering policy per firewall; optimality and formal correctness is guaranteed</a:t>
            </a:r>
            <a:endParaRPr lang="en-US" sz="1400" dirty="0"/>
          </a:p>
        </p:txBody>
      </p:sp>
      <p:sp>
        <p:nvSpPr>
          <p:cNvPr id="8" name="Text 3"/>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3</a:t>
            </a:r>
            <a:endParaRPr lang="en-US" sz="1100" dirty="0"/>
          </a:p>
        </p:txBody>
      </p:sp>
      <p:pic>
        <p:nvPicPr>
          <p:cNvPr id="6" name="Image 2" descr="imgs/logo.png">
            <a:extLst>
              <a:ext uri="{FF2B5EF4-FFF2-40B4-BE49-F238E27FC236}">
                <a16:creationId xmlns:a16="http://schemas.microsoft.com/office/drawing/2014/main" id="{FDA896AC-DAE0-CA6B-B1E3-3443CF6ACA03}"/>
              </a:ext>
            </a:extLst>
          </p:cNvPr>
          <p:cNvPicPr>
            <a:picLocks noChangeAspect="1"/>
          </p:cNvPicPr>
          <p:nvPr/>
        </p:nvPicPr>
        <p:blipFill>
          <a:blip r:embed="rId4"/>
          <a:stretch>
            <a:fillRect/>
          </a:stretch>
        </p:blipFill>
        <p:spPr>
          <a:xfrm>
            <a:off x="368808" y="6350655"/>
            <a:ext cx="769199" cy="32446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VEREFOO &amp; React-VEREFOO</a:t>
            </a:r>
            <a:endParaRPr lang="en-US" sz="3400" dirty="0"/>
          </a:p>
        </p:txBody>
      </p:sp>
      <p:sp>
        <p:nvSpPr>
          <p:cNvPr id="5" name="Text 3"/>
          <p:cNvSpPr txBox="1"/>
          <p:nvPr/>
        </p:nvSpPr>
        <p:spPr>
          <a:xfrm>
            <a:off x="822960" y="2011680"/>
            <a:ext cx="4846320" cy="1188720"/>
          </a:xfrm>
          <a:prstGeom prst="rect">
            <a:avLst/>
          </a:prstGeom>
          <a:noFill/>
          <a:ln/>
        </p:spPr>
        <p:txBody>
          <a:bodyPr wrap="square" lIns="0" tIns="0" rIns="0" bIns="0" rtlCol="0" anchor="t"/>
          <a:lstStyle/>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Correctness and optimality guaranteed by construction</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Monolithic: any change to the NSR set triggers a full recomputation from scratch</a:t>
            </a:r>
            <a:endParaRPr lang="en-US" sz="1350" dirty="0"/>
          </a:p>
        </p:txBody>
      </p:sp>
      <p:sp>
        <p:nvSpPr>
          <p:cNvPr id="6" name="Shape 4"/>
          <p:cNvSpPr/>
          <p:nvPr/>
        </p:nvSpPr>
        <p:spPr>
          <a:xfrm>
            <a:off x="548640" y="3429000"/>
            <a:ext cx="5394960" cy="2880360"/>
          </a:xfrm>
          <a:prstGeom prst="roundRect">
            <a:avLst>
              <a:gd name="adj" fmla="val 3810"/>
            </a:avLst>
          </a:prstGeom>
          <a:solidFill>
            <a:srgbClr val="F2F5FC"/>
          </a:solidFill>
          <a:ln/>
        </p:spPr>
        <p:txBody>
          <a:bodyPr/>
          <a:lstStyle/>
          <a:p>
            <a:endParaRPr lang="en-IT"/>
          </a:p>
        </p:txBody>
      </p:sp>
      <p:sp>
        <p:nvSpPr>
          <p:cNvPr id="7" name="Text 5"/>
          <p:cNvSpPr txBox="1"/>
          <p:nvPr/>
        </p:nvSpPr>
        <p:spPr>
          <a:xfrm>
            <a:off x="822960" y="3611880"/>
            <a:ext cx="4572000" cy="36576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React-VEREFOO</a:t>
            </a:r>
            <a:endParaRPr lang="en-US" sz="1800" dirty="0"/>
          </a:p>
        </p:txBody>
      </p:sp>
      <p:sp>
        <p:nvSpPr>
          <p:cNvPr id="8" name="Text 6"/>
          <p:cNvSpPr txBox="1"/>
          <p:nvPr/>
        </p:nvSpPr>
        <p:spPr>
          <a:xfrm>
            <a:off x="822960" y="4023360"/>
            <a:ext cx="4846320" cy="2194560"/>
          </a:xfrm>
          <a:prstGeom prst="rect">
            <a:avLst/>
          </a:prstGeom>
          <a:noFill/>
          <a:ln/>
        </p:spPr>
        <p:txBody>
          <a:bodyPr wrap="square" lIns="0" tIns="0" rIns="0" bIns="0" rtlCol="0" anchor="t"/>
          <a:lstStyle/>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Classifies NSRs as added, kept, or deleted; reconfigures only the affected area</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Fast when only a small fraction of requirements changes</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Speed advantage shrinks as the batch of new requirements grows — the gap this thesis closes</a:t>
            </a:r>
            <a:endParaRPr lang="en-US" sz="1350" dirty="0"/>
          </a:p>
        </p:txBody>
      </p:sp>
      <p:sp>
        <p:nvSpPr>
          <p:cNvPr id="10" name="Text 7"/>
          <p:cNvSpPr txBox="1"/>
          <p:nvPr/>
        </p:nvSpPr>
        <p:spPr>
          <a:xfrm>
            <a:off x="6172200" y="5760720"/>
            <a:ext cx="5394960" cy="274320"/>
          </a:xfrm>
          <a:prstGeom prst="rect">
            <a:avLst/>
          </a:prstGeom>
          <a:noFill/>
          <a:ln/>
        </p:spPr>
        <p:txBody>
          <a:bodyPr wrap="square" lIns="0" tIns="0" rIns="0" bIns="0" rtlCol="0" anchor="ctr"/>
          <a:lstStyle/>
          <a:p>
            <a:pPr marL="0" indent="0" algn="ctr">
              <a:buNone/>
            </a:pPr>
            <a:r>
              <a:rPr lang="en-US" sz="1100" i="1" dirty="0">
                <a:solidFill>
                  <a:srgbClr val="5A6482"/>
                </a:solidFill>
                <a:latin typeface="Calibri" pitchFamily="34" charset="0"/>
                <a:ea typeface="Calibri" pitchFamily="34" charset="-122"/>
                <a:cs typeface="Calibri" pitchFamily="34" charset="-120"/>
              </a:rPr>
              <a:t>React-VEREFOO: reconfiguration pipeline</a:t>
            </a:r>
            <a:endParaRPr lang="en-US" sz="1100" dirty="0"/>
          </a:p>
        </p:txBody>
      </p:sp>
      <p:sp>
        <p:nvSpPr>
          <p:cNvPr id="13" name="Text 8"/>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4</a:t>
            </a:r>
            <a:endParaRPr lang="en-US" sz="1100" dirty="0"/>
          </a:p>
        </p:txBody>
      </p:sp>
      <p:pic>
        <p:nvPicPr>
          <p:cNvPr id="11" name="Image 2" descr="imgs/logo.png">
            <a:extLst>
              <a:ext uri="{FF2B5EF4-FFF2-40B4-BE49-F238E27FC236}">
                <a16:creationId xmlns:a16="http://schemas.microsoft.com/office/drawing/2014/main" id="{720F361D-9A64-D3CB-BA69-332CDC82BB81}"/>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5" name="Picture 14">
            <a:extLst>
              <a:ext uri="{FF2B5EF4-FFF2-40B4-BE49-F238E27FC236}">
                <a16:creationId xmlns:a16="http://schemas.microsoft.com/office/drawing/2014/main" id="{67712C89-11CD-D045-8242-31EDD3A2F33D}"/>
              </a:ext>
            </a:extLst>
          </p:cNvPr>
          <p:cNvPicPr>
            <a:picLocks noChangeAspect="1"/>
          </p:cNvPicPr>
          <p:nvPr/>
        </p:nvPicPr>
        <p:blipFill>
          <a:blip r:embed="rId4"/>
          <a:stretch>
            <a:fillRect/>
          </a:stretch>
        </p:blipFill>
        <p:spPr>
          <a:xfrm>
            <a:off x="7106479" y="1827907"/>
            <a:ext cx="3866322" cy="17839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2011680" y="4206240"/>
            <a:ext cx="4754880" cy="4754880"/>
          </a:xfrm>
          <a:prstGeom prst="ellipse">
            <a:avLst/>
          </a:prstGeom>
          <a:solidFill>
            <a:srgbClr val="141A45"/>
          </a:solidFill>
          <a:ln/>
        </p:spPr>
        <p:txBody>
          <a:bodyPr/>
          <a:lstStyle/>
          <a:p>
            <a:endParaRPr lang="en-IT"/>
          </a:p>
        </p:txBody>
      </p:sp>
      <p:sp>
        <p:nvSpPr>
          <p:cNvPr id="3" name="Text 1"/>
          <p:cNvSpPr txBox="1"/>
          <p:nvPr/>
        </p:nvSpPr>
        <p:spPr>
          <a:xfrm>
            <a:off x="731520" y="640080"/>
            <a:ext cx="7315200" cy="365760"/>
          </a:xfrm>
          <a:prstGeom prst="rect">
            <a:avLst/>
          </a:prstGeom>
          <a:noFill/>
          <a:ln/>
        </p:spPr>
        <p:txBody>
          <a:bodyPr wrap="square" lIns="0" tIns="0" rIns="0" bIns="0" rtlCol="0" anchor="ctr"/>
          <a:lstStyle/>
          <a:p>
            <a:pPr marL="0" indent="0">
              <a:buNone/>
            </a:pPr>
            <a:r>
              <a:rPr lang="en-US" sz="1400" b="1" kern="0" spc="200" dirty="0">
                <a:solidFill>
                  <a:srgbClr val="F2A65A"/>
                </a:solidFill>
                <a:latin typeface="Calibri" pitchFamily="34" charset="0"/>
                <a:ea typeface="Calibri" pitchFamily="34" charset="-122"/>
                <a:cs typeface="Calibri" pitchFamily="34" charset="-120"/>
              </a:rPr>
              <a:t>RESEARCH QUESTION</a:t>
            </a:r>
            <a:endParaRPr lang="en-US" sz="1400" dirty="0"/>
          </a:p>
        </p:txBody>
      </p:sp>
      <p:sp>
        <p:nvSpPr>
          <p:cNvPr id="4" name="Text 2"/>
          <p:cNvSpPr txBox="1"/>
          <p:nvPr/>
        </p:nvSpPr>
        <p:spPr>
          <a:xfrm>
            <a:off x="731520" y="1097280"/>
            <a:ext cx="10515600" cy="1645920"/>
          </a:xfrm>
          <a:prstGeom prst="rect">
            <a:avLst/>
          </a:prstGeom>
          <a:noFill/>
          <a:ln/>
        </p:spPr>
        <p:txBody>
          <a:bodyPr wrap="square" lIns="0" tIns="0" rIns="0" bIns="0" rtlCol="0" anchor="ctr"/>
          <a:lstStyle/>
          <a:p>
            <a:pPr marL="0" indent="0">
              <a:lnSpc>
                <a:spcPct val="115000"/>
              </a:lnSpc>
              <a:buNone/>
            </a:pPr>
            <a:r>
              <a:rPr lang="en-US" sz="3000" b="1" dirty="0">
                <a:solidFill>
                  <a:srgbClr val="FFFFFF"/>
                </a:solidFill>
                <a:latin typeface="Cambria" pitchFamily="34" charset="0"/>
                <a:ea typeface="Cambria" pitchFamily="34" charset="-122"/>
                <a:cs typeface="Cambria" pitchFamily="34" charset="-120"/>
              </a:rPr>
              <a:t>If React-VEREFOO is fastest when only a few requirements change — why not always give it just one?</a:t>
            </a:r>
            <a:endParaRPr lang="en-US" sz="3000" dirty="0"/>
          </a:p>
        </p:txBody>
      </p:sp>
      <p:sp>
        <p:nvSpPr>
          <p:cNvPr id="5" name="Shape 3"/>
          <p:cNvSpPr/>
          <p:nvPr/>
        </p:nvSpPr>
        <p:spPr>
          <a:xfrm>
            <a:off x="731520" y="3246120"/>
            <a:ext cx="4937760" cy="2834640"/>
          </a:xfrm>
          <a:prstGeom prst="roundRect">
            <a:avLst>
              <a:gd name="adj" fmla="val 3871"/>
            </a:avLst>
          </a:prstGeom>
          <a:solidFill>
            <a:srgbClr val="24306B"/>
          </a:solidFill>
          <a:ln/>
        </p:spPr>
        <p:txBody>
          <a:bodyPr/>
          <a:lstStyle/>
          <a:p>
            <a:endParaRPr lang="en-IT"/>
          </a:p>
        </p:txBody>
      </p:sp>
      <p:sp>
        <p:nvSpPr>
          <p:cNvPr id="6" name="Text 4"/>
          <p:cNvSpPr txBox="1"/>
          <p:nvPr/>
        </p:nvSpPr>
        <p:spPr>
          <a:xfrm>
            <a:off x="1005840" y="3474720"/>
            <a:ext cx="4389120" cy="320040"/>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Standard React-VEREFOO</a:t>
            </a:r>
            <a:endParaRPr lang="en-US" sz="1300" dirty="0"/>
          </a:p>
        </p:txBody>
      </p:sp>
      <p:sp>
        <p:nvSpPr>
          <p:cNvPr id="7" name="Shape 5"/>
          <p:cNvSpPr/>
          <p:nvPr/>
        </p:nvSpPr>
        <p:spPr>
          <a:xfrm>
            <a:off x="1188720" y="4069080"/>
            <a:ext cx="3931920" cy="68580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8" name="Text 6"/>
          <p:cNvSpPr txBox="1"/>
          <p:nvPr/>
        </p:nvSpPr>
        <p:spPr>
          <a:xfrm>
            <a:off x="1188720" y="4069080"/>
            <a:ext cx="3931920" cy="685800"/>
          </a:xfrm>
          <a:prstGeom prst="rect">
            <a:avLst/>
          </a:prstGeom>
          <a:noFill/>
          <a:ln/>
        </p:spPr>
        <p:txBody>
          <a:bodyPr wrap="square" lIns="0" tIns="0" rIns="0" bIns="0" rtlCol="0" anchor="ctr"/>
          <a:lstStyle/>
          <a:p>
            <a:pPr marL="0" indent="0" algn="ctr">
              <a:buNone/>
            </a:pPr>
            <a:r>
              <a:rPr lang="en-US" sz="1250" dirty="0">
                <a:solidFill>
                  <a:srgbClr val="FFFFFF"/>
                </a:solidFill>
                <a:latin typeface="Calibri" pitchFamily="34" charset="0"/>
                <a:ea typeface="Calibri" pitchFamily="34" charset="-122"/>
                <a:cs typeface="Calibri" pitchFamily="34" charset="-120"/>
              </a:rPr>
              <a:t>large batch of new NSRs</a:t>
            </a:r>
            <a:endParaRPr lang="en-US" sz="1250" dirty="0"/>
          </a:p>
        </p:txBody>
      </p:sp>
      <p:sp>
        <p:nvSpPr>
          <p:cNvPr id="9" name="Text 7"/>
          <p:cNvSpPr txBox="1"/>
          <p:nvPr/>
        </p:nvSpPr>
        <p:spPr>
          <a:xfrm>
            <a:off x="1188720" y="4937760"/>
            <a:ext cx="3931920" cy="365760"/>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  one expensive solver call</a:t>
            </a:r>
            <a:endParaRPr lang="en-US" sz="1200" dirty="0"/>
          </a:p>
        </p:txBody>
      </p:sp>
      <p:sp>
        <p:nvSpPr>
          <p:cNvPr id="10" name="Text 8"/>
          <p:cNvSpPr txBox="1"/>
          <p:nvPr/>
        </p:nvSpPr>
        <p:spPr>
          <a:xfrm>
            <a:off x="1188720" y="5394960"/>
            <a:ext cx="3931920" cy="457200"/>
          </a:xfrm>
          <a:prstGeom prst="rect">
            <a:avLst/>
          </a:prstGeom>
          <a:noFill/>
          <a:ln/>
        </p:spPr>
        <p:txBody>
          <a:bodyPr wrap="square" lIns="0" tIns="0" rIns="0" bIns="0" rtlCol="0" anchor="ctr"/>
          <a:lstStyle/>
          <a:p>
            <a:pPr marL="0" indent="0" algn="ctr">
              <a:buNone/>
            </a:pPr>
            <a:r>
              <a:rPr lang="en-US" sz="1200" i="1" dirty="0">
                <a:solidFill>
                  <a:srgbClr val="F2A65A"/>
                </a:solidFill>
                <a:latin typeface="Calibri" pitchFamily="34" charset="0"/>
                <a:ea typeface="Calibri" pitchFamily="34" charset="-122"/>
                <a:cs typeface="Calibri" pitchFamily="34" charset="-120"/>
              </a:rPr>
              <a:t>speedup degrades as the batch grows</a:t>
            </a:r>
            <a:endParaRPr lang="en-US" sz="1200" dirty="0"/>
          </a:p>
        </p:txBody>
      </p:sp>
      <p:sp>
        <p:nvSpPr>
          <p:cNvPr id="11" name="Shape 9"/>
          <p:cNvSpPr/>
          <p:nvPr/>
        </p:nvSpPr>
        <p:spPr>
          <a:xfrm>
            <a:off x="6492240" y="3246120"/>
            <a:ext cx="4937760" cy="2834640"/>
          </a:xfrm>
          <a:prstGeom prst="roundRect">
            <a:avLst>
              <a:gd name="adj" fmla="val 3871"/>
            </a:avLst>
          </a:prstGeom>
          <a:solidFill>
            <a:schemeClr val="accent2"/>
          </a:solidFill>
          <a:ln/>
        </p:spPr>
        <p:txBody>
          <a:bodyPr/>
          <a:lstStyle/>
          <a:p>
            <a:endParaRPr lang="en-IT"/>
          </a:p>
        </p:txBody>
      </p:sp>
      <p:sp>
        <p:nvSpPr>
          <p:cNvPr id="12" name="Text 10"/>
          <p:cNvSpPr txBox="1"/>
          <p:nvPr/>
        </p:nvSpPr>
        <p:spPr>
          <a:xfrm>
            <a:off x="6766560" y="3474720"/>
            <a:ext cx="4389120" cy="320040"/>
          </a:xfrm>
          <a:prstGeom prst="rect">
            <a:avLst/>
          </a:prstGeom>
          <a:noFill/>
          <a:ln/>
        </p:spPr>
        <p:txBody>
          <a:bodyPr wrap="square" lIns="0" tIns="0" rIns="0" bIns="0" rtlCol="0" anchor="ctr"/>
          <a:lstStyle/>
          <a:p>
            <a:pPr marL="0" indent="0">
              <a:buNone/>
            </a:pPr>
            <a:r>
              <a:rPr lang="en-US" sz="1300" b="1" dirty="0">
                <a:solidFill>
                  <a:srgbClr val="002060"/>
                </a:solidFill>
                <a:latin typeface="Calibri" pitchFamily="34" charset="0"/>
                <a:ea typeface="Calibri" pitchFamily="34" charset="-122"/>
                <a:cs typeface="Calibri" pitchFamily="34" charset="-120"/>
              </a:rPr>
              <a:t>Iterative VEREFOO (this thesis)</a:t>
            </a:r>
            <a:endParaRPr lang="en-US" sz="1300" dirty="0">
              <a:solidFill>
                <a:srgbClr val="002060"/>
              </a:solidFill>
            </a:endParaRPr>
          </a:p>
        </p:txBody>
      </p:sp>
      <p:sp>
        <p:nvSpPr>
          <p:cNvPr id="13" name="Shape 11"/>
          <p:cNvSpPr/>
          <p:nvPr/>
        </p:nvSpPr>
        <p:spPr>
          <a:xfrm>
            <a:off x="6949440"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4" name="Text 12"/>
          <p:cNvSpPr txBox="1"/>
          <p:nvPr/>
        </p:nvSpPr>
        <p:spPr>
          <a:xfrm>
            <a:off x="6949440"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15" name="Shape 13"/>
          <p:cNvSpPr/>
          <p:nvPr/>
        </p:nvSpPr>
        <p:spPr>
          <a:xfrm>
            <a:off x="7626096"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6" name="Text 14"/>
          <p:cNvSpPr txBox="1"/>
          <p:nvPr/>
        </p:nvSpPr>
        <p:spPr>
          <a:xfrm>
            <a:off x="7626096"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17" name="Shape 15"/>
          <p:cNvSpPr/>
          <p:nvPr/>
        </p:nvSpPr>
        <p:spPr>
          <a:xfrm>
            <a:off x="8302752"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8" name="Text 16"/>
          <p:cNvSpPr txBox="1"/>
          <p:nvPr/>
        </p:nvSpPr>
        <p:spPr>
          <a:xfrm>
            <a:off x="8302752"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19" name="Shape 17"/>
          <p:cNvSpPr/>
          <p:nvPr/>
        </p:nvSpPr>
        <p:spPr>
          <a:xfrm>
            <a:off x="8979408"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20" name="Text 18"/>
          <p:cNvSpPr txBox="1"/>
          <p:nvPr/>
        </p:nvSpPr>
        <p:spPr>
          <a:xfrm>
            <a:off x="8979408"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21" name="Shape 19"/>
          <p:cNvSpPr/>
          <p:nvPr/>
        </p:nvSpPr>
        <p:spPr>
          <a:xfrm>
            <a:off x="9656064"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22" name="Text 20"/>
          <p:cNvSpPr txBox="1"/>
          <p:nvPr/>
        </p:nvSpPr>
        <p:spPr>
          <a:xfrm>
            <a:off x="9656064"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6766560" y="4846320"/>
            <a:ext cx="4389120" cy="365760"/>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  many minimal solver calls</a:t>
            </a:r>
            <a:endParaRPr lang="en-US" sz="1200" dirty="0"/>
          </a:p>
        </p:txBody>
      </p:sp>
      <p:sp>
        <p:nvSpPr>
          <p:cNvPr id="24" name="Text 22"/>
          <p:cNvSpPr txBox="1"/>
          <p:nvPr/>
        </p:nvSpPr>
        <p:spPr>
          <a:xfrm>
            <a:off x="6766560" y="5303520"/>
            <a:ext cx="4389120" cy="457200"/>
          </a:xfrm>
          <a:prstGeom prst="rect">
            <a:avLst/>
          </a:prstGeom>
          <a:noFill/>
          <a:ln/>
        </p:spPr>
        <p:txBody>
          <a:bodyPr wrap="square" lIns="0" tIns="0" rIns="0" bIns="0" rtlCol="0" anchor="ctr"/>
          <a:lstStyle/>
          <a:p>
            <a:pPr marL="0" indent="0" algn="ctr">
              <a:buNone/>
            </a:pPr>
            <a:r>
              <a:rPr lang="en-US" sz="1200" i="1" dirty="0">
                <a:solidFill>
                  <a:schemeClr val="bg2">
                    <a:lumMod val="25000"/>
                  </a:schemeClr>
                </a:solidFill>
                <a:latin typeface="Calibri" pitchFamily="34" charset="0"/>
                <a:ea typeface="Calibri" pitchFamily="34" charset="-122"/>
                <a:cs typeface="Calibri" pitchFamily="34" charset="-120"/>
              </a:rPr>
              <a:t>advantage stays consistent, whatever the total</a:t>
            </a:r>
            <a:endParaRPr lang="en-US" sz="1200" dirty="0">
              <a:solidFill>
                <a:schemeClr val="bg2">
                  <a:lumMod val="2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Thesis Contribution: Iterative VEREFOO</a:t>
            </a:r>
            <a:endParaRPr lang="en-US" sz="3400" dirty="0"/>
          </a:p>
        </p:txBody>
      </p:sp>
      <p:sp>
        <p:nvSpPr>
          <p:cNvPr id="3" name="Text 1"/>
          <p:cNvSpPr txBox="1"/>
          <p:nvPr/>
        </p:nvSpPr>
        <p:spPr>
          <a:xfrm>
            <a:off x="640080" y="1417320"/>
            <a:ext cx="9636982" cy="1276184"/>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Pushes the incremental principle to its extreme</a:t>
            </a:r>
            <a:r>
              <a:rPr lang="en-US" sz="1500" b="1" dirty="0">
                <a:solidFill>
                  <a:srgbClr val="232A4D"/>
                </a:solidFill>
                <a:latin typeface="Calibri" pitchFamily="34" charset="0"/>
                <a:ea typeface="Calibri" pitchFamily="34" charset="-122"/>
                <a:cs typeface="Calibri" pitchFamily="34" charset="-120"/>
              </a:rPr>
              <a:t>: introduces exactly one new NSR at a time</a:t>
            </a:r>
            <a:endParaRPr lang="en-US" sz="1500" b="1"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Invokes React-VEREFOO internally at each step to compute the minimal update</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Two structures evolve across iterations to propagate intermediate results: </a:t>
            </a:r>
            <a:r>
              <a:rPr lang="en-US" sz="1500" dirty="0" err="1">
                <a:solidFill>
                  <a:srgbClr val="232A4D"/>
                </a:solidFill>
                <a:latin typeface="Menlo" panose="020B0609030804020204" pitchFamily="49" charset="0"/>
                <a:ea typeface="Menlo" panose="020B0609030804020204" pitchFamily="49" charset="0"/>
                <a:cs typeface="Menlo" panose="020B0609030804020204" pitchFamily="49" charset="0"/>
              </a:rPr>
              <a:t>consideredProps</a:t>
            </a:r>
            <a:r>
              <a:rPr lang="en-US" sz="1500" dirty="0">
                <a:solidFill>
                  <a:srgbClr val="232A4D"/>
                </a:solidFill>
                <a:latin typeface="Calibri" pitchFamily="34" charset="0"/>
                <a:ea typeface="Calibri" pitchFamily="34" charset="-122"/>
                <a:cs typeface="Calibri" pitchFamily="34" charset="-120"/>
              </a:rPr>
              <a:t> and </a:t>
            </a:r>
            <a:r>
              <a:rPr lang="en-US" sz="1500" dirty="0" err="1">
                <a:solidFill>
                  <a:srgbClr val="232A4D"/>
                </a:solidFill>
                <a:latin typeface="Menlo" panose="020B0609030804020204" pitchFamily="49" charset="0"/>
                <a:ea typeface="Menlo" panose="020B0609030804020204" pitchFamily="49" charset="0"/>
                <a:cs typeface="Menlo" panose="020B0609030804020204" pitchFamily="49" charset="0"/>
              </a:rPr>
              <a:t>currentGraph</a:t>
            </a:r>
            <a:endParaRPr lang="en-US" sz="1500" dirty="0">
              <a:latin typeface="Menlo" panose="020B0609030804020204" pitchFamily="49" charset="0"/>
              <a:ea typeface="Menlo" panose="020B0609030804020204" pitchFamily="49" charset="0"/>
              <a:cs typeface="Menlo" panose="020B0609030804020204" pitchFamily="49" charset="0"/>
            </a:endParaRPr>
          </a:p>
        </p:txBody>
      </p:sp>
      <p:sp>
        <p:nvSpPr>
          <p:cNvPr id="8" name="Text 6"/>
          <p:cNvSpPr txBox="1"/>
          <p:nvPr/>
        </p:nvSpPr>
        <p:spPr>
          <a:xfrm>
            <a:off x="822960" y="5756295"/>
            <a:ext cx="9871544" cy="324466"/>
          </a:xfrm>
          <a:prstGeom prst="rect">
            <a:avLst/>
          </a:prstGeom>
          <a:noFill/>
          <a:ln/>
        </p:spPr>
        <p:txBody>
          <a:bodyPr wrap="square" lIns="0" tIns="0" rIns="0" bIns="0" rtlCol="0" anchor="ctr"/>
          <a:lstStyle/>
          <a:p>
            <a:pPr marL="0" indent="0">
              <a:buNone/>
            </a:pPr>
            <a:r>
              <a:rPr lang="en-US" sz="1300" i="1" dirty="0">
                <a:solidFill>
                  <a:srgbClr val="5A6482"/>
                </a:solidFill>
                <a:latin typeface="Calibri" pitchFamily="34" charset="0"/>
                <a:ea typeface="Calibri" pitchFamily="34" charset="-122"/>
                <a:cs typeface="Calibri" pitchFamily="34" charset="-120"/>
              </a:rPr>
              <a:t>Correctness is always guaranteed: every NSR is satisfied by the final configuration.</a:t>
            </a:r>
            <a:endParaRPr lang="en-US" sz="1300" dirty="0"/>
          </a:p>
        </p:txBody>
      </p:sp>
      <p:sp>
        <p:nvSpPr>
          <p:cNvPr id="13" name="Text 8"/>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6</a:t>
            </a:r>
            <a:endParaRPr lang="en-US" sz="1100" dirty="0"/>
          </a:p>
        </p:txBody>
      </p:sp>
      <p:pic>
        <p:nvPicPr>
          <p:cNvPr id="11" name="Image 2" descr="imgs/logo.png">
            <a:extLst>
              <a:ext uri="{FF2B5EF4-FFF2-40B4-BE49-F238E27FC236}">
                <a16:creationId xmlns:a16="http://schemas.microsoft.com/office/drawing/2014/main" id="{BECECF15-AFE3-82A4-EE90-07307D00CCBB}"/>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5" name="Picture 14">
            <a:extLst>
              <a:ext uri="{FF2B5EF4-FFF2-40B4-BE49-F238E27FC236}">
                <a16:creationId xmlns:a16="http://schemas.microsoft.com/office/drawing/2014/main" id="{7B2F5F35-3BA0-B9FC-2092-92915192F777}"/>
              </a:ext>
            </a:extLst>
          </p:cNvPr>
          <p:cNvPicPr>
            <a:picLocks noChangeAspect="1"/>
          </p:cNvPicPr>
          <p:nvPr/>
        </p:nvPicPr>
        <p:blipFill>
          <a:blip r:embed="rId4"/>
          <a:srcRect l="3062" t="15223" r="2231" b="12184"/>
          <a:stretch>
            <a:fillRect/>
          </a:stretch>
        </p:blipFill>
        <p:spPr>
          <a:xfrm>
            <a:off x="548640" y="2872802"/>
            <a:ext cx="11091672" cy="256787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Structural Comparison</a:t>
            </a:r>
            <a:endParaRPr lang="en-US" sz="3400" dirty="0"/>
          </a:p>
        </p:txBody>
      </p:sp>
      <p:sp>
        <p:nvSpPr>
          <p:cNvPr id="3" name="Text 1"/>
          <p:cNvSpPr txBox="1"/>
          <p:nvPr/>
        </p:nvSpPr>
        <p:spPr>
          <a:xfrm>
            <a:off x="548640" y="1097280"/>
            <a:ext cx="10058400" cy="365760"/>
          </a:xfrm>
          <a:prstGeom prst="rect">
            <a:avLst/>
          </a:prstGeom>
          <a:noFill/>
          <a:ln/>
        </p:spPr>
        <p:txBody>
          <a:bodyPr wrap="square" lIns="0" tIns="0" rIns="0" bIns="0" rtlCol="0" anchor="ctr"/>
          <a:lstStyle/>
          <a:p>
            <a:pPr marL="0" indent="0">
              <a:buNone/>
            </a:pPr>
            <a:r>
              <a:rPr lang="en-US" sz="1500" dirty="0">
                <a:solidFill>
                  <a:srgbClr val="5A6482"/>
                </a:solidFill>
                <a:latin typeface="Calibri" pitchFamily="34" charset="0"/>
                <a:ea typeface="Calibri" pitchFamily="34" charset="-122"/>
                <a:cs typeface="Calibri" pitchFamily="34" charset="-120"/>
              </a:rPr>
              <a:t>How the three VEREFOO variants differ</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3291840"/>
        </p:xfrm>
        <a:graphic>
          <a:graphicData uri="http://schemas.openxmlformats.org/drawingml/2006/table">
            <a:tbl>
              <a:tblPr/>
              <a:tblGrid>
                <a:gridCol w="329184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658368">
                <a:tc>
                  <a:txBody>
                    <a:bodyPr/>
                    <a:lstStyle/>
                    <a:p>
                      <a:pPr marL="0" indent="0" algn="ctr">
                        <a:buNone/>
                      </a:pP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Vanilla</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React</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Iterative</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Solver calls</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one per NSR</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Added NSRs / call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all at once</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batch</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always 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Reuses configuration</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yes, every step</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Optimality</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global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local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local (greedy)</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5257800"/>
            <a:ext cx="11064240" cy="1005840"/>
          </a:xfrm>
          <a:prstGeom prst="roundRect">
            <a:avLst>
              <a:gd name="adj" fmla="val 10909"/>
            </a:avLst>
          </a:prstGeom>
          <a:solidFill>
            <a:srgbClr val="F2F5FC"/>
          </a:solidFill>
          <a:ln/>
        </p:spPr>
        <p:txBody>
          <a:bodyPr/>
          <a:lstStyle/>
          <a:p>
            <a:endParaRPr lang="en-IT"/>
          </a:p>
        </p:txBody>
      </p:sp>
      <p:sp>
        <p:nvSpPr>
          <p:cNvPr id="6" name="Text 3"/>
          <p:cNvSpPr txBox="1"/>
          <p:nvPr/>
        </p:nvSpPr>
        <p:spPr>
          <a:xfrm>
            <a:off x="822960" y="5394960"/>
            <a:ext cx="10515600"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Key idea:  </a:t>
            </a:r>
            <a:r>
              <a:rPr lang="en-US" sz="1400" dirty="0">
                <a:solidFill>
                  <a:srgbClr val="232A4D"/>
                </a:solidFill>
                <a:latin typeface="Calibri" pitchFamily="34" charset="0"/>
                <a:ea typeface="Calibri" pitchFamily="34" charset="-122"/>
                <a:cs typeface="Calibri" pitchFamily="34" charset="-120"/>
              </a:rPr>
              <a:t>collapsing the batch to exactly one NSR keeps the reconfiguration area minimal at every step, regardless of how many requirements must ultimately be incorporated.</a:t>
            </a:r>
            <a:endParaRPr lang="en-US" sz="1400" dirty="0"/>
          </a:p>
        </p:txBody>
      </p:sp>
      <p:sp>
        <p:nvSpPr>
          <p:cNvPr id="9" name="Text 4"/>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7</a:t>
            </a:r>
            <a:endParaRPr lang="en-US" sz="1100" dirty="0"/>
          </a:p>
        </p:txBody>
      </p:sp>
      <p:pic>
        <p:nvPicPr>
          <p:cNvPr id="7" name="Image 2" descr="imgs/logo.png">
            <a:extLst>
              <a:ext uri="{FF2B5EF4-FFF2-40B4-BE49-F238E27FC236}">
                <a16:creationId xmlns:a16="http://schemas.microsoft.com/office/drawing/2014/main" id="{387856BB-413B-5FB6-6ABA-205455E76461}"/>
              </a:ext>
            </a:extLst>
          </p:cNvPr>
          <p:cNvPicPr>
            <a:picLocks noChangeAspect="1"/>
          </p:cNvPicPr>
          <p:nvPr/>
        </p:nvPicPr>
        <p:blipFill>
          <a:blip r:embed="rId3"/>
          <a:stretch>
            <a:fillRect/>
          </a:stretch>
        </p:blipFill>
        <p:spPr>
          <a:xfrm>
            <a:off x="368808" y="6350655"/>
            <a:ext cx="769199" cy="3244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Implementation</a:t>
            </a:r>
            <a:endParaRPr lang="en-US" sz="3400" dirty="0"/>
          </a:p>
        </p:txBody>
      </p:sp>
      <p:sp>
        <p:nvSpPr>
          <p:cNvPr id="3" name="Shape 1"/>
          <p:cNvSpPr/>
          <p:nvPr/>
        </p:nvSpPr>
        <p:spPr>
          <a:xfrm>
            <a:off x="548640" y="1527048"/>
            <a:ext cx="384048" cy="384048"/>
          </a:xfrm>
          <a:prstGeom prst="ellipse">
            <a:avLst/>
          </a:prstGeom>
          <a:solidFill>
            <a:srgbClr val="F2A65A"/>
          </a:solidFill>
          <a:ln/>
        </p:spPr>
        <p:txBody>
          <a:bodyPr/>
          <a:lstStyle/>
          <a:p>
            <a:endParaRPr lang="en-IT"/>
          </a:p>
        </p:txBody>
      </p:sp>
      <p:sp>
        <p:nvSpPr>
          <p:cNvPr id="4" name="Text 2"/>
          <p:cNvSpPr txBox="1"/>
          <p:nvPr/>
        </p:nvSpPr>
        <p:spPr>
          <a:xfrm>
            <a:off x="548640" y="1527048"/>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463040"/>
            <a:ext cx="2895367" cy="5029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VerefooSerializer stays the entry point</a:t>
            </a:r>
            <a:endParaRPr lang="en-US" sz="1400" dirty="0"/>
          </a:p>
        </p:txBody>
      </p:sp>
      <p:sp>
        <p:nvSpPr>
          <p:cNvPr id="6" name="Text 4"/>
          <p:cNvSpPr txBox="1"/>
          <p:nvPr/>
        </p:nvSpPr>
        <p:spPr>
          <a:xfrm>
            <a:off x="1097280" y="1808747"/>
            <a:ext cx="1883234" cy="228600"/>
          </a:xfrm>
          <a:prstGeom prst="rect">
            <a:avLst/>
          </a:prstGeom>
          <a:noFill/>
          <a:ln/>
        </p:spPr>
        <p:txBody>
          <a:bodyPr wrap="square" lIns="0" tIns="0" rIns="0" bIns="0" rtlCol="0" anchor="ctr"/>
          <a:lstStyle/>
          <a:p>
            <a:pPr marL="0" indent="0">
              <a:buNone/>
            </a:pPr>
            <a:r>
              <a:rPr lang="en-US" sz="1200" dirty="0">
                <a:solidFill>
                  <a:srgbClr val="5A6482"/>
                </a:solidFill>
                <a:latin typeface="Calibri" pitchFamily="34" charset="0"/>
                <a:ea typeface="Calibri" pitchFamily="34" charset="-122"/>
                <a:cs typeface="Calibri" pitchFamily="34" charset="-120"/>
              </a:rPr>
              <a:t>Shared by all three variants</a:t>
            </a:r>
            <a:endParaRPr lang="en-US" sz="1200" dirty="0"/>
          </a:p>
        </p:txBody>
      </p:sp>
      <p:sp>
        <p:nvSpPr>
          <p:cNvPr id="7" name="Shape 5"/>
          <p:cNvSpPr/>
          <p:nvPr/>
        </p:nvSpPr>
        <p:spPr>
          <a:xfrm>
            <a:off x="740664" y="2103120"/>
            <a:ext cx="0" cy="411480"/>
          </a:xfrm>
          <a:prstGeom prst="line">
            <a:avLst/>
          </a:prstGeom>
          <a:noFill/>
          <a:ln w="19050">
            <a:solidFill>
              <a:srgbClr val="CADCFC"/>
            </a:solidFill>
            <a:prstDash val="dash"/>
          </a:ln>
        </p:spPr>
        <p:txBody>
          <a:bodyPr/>
          <a:lstStyle/>
          <a:p>
            <a:endParaRPr lang="en-IT"/>
          </a:p>
        </p:txBody>
      </p:sp>
      <p:sp>
        <p:nvSpPr>
          <p:cNvPr id="8" name="Shape 6"/>
          <p:cNvSpPr/>
          <p:nvPr/>
        </p:nvSpPr>
        <p:spPr>
          <a:xfrm>
            <a:off x="548640" y="2560320"/>
            <a:ext cx="384048" cy="384048"/>
          </a:xfrm>
          <a:prstGeom prst="ellipse">
            <a:avLst/>
          </a:prstGeom>
          <a:solidFill>
            <a:srgbClr val="F2A65A"/>
          </a:solidFill>
          <a:ln/>
        </p:spPr>
        <p:txBody>
          <a:bodyPr/>
          <a:lstStyle/>
          <a:p>
            <a:endParaRPr lang="en-IT"/>
          </a:p>
        </p:txBody>
      </p:sp>
      <p:sp>
        <p:nvSpPr>
          <p:cNvPr id="9" name="Text 7"/>
          <p:cNvSpPr txBox="1"/>
          <p:nvPr/>
        </p:nvSpPr>
        <p:spPr>
          <a:xfrm>
            <a:off x="548640" y="2560320"/>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626462"/>
            <a:ext cx="4572000" cy="273923"/>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New loop wraps React-VEREFOO</a:t>
            </a:r>
            <a:endParaRPr lang="en-US" sz="1400" dirty="0"/>
          </a:p>
        </p:txBody>
      </p:sp>
      <p:sp>
        <p:nvSpPr>
          <p:cNvPr id="11" name="Text 9"/>
          <p:cNvSpPr txBox="1"/>
          <p:nvPr/>
        </p:nvSpPr>
        <p:spPr>
          <a:xfrm>
            <a:off x="1099204" y="2865156"/>
            <a:ext cx="4572000" cy="246888"/>
          </a:xfrm>
          <a:prstGeom prst="rect">
            <a:avLst/>
          </a:prstGeom>
          <a:noFill/>
          <a:ln/>
        </p:spPr>
        <p:txBody>
          <a:bodyPr wrap="square" lIns="0" tIns="0" rIns="0" bIns="0" rtlCol="0" anchor="ctr"/>
          <a:lstStyle/>
          <a:p>
            <a:pPr marL="0" indent="0">
              <a:buNone/>
            </a:pPr>
            <a:r>
              <a:rPr lang="en-US" sz="1200" dirty="0">
                <a:solidFill>
                  <a:srgbClr val="5A6482"/>
                </a:solidFill>
                <a:latin typeface="Calibri" pitchFamily="34" charset="0"/>
                <a:ea typeface="Calibri" pitchFamily="34" charset="-122"/>
                <a:cs typeface="Calibri" pitchFamily="34" charset="-120"/>
              </a:rPr>
              <a:t>One NSR introduced at each call, not a full batch</a:t>
            </a:r>
            <a:endParaRPr lang="en-US" sz="1200" dirty="0"/>
          </a:p>
        </p:txBody>
      </p:sp>
      <p:sp>
        <p:nvSpPr>
          <p:cNvPr id="12" name="Shape 10"/>
          <p:cNvSpPr/>
          <p:nvPr/>
        </p:nvSpPr>
        <p:spPr>
          <a:xfrm>
            <a:off x="740664" y="3136392"/>
            <a:ext cx="0" cy="411480"/>
          </a:xfrm>
          <a:prstGeom prst="line">
            <a:avLst/>
          </a:prstGeom>
          <a:noFill/>
          <a:ln w="19050">
            <a:solidFill>
              <a:srgbClr val="CADCFC"/>
            </a:solidFill>
            <a:prstDash val="dash"/>
          </a:ln>
        </p:spPr>
        <p:txBody>
          <a:bodyPr/>
          <a:lstStyle/>
          <a:p>
            <a:endParaRPr lang="en-IT"/>
          </a:p>
        </p:txBody>
      </p:sp>
      <p:sp>
        <p:nvSpPr>
          <p:cNvPr id="13" name="Shape 11"/>
          <p:cNvSpPr/>
          <p:nvPr/>
        </p:nvSpPr>
        <p:spPr>
          <a:xfrm>
            <a:off x="548640" y="3593592"/>
            <a:ext cx="384048" cy="384048"/>
          </a:xfrm>
          <a:prstGeom prst="ellipse">
            <a:avLst/>
          </a:prstGeom>
          <a:solidFill>
            <a:srgbClr val="F2A65A"/>
          </a:solidFill>
          <a:ln/>
        </p:spPr>
        <p:txBody>
          <a:bodyPr/>
          <a:lstStyle/>
          <a:p>
            <a:endParaRPr lang="en-IT"/>
          </a:p>
        </p:txBody>
      </p:sp>
      <p:sp>
        <p:nvSpPr>
          <p:cNvPr id="14" name="Text 12"/>
          <p:cNvSpPr txBox="1"/>
          <p:nvPr/>
        </p:nvSpPr>
        <p:spPr>
          <a:xfrm>
            <a:off x="548640" y="3593592"/>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097280" y="3651719"/>
            <a:ext cx="4572000" cy="286547"/>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State updated every iteration</a:t>
            </a:r>
            <a:endParaRPr lang="en-US" sz="1400" dirty="0"/>
          </a:p>
        </p:txBody>
      </p:sp>
      <p:sp>
        <p:nvSpPr>
          <p:cNvPr id="16" name="Text 14"/>
          <p:cNvSpPr txBox="1"/>
          <p:nvPr/>
        </p:nvSpPr>
        <p:spPr>
          <a:xfrm>
            <a:off x="1116386" y="3883402"/>
            <a:ext cx="4572000" cy="404497"/>
          </a:xfrm>
          <a:prstGeom prst="rect">
            <a:avLst/>
          </a:prstGeom>
          <a:noFill/>
          <a:ln/>
        </p:spPr>
        <p:txBody>
          <a:bodyPr wrap="square" lIns="0" tIns="0" rIns="0" bIns="0" rtlCol="0" anchor="ctr"/>
          <a:lstStyle/>
          <a:p>
            <a:pPr marL="0" indent="0">
              <a:buNone/>
            </a:pPr>
            <a:r>
              <a:rPr lang="en-US" sz="1200" dirty="0">
                <a:solidFill>
                  <a:srgbClr val="5A6482"/>
                </a:solidFill>
                <a:latin typeface="Calibri" pitchFamily="34" charset="0"/>
                <a:ea typeface="Calibri" pitchFamily="34" charset="-122"/>
                <a:cs typeface="Calibri" pitchFamily="34" charset="-120"/>
              </a:rPr>
              <a:t>consideredProps &amp; currentGraph, updated at each call to propagate the intermediate result into the next iteration</a:t>
            </a:r>
            <a:endParaRPr lang="en-US" sz="1200" dirty="0"/>
          </a:p>
        </p:txBody>
      </p:sp>
      <p:sp>
        <p:nvSpPr>
          <p:cNvPr id="17" name="Shape 15"/>
          <p:cNvSpPr/>
          <p:nvPr/>
        </p:nvSpPr>
        <p:spPr>
          <a:xfrm>
            <a:off x="740664" y="4169664"/>
            <a:ext cx="0" cy="411480"/>
          </a:xfrm>
          <a:prstGeom prst="line">
            <a:avLst/>
          </a:prstGeom>
          <a:noFill/>
          <a:ln w="19050">
            <a:solidFill>
              <a:srgbClr val="CADCFC"/>
            </a:solidFill>
            <a:prstDash val="dash"/>
          </a:ln>
        </p:spPr>
        <p:txBody>
          <a:bodyPr/>
          <a:lstStyle/>
          <a:p>
            <a:endParaRPr lang="en-IT"/>
          </a:p>
        </p:txBody>
      </p:sp>
      <p:sp>
        <p:nvSpPr>
          <p:cNvPr id="18" name="Shape 16"/>
          <p:cNvSpPr/>
          <p:nvPr/>
        </p:nvSpPr>
        <p:spPr>
          <a:xfrm>
            <a:off x="548640" y="4626864"/>
            <a:ext cx="384048" cy="384048"/>
          </a:xfrm>
          <a:prstGeom prst="ellipse">
            <a:avLst/>
          </a:prstGeom>
          <a:solidFill>
            <a:srgbClr val="F2A65A"/>
          </a:solidFill>
          <a:ln/>
        </p:spPr>
        <p:txBody>
          <a:bodyPr/>
          <a:lstStyle/>
          <a:p>
            <a:endParaRPr lang="en-IT"/>
          </a:p>
        </p:txBody>
      </p:sp>
      <p:sp>
        <p:nvSpPr>
          <p:cNvPr id="19" name="Text 17"/>
          <p:cNvSpPr txBox="1"/>
          <p:nvPr/>
        </p:nvSpPr>
        <p:spPr>
          <a:xfrm>
            <a:off x="548640" y="4626864"/>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4</a:t>
            </a:r>
            <a:endParaRPr lang="en-US" sz="1600" dirty="0"/>
          </a:p>
        </p:txBody>
      </p:sp>
      <p:sp>
        <p:nvSpPr>
          <p:cNvPr id="20" name="Text 18"/>
          <p:cNvSpPr txBox="1"/>
          <p:nvPr/>
        </p:nvSpPr>
        <p:spPr>
          <a:xfrm>
            <a:off x="1097280" y="4562856"/>
            <a:ext cx="4572000" cy="5029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All other components remained untouched</a:t>
            </a:r>
            <a:endParaRPr lang="en-US" sz="1400" dirty="0"/>
          </a:p>
        </p:txBody>
      </p:sp>
      <p:sp>
        <p:nvSpPr>
          <p:cNvPr id="21" name="Text 19"/>
          <p:cNvSpPr txBox="1"/>
          <p:nvPr/>
        </p:nvSpPr>
        <p:spPr>
          <a:xfrm>
            <a:off x="1097280" y="4922029"/>
            <a:ext cx="4572000" cy="237744"/>
          </a:xfrm>
          <a:prstGeom prst="rect">
            <a:avLst/>
          </a:prstGeom>
          <a:noFill/>
          <a:ln/>
        </p:spPr>
        <p:txBody>
          <a:bodyPr wrap="square" lIns="0" tIns="0" rIns="0" bIns="0" rtlCol="0" anchor="ctr"/>
          <a:lstStyle/>
          <a:p>
            <a:pPr marL="0" indent="0">
              <a:buNone/>
            </a:pPr>
            <a:r>
              <a:rPr lang="en-US" sz="1200" dirty="0">
                <a:solidFill>
                  <a:srgbClr val="5A6482"/>
                </a:solidFill>
                <a:latin typeface="Calibri" pitchFamily="34" charset="0"/>
                <a:ea typeface="Calibri" pitchFamily="34" charset="-122"/>
                <a:cs typeface="Calibri" pitchFamily="34" charset="-120"/>
              </a:rPr>
              <a:t>MaxSMT encoding, VerefooProxy, Translator unchanged</a:t>
            </a:r>
            <a:endParaRPr lang="en-US" sz="1200" dirty="0"/>
          </a:p>
        </p:txBody>
      </p:sp>
      <p:sp>
        <p:nvSpPr>
          <p:cNvPr id="22" name="Shape 20"/>
          <p:cNvSpPr/>
          <p:nvPr/>
        </p:nvSpPr>
        <p:spPr>
          <a:xfrm>
            <a:off x="7040880" y="1417320"/>
            <a:ext cx="3657600" cy="457200"/>
          </a:xfrm>
          <a:prstGeom prst="roundRect">
            <a:avLst>
              <a:gd name="adj" fmla="val 16000"/>
            </a:avLst>
          </a:prstGeom>
          <a:solidFill>
            <a:srgbClr val="F2F5FC"/>
          </a:solidFill>
          <a:ln w="12700">
            <a:solidFill>
              <a:srgbClr val="CADCFC"/>
            </a:solidFill>
            <a:prstDash val="solid"/>
          </a:ln>
        </p:spPr>
        <p:txBody>
          <a:bodyPr/>
          <a:lstStyle/>
          <a:p>
            <a:endParaRPr lang="en-IT"/>
          </a:p>
        </p:txBody>
      </p:sp>
      <p:sp>
        <p:nvSpPr>
          <p:cNvPr id="23" name="Text 21"/>
          <p:cNvSpPr txBox="1"/>
          <p:nvPr/>
        </p:nvSpPr>
        <p:spPr>
          <a:xfrm>
            <a:off x="7040880" y="1417320"/>
            <a:ext cx="3657600" cy="457200"/>
          </a:xfrm>
          <a:prstGeom prst="rect">
            <a:avLst/>
          </a:prstGeom>
          <a:noFill/>
          <a:ln/>
        </p:spPr>
        <p:txBody>
          <a:bodyPr wrap="square" lIns="0" tIns="0" rIns="0" bIns="0" rtlCol="0" anchor="ctr"/>
          <a:lstStyle/>
          <a:p>
            <a:pPr marL="0" indent="0" algn="ctr">
              <a:buNone/>
            </a:pPr>
            <a:r>
              <a:rPr lang="en-US" sz="1250" dirty="0">
                <a:solidFill>
                  <a:srgbClr val="232A4D"/>
                </a:solidFill>
                <a:latin typeface="Calibri" pitchFamily="34" charset="0"/>
                <a:ea typeface="Calibri" pitchFamily="34" charset="-122"/>
                <a:cs typeface="Calibri" pitchFamily="34" charset="-120"/>
              </a:rPr>
              <a:t>Batch of N new NSRs</a:t>
            </a:r>
            <a:endParaRPr lang="en-US" sz="1250" dirty="0"/>
          </a:p>
        </p:txBody>
      </p:sp>
      <p:sp>
        <p:nvSpPr>
          <p:cNvPr id="24" name="Text 22"/>
          <p:cNvSpPr txBox="1"/>
          <p:nvPr/>
        </p:nvSpPr>
        <p:spPr>
          <a:xfrm>
            <a:off x="8732520" y="1892808"/>
            <a:ext cx="274320" cy="228600"/>
          </a:xfrm>
          <a:prstGeom prst="rect">
            <a:avLst/>
          </a:prstGeom>
          <a:noFill/>
          <a:ln/>
        </p:spPr>
        <p:txBody>
          <a:bodyPr wrap="square" lIns="0" tIns="0" rIns="0" bIns="0" rtlCol="0" anchor="ctr"/>
          <a:lstStyle/>
          <a:p>
            <a:pPr marL="0" indent="0" algn="ctr">
              <a:buNone/>
            </a:pPr>
            <a:r>
              <a:rPr lang="en-US" sz="1200" dirty="0">
                <a:solidFill>
                  <a:srgbClr val="5A6482"/>
                </a:solidFill>
                <a:latin typeface="Calibri" pitchFamily="34" charset="0"/>
                <a:ea typeface="Calibri" pitchFamily="34" charset="-122"/>
                <a:cs typeface="Calibri" pitchFamily="34" charset="-120"/>
              </a:rPr>
              <a:t>▼</a:t>
            </a:r>
            <a:endParaRPr lang="en-US" sz="1200" dirty="0"/>
          </a:p>
        </p:txBody>
      </p:sp>
      <p:sp>
        <p:nvSpPr>
          <p:cNvPr id="25" name="Shape 23"/>
          <p:cNvSpPr/>
          <p:nvPr/>
        </p:nvSpPr>
        <p:spPr>
          <a:xfrm>
            <a:off x="6848702" y="2139696"/>
            <a:ext cx="4246018" cy="2679192"/>
          </a:xfrm>
          <a:prstGeom prst="roundRect">
            <a:avLst>
              <a:gd name="adj" fmla="val 4242"/>
            </a:avLst>
          </a:prstGeom>
          <a:solidFill>
            <a:srgbClr val="FFF8EF"/>
          </a:solidFill>
          <a:ln w="22225">
            <a:solidFill>
              <a:srgbClr val="F2A65A"/>
            </a:solidFill>
            <a:prstDash val="dash"/>
          </a:ln>
        </p:spPr>
        <p:txBody>
          <a:bodyPr/>
          <a:lstStyle/>
          <a:p>
            <a:endParaRPr lang="en-IT"/>
          </a:p>
        </p:txBody>
      </p:sp>
      <p:sp>
        <p:nvSpPr>
          <p:cNvPr id="26" name="Text 24"/>
          <p:cNvSpPr txBox="1"/>
          <p:nvPr/>
        </p:nvSpPr>
        <p:spPr>
          <a:xfrm>
            <a:off x="7022754" y="2255586"/>
            <a:ext cx="2733467" cy="320040"/>
          </a:xfrm>
          <a:prstGeom prst="rect">
            <a:avLst/>
          </a:prstGeom>
          <a:noFill/>
          <a:ln/>
        </p:spPr>
        <p:txBody>
          <a:bodyPr wrap="square" lIns="0" tIns="0" rIns="0" bIns="0" rtlCol="0" anchor="ctr"/>
          <a:lstStyle/>
          <a:p>
            <a:pPr marL="0" indent="0">
              <a:buNone/>
            </a:pPr>
            <a:r>
              <a:rPr lang="en-US" sz="1250" b="1" dirty="0">
                <a:solidFill>
                  <a:srgbClr val="F2A65A"/>
                </a:solidFill>
                <a:latin typeface="Calibri" pitchFamily="34" charset="0"/>
                <a:ea typeface="Calibri" pitchFamily="34" charset="-122"/>
                <a:cs typeface="Calibri" pitchFamily="34" charset="-120"/>
              </a:rPr>
              <a:t>VerefooSerializer — new iterative loop</a:t>
            </a:r>
            <a:endParaRPr lang="en-US" sz="1250" dirty="0"/>
          </a:p>
        </p:txBody>
      </p:sp>
      <p:sp>
        <p:nvSpPr>
          <p:cNvPr id="27" name="Shape 25"/>
          <p:cNvSpPr/>
          <p:nvPr/>
        </p:nvSpPr>
        <p:spPr>
          <a:xfrm>
            <a:off x="7214462" y="2642616"/>
            <a:ext cx="2514600" cy="411480"/>
          </a:xfrm>
          <a:prstGeom prst="roundRect">
            <a:avLst>
              <a:gd name="adj" fmla="val 17778"/>
            </a:avLst>
          </a:prstGeom>
          <a:solidFill>
            <a:srgbClr val="FFFFFF"/>
          </a:solidFill>
          <a:ln w="12700">
            <a:solidFill>
              <a:srgbClr val="F2A65A"/>
            </a:solidFill>
            <a:prstDash val="solid"/>
          </a:ln>
        </p:spPr>
        <p:txBody>
          <a:bodyPr/>
          <a:lstStyle/>
          <a:p>
            <a:endParaRPr lang="en-IT"/>
          </a:p>
        </p:txBody>
      </p:sp>
      <p:sp>
        <p:nvSpPr>
          <p:cNvPr id="28" name="Text 26"/>
          <p:cNvSpPr txBox="1"/>
          <p:nvPr/>
        </p:nvSpPr>
        <p:spPr>
          <a:xfrm>
            <a:off x="7214461" y="2664681"/>
            <a:ext cx="2514601" cy="411480"/>
          </a:xfrm>
          <a:prstGeom prst="rect">
            <a:avLst/>
          </a:prstGeom>
          <a:noFill/>
          <a:ln/>
        </p:spPr>
        <p:txBody>
          <a:bodyPr wrap="square" lIns="0" tIns="0" rIns="0" bIns="0" rtlCol="0" anchor="ctr"/>
          <a:lstStyle/>
          <a:p>
            <a:pPr marL="0" indent="0" algn="ctr">
              <a:buNone/>
            </a:pPr>
            <a:r>
              <a:rPr lang="en-US" sz="1150" dirty="0">
                <a:solidFill>
                  <a:srgbClr val="232A4D"/>
                </a:solidFill>
                <a:latin typeface="Calibri" pitchFamily="34" charset="0"/>
                <a:ea typeface="Calibri" pitchFamily="34" charset="-122"/>
                <a:cs typeface="Calibri" pitchFamily="34" charset="-120"/>
              </a:rPr>
              <a:t>unpack → 1 NSR at a time</a:t>
            </a:r>
            <a:endParaRPr lang="en-US" sz="1150" dirty="0"/>
          </a:p>
        </p:txBody>
      </p:sp>
      <p:sp>
        <p:nvSpPr>
          <p:cNvPr id="29" name="Text 27"/>
          <p:cNvSpPr txBox="1"/>
          <p:nvPr/>
        </p:nvSpPr>
        <p:spPr>
          <a:xfrm>
            <a:off x="8271986" y="3090044"/>
            <a:ext cx="274320" cy="201168"/>
          </a:xfrm>
          <a:prstGeom prst="rect">
            <a:avLst/>
          </a:prstGeom>
          <a:noFill/>
          <a:ln/>
        </p:spPr>
        <p:txBody>
          <a:bodyPr wrap="square" lIns="0" tIns="0" rIns="0" bIns="0" rtlCol="0" anchor="ctr"/>
          <a:lstStyle/>
          <a:p>
            <a:pPr marL="0" indent="0" algn="ctr">
              <a:buNone/>
            </a:pPr>
            <a:r>
              <a:rPr lang="en-US" sz="1100" dirty="0">
                <a:solidFill>
                  <a:srgbClr val="5A6482"/>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7552393" y="3339150"/>
            <a:ext cx="1633993" cy="658368"/>
          </a:xfrm>
          <a:prstGeom prst="roundRect">
            <a:avLst>
              <a:gd name="adj" fmla="val 11111"/>
            </a:avLst>
          </a:prstGeom>
          <a:solidFill>
            <a:srgbClr val="1E2761"/>
          </a:solidFill>
          <a:ln/>
        </p:spPr>
        <p:txBody>
          <a:bodyPr/>
          <a:lstStyle/>
          <a:p>
            <a:endParaRPr lang="en-IT"/>
          </a:p>
        </p:txBody>
      </p:sp>
      <p:sp>
        <p:nvSpPr>
          <p:cNvPr id="31" name="Text 29"/>
          <p:cNvSpPr txBox="1"/>
          <p:nvPr/>
        </p:nvSpPr>
        <p:spPr>
          <a:xfrm>
            <a:off x="7592150" y="3328416"/>
            <a:ext cx="1633992" cy="658368"/>
          </a:xfrm>
          <a:prstGeom prst="rect">
            <a:avLst/>
          </a:prstGeom>
          <a:noFill/>
          <a:ln/>
        </p:spPr>
        <p:txBody>
          <a:bodyPr wrap="square" lIns="0" tIns="0" rIns="0" bIns="0" rtlCol="0" anchor="ctr"/>
          <a:lstStyle/>
          <a:p>
            <a:pPr marL="0" indent="0" algn="ctr">
              <a:lnSpc>
                <a:spcPct val="105000"/>
              </a:lnSpc>
              <a:buNone/>
            </a:pPr>
            <a:r>
              <a:rPr lang="en-US" sz="1200" b="1" dirty="0">
                <a:solidFill>
                  <a:srgbClr val="FFFFFF"/>
                </a:solidFill>
                <a:latin typeface="Calibri" pitchFamily="34" charset="0"/>
                <a:ea typeface="Calibri" pitchFamily="34" charset="-122"/>
                <a:cs typeface="Calibri" pitchFamily="34" charset="-120"/>
              </a:rPr>
              <a:t>Solver</a:t>
            </a:r>
            <a:r>
              <a:rPr lang="en-US" sz="1200" dirty="0"/>
              <a:t> </a:t>
            </a:r>
            <a:r>
              <a:rPr lang="en-US" sz="1200" b="1" dirty="0">
                <a:solidFill>
                  <a:srgbClr val="FFFFFF"/>
                </a:solidFill>
                <a:latin typeface="Calibri" pitchFamily="34" charset="0"/>
                <a:ea typeface="Calibri" pitchFamily="34" charset="-122"/>
                <a:cs typeface="Calibri" pitchFamily="34" charset="-120"/>
              </a:rPr>
              <a:t>(unchanged)</a:t>
            </a:r>
            <a:endParaRPr lang="en-US" sz="1200" dirty="0"/>
          </a:p>
        </p:txBody>
      </p:sp>
      <p:sp>
        <p:nvSpPr>
          <p:cNvPr id="32" name="Shape 30"/>
          <p:cNvSpPr/>
          <p:nvPr/>
        </p:nvSpPr>
        <p:spPr>
          <a:xfrm>
            <a:off x="10124487" y="3364992"/>
            <a:ext cx="0" cy="1252728"/>
          </a:xfrm>
          <a:prstGeom prst="line">
            <a:avLst/>
          </a:prstGeom>
          <a:noFill/>
          <a:ln w="19050">
            <a:solidFill>
              <a:srgbClr val="F2A65A"/>
            </a:solidFill>
            <a:prstDash val="dash"/>
          </a:ln>
        </p:spPr>
        <p:txBody>
          <a:bodyPr/>
          <a:lstStyle/>
          <a:p>
            <a:endParaRPr lang="en-IT"/>
          </a:p>
        </p:txBody>
      </p:sp>
      <p:sp>
        <p:nvSpPr>
          <p:cNvPr id="33" name="Text 31"/>
          <p:cNvSpPr txBox="1"/>
          <p:nvPr/>
        </p:nvSpPr>
        <p:spPr>
          <a:xfrm>
            <a:off x="9890076" y="2990088"/>
            <a:ext cx="451619" cy="414342"/>
          </a:xfrm>
          <a:prstGeom prst="rect">
            <a:avLst/>
          </a:prstGeom>
          <a:noFill/>
          <a:ln/>
        </p:spPr>
        <p:txBody>
          <a:bodyPr wrap="square" lIns="0" tIns="0" rIns="0" bIns="0" rtlCol="0" anchor="ctr"/>
          <a:lstStyle/>
          <a:p>
            <a:pPr marL="0" indent="0" algn="ctr">
              <a:buNone/>
            </a:pPr>
            <a:r>
              <a:rPr lang="en-US" sz="2000" b="1" dirty="0">
                <a:solidFill>
                  <a:srgbClr val="F2A65A"/>
                </a:solidFill>
                <a:latin typeface="Calibri" pitchFamily="34" charset="0"/>
                <a:ea typeface="Calibri" pitchFamily="34" charset="-122"/>
                <a:cs typeface="Calibri" pitchFamily="34" charset="-120"/>
              </a:rPr>
              <a:t>↻</a:t>
            </a:r>
            <a:endParaRPr lang="en-US" sz="2000" b="1" dirty="0"/>
          </a:p>
        </p:txBody>
      </p:sp>
      <p:sp>
        <p:nvSpPr>
          <p:cNvPr id="34" name="Text 32"/>
          <p:cNvSpPr txBox="1"/>
          <p:nvPr/>
        </p:nvSpPr>
        <p:spPr>
          <a:xfrm>
            <a:off x="10341695" y="3662696"/>
            <a:ext cx="1005840" cy="530352"/>
          </a:xfrm>
          <a:prstGeom prst="rect">
            <a:avLst/>
          </a:prstGeom>
          <a:noFill/>
          <a:ln/>
        </p:spPr>
        <p:txBody>
          <a:bodyPr wrap="square" lIns="0" tIns="0" rIns="0" bIns="0" rtlCol="0" anchor="ctr"/>
          <a:lstStyle/>
          <a:p>
            <a:pPr marL="0" indent="0">
              <a:lnSpc>
                <a:spcPct val="100000"/>
              </a:lnSpc>
              <a:buNone/>
            </a:pPr>
            <a:r>
              <a:rPr lang="en-US" sz="950" i="1" dirty="0">
                <a:solidFill>
                  <a:srgbClr val="F2A65A"/>
                </a:solidFill>
                <a:latin typeface="Calibri" pitchFamily="34" charset="0"/>
                <a:ea typeface="Calibri" pitchFamily="34" charset="-122"/>
                <a:cs typeface="Calibri" pitchFamily="34" charset="-120"/>
              </a:rPr>
              <a:t>repeat:</a:t>
            </a:r>
            <a:endParaRPr lang="en-US" sz="950" dirty="0"/>
          </a:p>
          <a:p>
            <a:pPr marL="0" indent="0">
              <a:lnSpc>
                <a:spcPct val="100000"/>
              </a:lnSpc>
              <a:buNone/>
            </a:pPr>
            <a:r>
              <a:rPr lang="en-US" sz="950" i="1" dirty="0">
                <a:solidFill>
                  <a:srgbClr val="F2A65A"/>
                </a:solidFill>
                <a:latin typeface="Calibri" pitchFamily="34" charset="0"/>
                <a:ea typeface="Calibri" pitchFamily="34" charset="-122"/>
                <a:cs typeface="Calibri" pitchFamily="34" charset="-120"/>
              </a:rPr>
              <a:t>next NSR</a:t>
            </a:r>
            <a:endParaRPr lang="en-US" sz="950" dirty="0"/>
          </a:p>
        </p:txBody>
      </p:sp>
      <p:sp>
        <p:nvSpPr>
          <p:cNvPr id="35" name="Text 33"/>
          <p:cNvSpPr txBox="1"/>
          <p:nvPr/>
        </p:nvSpPr>
        <p:spPr>
          <a:xfrm>
            <a:off x="7289006" y="4224528"/>
            <a:ext cx="2240280" cy="219456"/>
          </a:xfrm>
          <a:prstGeom prst="rect">
            <a:avLst/>
          </a:prstGeom>
          <a:noFill/>
          <a:ln/>
        </p:spPr>
        <p:txBody>
          <a:bodyPr wrap="square" lIns="0" tIns="0" rIns="0" bIns="0" rtlCol="0" anchor="ctr"/>
          <a:lstStyle/>
          <a:p>
            <a:pPr marL="0" indent="0" algn="ctr">
              <a:buNone/>
            </a:pPr>
            <a:r>
              <a:rPr lang="en-US" sz="1050" i="1" dirty="0">
                <a:solidFill>
                  <a:srgbClr val="5A6482"/>
                </a:solidFill>
                <a:latin typeface="Calibri" pitchFamily="34" charset="0"/>
                <a:ea typeface="Calibri" pitchFamily="34" charset="-122"/>
                <a:cs typeface="Calibri" pitchFamily="34" charset="-120"/>
              </a:rPr>
              <a:t>Update </a:t>
            </a:r>
            <a:r>
              <a:rPr lang="en-US" sz="1050" i="1" dirty="0" err="1">
                <a:solidFill>
                  <a:srgbClr val="5A6482"/>
                </a:solidFill>
                <a:latin typeface="Calibri" pitchFamily="34" charset="0"/>
                <a:ea typeface="Calibri" pitchFamily="34" charset="-122"/>
                <a:cs typeface="Calibri" pitchFamily="34" charset="-120"/>
              </a:rPr>
              <a:t>consideredProps</a:t>
            </a:r>
            <a:r>
              <a:rPr lang="en-US" sz="1050" i="1" dirty="0">
                <a:solidFill>
                  <a:srgbClr val="5A6482"/>
                </a:solidFill>
                <a:latin typeface="Calibri" pitchFamily="34" charset="0"/>
                <a:ea typeface="Calibri" pitchFamily="34" charset="-122"/>
                <a:cs typeface="Calibri" pitchFamily="34" charset="-120"/>
              </a:rPr>
              <a:t> + </a:t>
            </a:r>
            <a:r>
              <a:rPr lang="en-US" sz="1050" i="1" dirty="0" err="1">
                <a:solidFill>
                  <a:srgbClr val="5A6482"/>
                </a:solidFill>
                <a:latin typeface="Calibri" pitchFamily="34" charset="0"/>
                <a:ea typeface="Calibri" pitchFamily="34" charset="-122"/>
                <a:cs typeface="Calibri" pitchFamily="34" charset="-120"/>
              </a:rPr>
              <a:t>currentGraph</a:t>
            </a:r>
            <a:endParaRPr lang="en-US" sz="1050" dirty="0"/>
          </a:p>
        </p:txBody>
      </p:sp>
      <p:sp>
        <p:nvSpPr>
          <p:cNvPr id="36" name="Text 34"/>
          <p:cNvSpPr txBox="1"/>
          <p:nvPr/>
        </p:nvSpPr>
        <p:spPr>
          <a:xfrm>
            <a:off x="8734507" y="4965192"/>
            <a:ext cx="274320" cy="201168"/>
          </a:xfrm>
          <a:prstGeom prst="rect">
            <a:avLst/>
          </a:prstGeom>
          <a:noFill/>
          <a:ln/>
        </p:spPr>
        <p:txBody>
          <a:bodyPr wrap="square" lIns="0" tIns="0" rIns="0" bIns="0" rtlCol="0" anchor="ctr"/>
          <a:lstStyle/>
          <a:p>
            <a:pPr marL="0" indent="0" algn="ctr">
              <a:buNone/>
            </a:pPr>
            <a:r>
              <a:rPr lang="en-US" sz="1200" dirty="0">
                <a:solidFill>
                  <a:srgbClr val="5A6482"/>
                </a:solidFill>
                <a:latin typeface="Calibri" pitchFamily="34" charset="0"/>
                <a:ea typeface="Calibri" pitchFamily="34" charset="-122"/>
                <a:cs typeface="Calibri" pitchFamily="34" charset="-120"/>
              </a:rPr>
              <a:t>▼</a:t>
            </a:r>
            <a:endParaRPr lang="en-US" sz="1200" dirty="0"/>
          </a:p>
        </p:txBody>
      </p:sp>
      <p:sp>
        <p:nvSpPr>
          <p:cNvPr id="37" name="Shape 35"/>
          <p:cNvSpPr/>
          <p:nvPr/>
        </p:nvSpPr>
        <p:spPr>
          <a:xfrm>
            <a:off x="7815676" y="5212080"/>
            <a:ext cx="2145506" cy="457200"/>
          </a:xfrm>
          <a:prstGeom prst="roundRect">
            <a:avLst>
              <a:gd name="adj" fmla="val 16000"/>
            </a:avLst>
          </a:prstGeom>
          <a:solidFill>
            <a:srgbClr val="1E2761"/>
          </a:solidFill>
          <a:ln/>
        </p:spPr>
        <p:txBody>
          <a:bodyPr/>
          <a:lstStyle/>
          <a:p>
            <a:endParaRPr lang="en-IT"/>
          </a:p>
        </p:txBody>
      </p:sp>
      <p:sp>
        <p:nvSpPr>
          <p:cNvPr id="38" name="Text 36"/>
          <p:cNvSpPr txBox="1"/>
          <p:nvPr/>
        </p:nvSpPr>
        <p:spPr>
          <a:xfrm>
            <a:off x="7815676" y="5212080"/>
            <a:ext cx="2145506"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Final configuration</a:t>
            </a:r>
            <a:endParaRPr lang="en-US" sz="1250" dirty="0"/>
          </a:p>
        </p:txBody>
      </p:sp>
      <p:sp>
        <p:nvSpPr>
          <p:cNvPr id="42" name="Text 38"/>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8</a:t>
            </a:r>
            <a:endParaRPr lang="en-US" sz="1100" dirty="0"/>
          </a:p>
        </p:txBody>
      </p:sp>
      <p:pic>
        <p:nvPicPr>
          <p:cNvPr id="40" name="Image 2" descr="imgs/logo.png">
            <a:extLst>
              <a:ext uri="{FF2B5EF4-FFF2-40B4-BE49-F238E27FC236}">
                <a16:creationId xmlns:a16="http://schemas.microsoft.com/office/drawing/2014/main" id="{1AED6A21-37E7-CBA1-CB3F-48BB22F41AC7}"/>
              </a:ext>
            </a:extLst>
          </p:cNvPr>
          <p:cNvPicPr>
            <a:picLocks noChangeAspect="1"/>
          </p:cNvPicPr>
          <p:nvPr/>
        </p:nvPicPr>
        <p:blipFill>
          <a:blip r:embed="rId3"/>
          <a:stretch>
            <a:fillRect/>
          </a:stretch>
        </p:blipFill>
        <p:spPr>
          <a:xfrm>
            <a:off x="368808" y="6350655"/>
            <a:ext cx="769199" cy="324465"/>
          </a:xfrm>
          <a:prstGeom prst="rect">
            <a:avLst/>
          </a:prstGeom>
        </p:spPr>
      </p:pic>
      <p:sp>
        <p:nvSpPr>
          <p:cNvPr id="43" name="Text 27">
            <a:extLst>
              <a:ext uri="{FF2B5EF4-FFF2-40B4-BE49-F238E27FC236}">
                <a16:creationId xmlns:a16="http://schemas.microsoft.com/office/drawing/2014/main" id="{DB37310E-3031-CBAF-7904-F87E93340A43}"/>
              </a:ext>
            </a:extLst>
          </p:cNvPr>
          <p:cNvSpPr txBox="1"/>
          <p:nvPr/>
        </p:nvSpPr>
        <p:spPr>
          <a:xfrm>
            <a:off x="8271986" y="4035630"/>
            <a:ext cx="274320" cy="201168"/>
          </a:xfrm>
          <a:prstGeom prst="rect">
            <a:avLst/>
          </a:prstGeom>
          <a:noFill/>
          <a:ln/>
        </p:spPr>
        <p:txBody>
          <a:bodyPr wrap="square" lIns="0" tIns="0" rIns="0" bIns="0" rtlCol="0" anchor="ctr"/>
          <a:lstStyle/>
          <a:p>
            <a:pPr marL="0" indent="0" algn="ctr">
              <a:buNone/>
            </a:pPr>
            <a:r>
              <a:rPr lang="en-US" sz="1100" dirty="0">
                <a:solidFill>
                  <a:srgbClr val="5A6482"/>
                </a:solidFill>
                <a:latin typeface="Calibri" pitchFamily="34" charset="0"/>
                <a:ea typeface="Calibri" pitchFamily="34" charset="-122"/>
                <a:cs typeface="Calibri" pitchFamily="34" charset="-120"/>
              </a:rPr>
              <a: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19" name="Shape 2">
            <a:extLst>
              <a:ext uri="{FF2B5EF4-FFF2-40B4-BE49-F238E27FC236}">
                <a16:creationId xmlns:a16="http://schemas.microsoft.com/office/drawing/2014/main" id="{D50643E6-0A52-B2F7-D766-D0882282B693}"/>
              </a:ext>
            </a:extLst>
          </p:cNvPr>
          <p:cNvSpPr/>
          <p:nvPr/>
        </p:nvSpPr>
        <p:spPr>
          <a:xfrm>
            <a:off x="9783115" y="4680642"/>
            <a:ext cx="963348" cy="1251236"/>
          </a:xfrm>
          <a:prstGeom prst="roundRect">
            <a:avLst>
              <a:gd name="adj" fmla="val 5000"/>
            </a:avLst>
          </a:prstGeom>
          <a:solidFill>
            <a:srgbClr val="F2F5FC"/>
          </a:solidFill>
          <a:ln/>
        </p:spPr>
        <p:txBody>
          <a:bodyPr/>
          <a:lstStyle/>
          <a:p>
            <a:endParaRPr lang="en-IT"/>
          </a:p>
        </p:txBody>
      </p:sp>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Qualitative validation</a:t>
            </a:r>
            <a:endParaRPr lang="en-US" sz="3400" dirty="0"/>
          </a:p>
        </p:txBody>
      </p:sp>
      <p:sp>
        <p:nvSpPr>
          <p:cNvPr id="3" name="Text 1"/>
          <p:cNvSpPr txBox="1"/>
          <p:nvPr/>
        </p:nvSpPr>
        <p:spPr>
          <a:xfrm>
            <a:off x="548640" y="1767209"/>
            <a:ext cx="5029200" cy="1416415"/>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CESNET, the real Czech academic backbone: 23 nodes, 28 links</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Initial configuration P₀: 10 NSRs enforced by 3 firewalls</a:t>
            </a:r>
            <a:endParaRPr lang="en-US" sz="1500" dirty="0"/>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5 new NSRs introduced one at a time according the new iterative approach and traced step by step</a:t>
            </a:r>
            <a:endParaRPr lang="en-US" sz="1500" dirty="0"/>
          </a:p>
        </p:txBody>
      </p:sp>
      <p:sp>
        <p:nvSpPr>
          <p:cNvPr id="4" name="Shape 2"/>
          <p:cNvSpPr/>
          <p:nvPr/>
        </p:nvSpPr>
        <p:spPr>
          <a:xfrm>
            <a:off x="7167146" y="4680642"/>
            <a:ext cx="2297034" cy="1251236"/>
          </a:xfrm>
          <a:prstGeom prst="roundRect">
            <a:avLst>
              <a:gd name="adj" fmla="val 5000"/>
            </a:avLst>
          </a:prstGeom>
          <a:solidFill>
            <a:srgbClr val="F2F5FC"/>
          </a:solidFill>
          <a:ln/>
        </p:spPr>
        <p:txBody>
          <a:bodyPr/>
          <a:lstStyle/>
          <a:p>
            <a:endParaRPr lang="en-IT"/>
          </a:p>
        </p:txBody>
      </p:sp>
      <p:sp>
        <p:nvSpPr>
          <p:cNvPr id="5" name="Text 3"/>
          <p:cNvSpPr txBox="1"/>
          <p:nvPr/>
        </p:nvSpPr>
        <p:spPr>
          <a:xfrm>
            <a:off x="7378574" y="4792920"/>
            <a:ext cx="914401" cy="993243"/>
          </a:xfrm>
          <a:prstGeom prst="rect">
            <a:avLst/>
          </a:prstGeom>
          <a:noFill/>
          <a:ln/>
        </p:spPr>
        <p:txBody>
          <a:bodyPr wrap="square" lIns="0" tIns="0" rIns="0" bIns="0" rtlCol="0" anchor="ctr"/>
          <a:lstStyle/>
          <a:p>
            <a:pPr marL="0" indent="0">
              <a:buNone/>
            </a:pPr>
            <a:r>
              <a:rPr lang="en-US" sz="4400" b="1" dirty="0">
                <a:solidFill>
                  <a:srgbClr val="1E2761"/>
                </a:solidFill>
                <a:latin typeface="Cambria" pitchFamily="34" charset="0"/>
                <a:ea typeface="Cambria" pitchFamily="34" charset="-122"/>
                <a:cs typeface="Cambria" pitchFamily="34" charset="-120"/>
              </a:rPr>
              <a:t>10</a:t>
            </a:r>
          </a:p>
          <a:p>
            <a:pPr marL="0" indent="0">
              <a:buNone/>
            </a:pPr>
            <a:r>
              <a:rPr lang="en-US" sz="1250" dirty="0">
                <a:solidFill>
                  <a:srgbClr val="5A6482"/>
                </a:solidFill>
                <a:latin typeface="Calibri" pitchFamily="34" charset="0"/>
                <a:ea typeface="Calibri" pitchFamily="34" charset="-122"/>
                <a:cs typeface="Calibri" pitchFamily="34" charset="-120"/>
              </a:rPr>
              <a:t>Initial requirement</a:t>
            </a:r>
            <a:endParaRPr lang="en-US" sz="4400" dirty="0"/>
          </a:p>
        </p:txBody>
      </p:sp>
      <p:sp>
        <p:nvSpPr>
          <p:cNvPr id="6" name="Text 4"/>
          <p:cNvSpPr txBox="1"/>
          <p:nvPr/>
        </p:nvSpPr>
        <p:spPr>
          <a:xfrm>
            <a:off x="9931651" y="4864702"/>
            <a:ext cx="739838" cy="842878"/>
          </a:xfrm>
          <a:prstGeom prst="rect">
            <a:avLst/>
          </a:prstGeom>
          <a:noFill/>
          <a:ln/>
        </p:spPr>
        <p:txBody>
          <a:bodyPr wrap="square" lIns="0" tIns="0" rIns="0" bIns="0" rtlCol="0" anchor="ctr"/>
          <a:lstStyle/>
          <a:p>
            <a:pPr marL="0" indent="0">
              <a:buNone/>
            </a:pPr>
            <a:r>
              <a:rPr lang="en-US" sz="4400" b="1" dirty="0">
                <a:solidFill>
                  <a:schemeClr val="accent2"/>
                </a:solidFill>
                <a:latin typeface="Cambria" pitchFamily="34" charset="0"/>
                <a:ea typeface="Cambria" pitchFamily="34" charset="-122"/>
                <a:cs typeface="Cambria" pitchFamily="34" charset="-120"/>
              </a:rPr>
              <a:t>5</a:t>
            </a:r>
            <a:endParaRPr lang="en-US" sz="4400" dirty="0">
              <a:solidFill>
                <a:schemeClr val="accent2"/>
              </a:solidFill>
            </a:endParaRPr>
          </a:p>
          <a:p>
            <a:pPr marL="0" indent="0">
              <a:buNone/>
            </a:pPr>
            <a:r>
              <a:rPr lang="en-US" sz="1250" dirty="0">
                <a:solidFill>
                  <a:schemeClr val="accent2"/>
                </a:solidFill>
                <a:latin typeface="Calibri" pitchFamily="34" charset="0"/>
                <a:ea typeface="Calibri" pitchFamily="34" charset="-122"/>
                <a:cs typeface="Calibri" pitchFamily="34" charset="-120"/>
              </a:rPr>
              <a:t>final firewalls</a:t>
            </a:r>
            <a:endParaRPr lang="en-US" sz="4400" dirty="0">
              <a:solidFill>
                <a:schemeClr val="accent2"/>
              </a:solidFill>
            </a:endParaRPr>
          </a:p>
        </p:txBody>
      </p:sp>
      <p:sp>
        <p:nvSpPr>
          <p:cNvPr id="10" name="Text 5"/>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9</a:t>
            </a:r>
            <a:endParaRPr lang="en-US" sz="1100" dirty="0"/>
          </a:p>
        </p:txBody>
      </p:sp>
      <p:pic>
        <p:nvPicPr>
          <p:cNvPr id="8" name="Image 2" descr="imgs/logo.png">
            <a:extLst>
              <a:ext uri="{FF2B5EF4-FFF2-40B4-BE49-F238E27FC236}">
                <a16:creationId xmlns:a16="http://schemas.microsoft.com/office/drawing/2014/main" id="{A464A56C-D4DB-E69F-279D-3E19BACF3D2C}"/>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2" name="Picture 11">
            <a:extLst>
              <a:ext uri="{FF2B5EF4-FFF2-40B4-BE49-F238E27FC236}">
                <a16:creationId xmlns:a16="http://schemas.microsoft.com/office/drawing/2014/main" id="{564A4EFD-E71B-2316-03E7-CCD6627E8C13}"/>
              </a:ext>
            </a:extLst>
          </p:cNvPr>
          <p:cNvPicPr>
            <a:picLocks noChangeAspect="1"/>
          </p:cNvPicPr>
          <p:nvPr/>
        </p:nvPicPr>
        <p:blipFill>
          <a:blip r:embed="rId4"/>
          <a:srcRect t="9848"/>
          <a:stretch>
            <a:fillRect/>
          </a:stretch>
        </p:blipFill>
        <p:spPr>
          <a:xfrm>
            <a:off x="5820249" y="714358"/>
            <a:ext cx="6002943" cy="3530279"/>
          </a:xfrm>
          <a:prstGeom prst="rect">
            <a:avLst/>
          </a:prstGeom>
        </p:spPr>
      </p:pic>
      <p:sp>
        <p:nvSpPr>
          <p:cNvPr id="15" name="TextBox 14">
            <a:extLst>
              <a:ext uri="{FF2B5EF4-FFF2-40B4-BE49-F238E27FC236}">
                <a16:creationId xmlns:a16="http://schemas.microsoft.com/office/drawing/2014/main" id="{5367874D-D89F-2D85-F65A-3ADF58C2F8A2}"/>
              </a:ext>
            </a:extLst>
          </p:cNvPr>
          <p:cNvSpPr txBox="1"/>
          <p:nvPr/>
        </p:nvSpPr>
        <p:spPr>
          <a:xfrm>
            <a:off x="539058" y="3880423"/>
            <a:ext cx="4728172" cy="1600438"/>
          </a:xfrm>
          <a:prstGeom prst="rect">
            <a:avLst/>
          </a:prstGeom>
          <a:noFill/>
        </p:spPr>
        <p:txBody>
          <a:bodyPr wrap="square">
            <a:spAutoFit/>
          </a:bodyPr>
          <a:lstStyle/>
          <a:p>
            <a:pPr>
              <a:spcAft>
                <a:spcPts val="1400"/>
              </a:spcAft>
              <a:buSzPct val="100000"/>
            </a:pPr>
            <a:r>
              <a:rPr lang="en-US" b="1" dirty="0">
                <a:solidFill>
                  <a:srgbClr val="232A4D"/>
                </a:solidFill>
                <a:latin typeface="Calibri" pitchFamily="34" charset="0"/>
                <a:ea typeface="Calibri" pitchFamily="34" charset="-122"/>
                <a:cs typeface="Calibri" pitchFamily="34" charset="-120"/>
              </a:rPr>
              <a:t>Results</a:t>
            </a:r>
            <a:r>
              <a:rPr lang="en-US" sz="1500" b="1" dirty="0">
                <a:solidFill>
                  <a:srgbClr val="232A4D"/>
                </a:solidFill>
                <a:latin typeface="Calibri" pitchFamily="34" charset="0"/>
                <a:ea typeface="Calibri" pitchFamily="34" charset="-122"/>
                <a:cs typeface="Calibri" pitchFamily="34" charset="-120"/>
              </a:rPr>
              <a:t>:</a:t>
            </a:r>
          </a:p>
          <a:p>
            <a:pPr marL="228600" indent="-228600">
              <a:spcAft>
                <a:spcPts val="1400"/>
              </a:spcAft>
              <a:buSzPct val="100000"/>
              <a:buChar char="▪"/>
            </a:pPr>
            <a:r>
              <a:rPr lang="en-US" sz="1500" dirty="0">
                <a:solidFill>
                  <a:srgbClr val="232A4D"/>
                </a:solidFill>
                <a:latin typeface="Calibri" pitchFamily="34" charset="0"/>
                <a:ea typeface="Calibri" pitchFamily="34" charset="-122"/>
                <a:cs typeface="Calibri" pitchFamily="34" charset="-120"/>
              </a:rPr>
              <a:t>5 firewall allocated to enforce all the 15 requirements</a:t>
            </a:r>
          </a:p>
          <a:p>
            <a:pPr marL="228600" indent="-228600">
              <a:spcAft>
                <a:spcPts val="1400"/>
              </a:spcAft>
              <a:buSzPct val="100000"/>
              <a:buFontTx/>
              <a:buChar char="▪"/>
            </a:pPr>
            <a:r>
              <a:rPr lang="en-US" sz="1500" dirty="0">
                <a:solidFill>
                  <a:srgbClr val="232A4D"/>
                </a:solidFill>
                <a:latin typeface="Calibri" pitchFamily="34" charset="0"/>
                <a:ea typeface="Calibri" pitchFamily="34" charset="-122"/>
                <a:cs typeface="Calibri" pitchFamily="34" charset="-120"/>
              </a:rPr>
              <a:t>No previously satisfied requirement is ever broken</a:t>
            </a:r>
          </a:p>
          <a:p>
            <a:pPr marL="228600" indent="-228600">
              <a:spcAft>
                <a:spcPts val="1400"/>
              </a:spcAft>
              <a:buSzPct val="100000"/>
              <a:buChar char="▪"/>
            </a:pPr>
            <a:endParaRPr lang="en-US" sz="1500" dirty="0"/>
          </a:p>
        </p:txBody>
      </p:sp>
      <p:sp>
        <p:nvSpPr>
          <p:cNvPr id="17" name="Text 3">
            <a:extLst>
              <a:ext uri="{FF2B5EF4-FFF2-40B4-BE49-F238E27FC236}">
                <a16:creationId xmlns:a16="http://schemas.microsoft.com/office/drawing/2014/main" id="{82797B04-ADFD-E176-EDB1-4B9DDD77AE91}"/>
              </a:ext>
            </a:extLst>
          </p:cNvPr>
          <p:cNvSpPr txBox="1"/>
          <p:nvPr/>
        </p:nvSpPr>
        <p:spPr>
          <a:xfrm>
            <a:off x="8501204" y="4792919"/>
            <a:ext cx="914401" cy="993243"/>
          </a:xfrm>
          <a:prstGeom prst="rect">
            <a:avLst/>
          </a:prstGeom>
          <a:noFill/>
          <a:ln/>
        </p:spPr>
        <p:txBody>
          <a:bodyPr wrap="square" lIns="0" tIns="0" rIns="0" bIns="0" rtlCol="0" anchor="ctr"/>
          <a:lstStyle/>
          <a:p>
            <a:r>
              <a:rPr lang="en-US" sz="4400" b="1" dirty="0">
                <a:solidFill>
                  <a:srgbClr val="1E2761"/>
                </a:solidFill>
                <a:latin typeface="Cambria" pitchFamily="34" charset="0"/>
                <a:ea typeface="Cambria" pitchFamily="34" charset="-122"/>
                <a:cs typeface="Cambria" pitchFamily="34" charset="-120"/>
              </a:rPr>
              <a:t>5</a:t>
            </a:r>
          </a:p>
          <a:p>
            <a:pPr marL="0" indent="0">
              <a:buNone/>
            </a:pPr>
            <a:r>
              <a:rPr lang="en-US" sz="1250" dirty="0">
                <a:solidFill>
                  <a:srgbClr val="5A6482"/>
                </a:solidFill>
                <a:latin typeface="Calibri" pitchFamily="34" charset="0"/>
                <a:ea typeface="Calibri" pitchFamily="34" charset="-122"/>
                <a:cs typeface="Calibri" pitchFamily="34" charset="-120"/>
              </a:rPr>
              <a:t>additional requirement</a:t>
            </a:r>
            <a:endParaRPr lang="en-US" sz="4400" dirty="0"/>
          </a:p>
        </p:txBody>
      </p:sp>
      <p:sp>
        <p:nvSpPr>
          <p:cNvPr id="18" name="Text 3">
            <a:extLst>
              <a:ext uri="{FF2B5EF4-FFF2-40B4-BE49-F238E27FC236}">
                <a16:creationId xmlns:a16="http://schemas.microsoft.com/office/drawing/2014/main" id="{6FD695FD-F939-DBCF-63DF-8D2F2F02A325}"/>
              </a:ext>
            </a:extLst>
          </p:cNvPr>
          <p:cNvSpPr txBox="1"/>
          <p:nvPr/>
        </p:nvSpPr>
        <p:spPr>
          <a:xfrm>
            <a:off x="8203248" y="4928847"/>
            <a:ext cx="211428" cy="382966"/>
          </a:xfrm>
          <a:prstGeom prst="rect">
            <a:avLst/>
          </a:prstGeom>
          <a:noFill/>
          <a:ln/>
        </p:spPr>
        <p:txBody>
          <a:bodyPr wrap="square" lIns="0" tIns="0" rIns="0" bIns="0" rtlCol="0" anchor="ctr"/>
          <a:lstStyle/>
          <a:p>
            <a:r>
              <a:rPr lang="en-US" b="1" dirty="0">
                <a:solidFill>
                  <a:srgbClr val="1E2761"/>
                </a:solidFill>
                <a:latin typeface="Cambria" pitchFamily="34" charset="0"/>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14" name="Shape 4">
            <a:extLst>
              <a:ext uri="{FF2B5EF4-FFF2-40B4-BE49-F238E27FC236}">
                <a16:creationId xmlns:a16="http://schemas.microsoft.com/office/drawing/2014/main" id="{BDBB8877-5A5D-9926-4D36-8C1A62AF122C}"/>
              </a:ext>
            </a:extLst>
          </p:cNvPr>
          <p:cNvSpPr/>
          <p:nvPr/>
        </p:nvSpPr>
        <p:spPr>
          <a:xfrm>
            <a:off x="548640" y="5131677"/>
            <a:ext cx="9355853" cy="445604"/>
          </a:xfrm>
          <a:prstGeom prst="roundRect">
            <a:avLst>
              <a:gd name="adj" fmla="val 6486"/>
            </a:avLst>
          </a:prstGeom>
          <a:solidFill>
            <a:srgbClr val="F2F5FC"/>
          </a:solidFill>
          <a:ln/>
        </p:spPr>
        <p:txBody>
          <a:bodyPr/>
          <a:lstStyle/>
          <a:p>
            <a:endParaRPr lang="en-IT"/>
          </a:p>
        </p:txBody>
      </p:sp>
      <p:sp>
        <p:nvSpPr>
          <p:cNvPr id="7" name="Shape 4"/>
          <p:cNvSpPr/>
          <p:nvPr/>
        </p:nvSpPr>
        <p:spPr>
          <a:xfrm>
            <a:off x="548641" y="5655849"/>
            <a:ext cx="9355852" cy="445604"/>
          </a:xfrm>
          <a:prstGeom prst="roundRect">
            <a:avLst>
              <a:gd name="adj" fmla="val 6486"/>
            </a:avLst>
          </a:prstGeom>
          <a:solidFill>
            <a:srgbClr val="F2F5FC"/>
          </a:solidFill>
          <a:ln/>
        </p:spPr>
        <p:txBody>
          <a:bodyPr/>
          <a:lstStyle/>
          <a:p>
            <a:endParaRPr lang="en-IT"/>
          </a:p>
        </p:txBody>
      </p:sp>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Validation: Iterative vs. Monolithic</a:t>
            </a:r>
            <a:endParaRPr lang="en-US" sz="3400" dirty="0"/>
          </a:p>
        </p:txBody>
      </p:sp>
      <p:sp>
        <p:nvSpPr>
          <p:cNvPr id="4" name="Text 1"/>
          <p:cNvSpPr txBox="1"/>
          <p:nvPr/>
        </p:nvSpPr>
        <p:spPr>
          <a:xfrm>
            <a:off x="3384320" y="4375312"/>
            <a:ext cx="5420310" cy="274320"/>
          </a:xfrm>
          <a:prstGeom prst="rect">
            <a:avLst/>
          </a:prstGeom>
          <a:noFill/>
          <a:ln/>
        </p:spPr>
        <p:txBody>
          <a:bodyPr wrap="square" lIns="0" tIns="0" rIns="0" bIns="0" rtlCol="0" anchor="ctr"/>
          <a:lstStyle/>
          <a:p>
            <a:pPr marL="0" indent="0" algn="ctr">
              <a:buNone/>
            </a:pPr>
            <a:r>
              <a:rPr lang="en-US" sz="1100" i="1" dirty="0">
                <a:solidFill>
                  <a:srgbClr val="5A6482"/>
                </a:solidFill>
                <a:latin typeface="Calibri" pitchFamily="34" charset="0"/>
                <a:ea typeface="Calibri" pitchFamily="34" charset="-122"/>
                <a:cs typeface="Calibri" pitchFamily="34" charset="-120"/>
              </a:rPr>
              <a:t>Iterative (left) and monolithic (right) firewall placement over the same 15 NSRs</a:t>
            </a:r>
            <a:endParaRPr lang="en-US" sz="1100" dirty="0"/>
          </a:p>
        </p:txBody>
      </p:sp>
      <p:sp>
        <p:nvSpPr>
          <p:cNvPr id="6" name="Text 3"/>
          <p:cNvSpPr txBox="1"/>
          <p:nvPr/>
        </p:nvSpPr>
        <p:spPr>
          <a:xfrm>
            <a:off x="777241" y="5224393"/>
            <a:ext cx="9127252" cy="274320"/>
          </a:xfrm>
          <a:prstGeom prst="rect">
            <a:avLst/>
          </a:prstGeom>
          <a:noFill/>
          <a:ln/>
        </p:spPr>
        <p:txBody>
          <a:bodyPr wrap="square" lIns="0" tIns="0" rIns="0" bIns="0" rtlCol="0" anchor="t"/>
          <a:lstStyle/>
          <a:p>
            <a:pPr marL="0" indent="0">
              <a:buNone/>
            </a:pPr>
            <a:r>
              <a:rPr lang="en-US" sz="1350" b="1" dirty="0">
                <a:solidFill>
                  <a:srgbClr val="1E2761"/>
                </a:solidFill>
                <a:latin typeface="Calibri" pitchFamily="34" charset="0"/>
                <a:ea typeface="Calibri" pitchFamily="34" charset="-122"/>
                <a:cs typeface="Calibri" pitchFamily="34" charset="-120"/>
              </a:rPr>
              <a:t>Same firewall count, </a:t>
            </a:r>
            <a:r>
              <a:rPr lang="en-US" sz="1350" dirty="0">
                <a:solidFill>
                  <a:srgbClr val="232A4D"/>
                </a:solidFill>
                <a:latin typeface="Calibri" pitchFamily="34" charset="0"/>
                <a:ea typeface="Calibri" pitchFamily="34" charset="-122"/>
                <a:cs typeface="Calibri" pitchFamily="34" charset="-120"/>
              </a:rPr>
              <a:t>one extra rule: the monolithic solver sees every NSR at once and can make one firewall serve two purposes.</a:t>
            </a:r>
            <a:endParaRPr lang="en-US" sz="1350" dirty="0"/>
          </a:p>
        </p:txBody>
      </p:sp>
      <p:sp>
        <p:nvSpPr>
          <p:cNvPr id="8" name="Text 5"/>
          <p:cNvSpPr txBox="1"/>
          <p:nvPr/>
        </p:nvSpPr>
        <p:spPr>
          <a:xfrm>
            <a:off x="753407" y="5749496"/>
            <a:ext cx="9069603" cy="502920"/>
          </a:xfrm>
          <a:prstGeom prst="rect">
            <a:avLst/>
          </a:prstGeom>
          <a:noFill/>
          <a:ln/>
        </p:spPr>
        <p:txBody>
          <a:bodyPr wrap="square" lIns="0" tIns="0" rIns="0" bIns="0" rtlCol="0" anchor="t"/>
          <a:lstStyle/>
          <a:p>
            <a:pPr marL="0" indent="0">
              <a:buNone/>
            </a:pPr>
            <a:r>
              <a:rPr lang="en-US" sz="1350" b="1" dirty="0">
                <a:solidFill>
                  <a:srgbClr val="1E2761"/>
                </a:solidFill>
                <a:latin typeface="Calibri" pitchFamily="34" charset="0"/>
                <a:ea typeface="Calibri" pitchFamily="34" charset="-122"/>
                <a:cs typeface="Calibri" pitchFamily="34" charset="-120"/>
              </a:rPr>
              <a:t>Iterative stays stable: </a:t>
            </a:r>
            <a:r>
              <a:rPr lang="en-US" sz="1350" dirty="0">
                <a:solidFill>
                  <a:srgbClr val="232A4D"/>
                </a:solidFill>
                <a:latin typeface="Calibri" pitchFamily="34" charset="0"/>
                <a:ea typeface="Calibri" pitchFamily="34" charset="-122"/>
                <a:cs typeface="Calibri" pitchFamily="34" charset="-120"/>
              </a:rPr>
              <a:t>an already-valid firewall is never relocated, avoiding the operational cost of a monolithic re-run.</a:t>
            </a:r>
            <a:endParaRPr lang="en-US" sz="1350" dirty="0"/>
          </a:p>
        </p:txBody>
      </p:sp>
      <p:sp>
        <p:nvSpPr>
          <p:cNvPr id="11" name="Text 6"/>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10</a:t>
            </a:r>
            <a:endParaRPr lang="en-US" sz="1100" dirty="0"/>
          </a:p>
        </p:txBody>
      </p:sp>
      <p:pic>
        <p:nvPicPr>
          <p:cNvPr id="9" name="Image 2" descr="imgs/logo.png">
            <a:extLst>
              <a:ext uri="{FF2B5EF4-FFF2-40B4-BE49-F238E27FC236}">
                <a16:creationId xmlns:a16="http://schemas.microsoft.com/office/drawing/2014/main" id="{1DEC8778-B288-4CB7-ECFC-7AEBD6B4DF2D}"/>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3" name="Picture 12">
            <a:extLst>
              <a:ext uri="{FF2B5EF4-FFF2-40B4-BE49-F238E27FC236}">
                <a16:creationId xmlns:a16="http://schemas.microsoft.com/office/drawing/2014/main" id="{CA664760-0B8F-B222-9C82-17A999825627}"/>
              </a:ext>
            </a:extLst>
          </p:cNvPr>
          <p:cNvPicPr>
            <a:picLocks noChangeAspect="1"/>
          </p:cNvPicPr>
          <p:nvPr/>
        </p:nvPicPr>
        <p:blipFill>
          <a:blip r:embed="rId4"/>
          <a:srcRect l="1625" t="7990" r="2627" b="7663"/>
          <a:stretch>
            <a:fillRect/>
          </a:stretch>
        </p:blipFill>
        <p:spPr>
          <a:xfrm>
            <a:off x="1060536" y="1188428"/>
            <a:ext cx="10067879" cy="3141251"/>
          </a:xfrm>
          <a:prstGeom prst="rect">
            <a:avLst/>
          </a:prstGeom>
        </p:spPr>
      </p:pic>
      <p:sp>
        <p:nvSpPr>
          <p:cNvPr id="16" name="TextBox 15">
            <a:extLst>
              <a:ext uri="{FF2B5EF4-FFF2-40B4-BE49-F238E27FC236}">
                <a16:creationId xmlns:a16="http://schemas.microsoft.com/office/drawing/2014/main" id="{4B86DD16-2B1B-0361-412F-DB6CEDDF45A6}"/>
              </a:ext>
            </a:extLst>
          </p:cNvPr>
          <p:cNvSpPr txBox="1"/>
          <p:nvPr/>
        </p:nvSpPr>
        <p:spPr>
          <a:xfrm>
            <a:off x="477571" y="4741473"/>
            <a:ext cx="1441764" cy="369332"/>
          </a:xfrm>
          <a:prstGeom prst="rect">
            <a:avLst/>
          </a:prstGeom>
          <a:noFill/>
        </p:spPr>
        <p:txBody>
          <a:bodyPr wrap="square">
            <a:spAutoFit/>
          </a:bodyPr>
          <a:lstStyle/>
          <a:p>
            <a:pPr>
              <a:spcAft>
                <a:spcPts val="1400"/>
              </a:spcAft>
              <a:buSzPct val="100000"/>
            </a:pPr>
            <a:r>
              <a:rPr lang="en-US" sz="1800" b="1" dirty="0">
                <a:solidFill>
                  <a:srgbClr val="232A4D"/>
                </a:solidFill>
                <a:latin typeface="Calibri" pitchFamily="34" charset="0"/>
                <a:ea typeface="Calibri" pitchFamily="34" charset="-122"/>
                <a:cs typeface="Calibri" pitchFamily="34" charset="-120"/>
              </a:rPr>
              <a:t>Comparison</a:t>
            </a:r>
            <a:r>
              <a:rPr lang="en-US" sz="1500" b="1" dirty="0">
                <a:solidFill>
                  <a:srgbClr val="232A4D"/>
                </a:solidFill>
                <a:latin typeface="Calibri" pitchFamily="34" charset="0"/>
                <a:ea typeface="Calibri" pitchFamily="34" charset="-122"/>
                <a:cs typeface="Calibri" pitchFamily="34" charset="-120"/>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Conclusions &amp; Future Work</a:t>
            </a:r>
            <a:endParaRPr lang="en-US" sz="3400" dirty="0"/>
          </a:p>
        </p:txBody>
      </p:sp>
      <p:sp>
        <p:nvSpPr>
          <p:cNvPr id="3" name="Shape 1"/>
          <p:cNvSpPr/>
          <p:nvPr/>
        </p:nvSpPr>
        <p:spPr>
          <a:xfrm>
            <a:off x="548640" y="1417320"/>
            <a:ext cx="5394960" cy="4480560"/>
          </a:xfrm>
          <a:prstGeom prst="roundRect">
            <a:avLst>
              <a:gd name="adj" fmla="val 2449"/>
            </a:avLst>
          </a:prstGeom>
          <a:solidFill>
            <a:srgbClr val="F2F5FC"/>
          </a:solidFill>
          <a:ln/>
        </p:spPr>
        <p:txBody>
          <a:bodyPr/>
          <a:lstStyle/>
          <a:p>
            <a:endParaRPr lang="en-IT"/>
          </a:p>
        </p:txBody>
      </p:sp>
      <p:sp>
        <p:nvSpPr>
          <p:cNvPr id="4" name="Text 2"/>
          <p:cNvSpPr txBox="1"/>
          <p:nvPr/>
        </p:nvSpPr>
        <p:spPr>
          <a:xfrm>
            <a:off x="822960" y="1600200"/>
            <a:ext cx="4572000" cy="36576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Conclusions</a:t>
            </a:r>
            <a:endParaRPr lang="en-US" sz="1800" dirty="0"/>
          </a:p>
        </p:txBody>
      </p:sp>
      <p:sp>
        <p:nvSpPr>
          <p:cNvPr id="5" name="Text 3"/>
          <p:cNvSpPr txBox="1"/>
          <p:nvPr/>
        </p:nvSpPr>
        <p:spPr>
          <a:xfrm>
            <a:off x="822960" y="2011680"/>
            <a:ext cx="4846320" cy="3657600"/>
          </a:xfrm>
          <a:prstGeom prst="rect">
            <a:avLst/>
          </a:prstGeom>
          <a:noFill/>
          <a:ln/>
        </p:spPr>
        <p:txBody>
          <a:bodyPr wrap="square" lIns="0" tIns="0" rIns="0" bIns="0" rtlCol="0" anchor="t"/>
          <a:lstStyle/>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Validated qualitatively on a realistic CESNET topology</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Matches the monolithic baseline in firewall count, only one rule short</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Correct and nearly as compact, despite never seeing beyond a single requirement at a time</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Expected to scale better as topologies and reconfigurations grow larger</a:t>
            </a:r>
            <a:endParaRPr lang="en-US" sz="1350" dirty="0"/>
          </a:p>
        </p:txBody>
      </p:sp>
      <p:sp>
        <p:nvSpPr>
          <p:cNvPr id="6" name="Shape 4"/>
          <p:cNvSpPr/>
          <p:nvPr/>
        </p:nvSpPr>
        <p:spPr>
          <a:xfrm>
            <a:off x="6172200" y="1417320"/>
            <a:ext cx="5440680" cy="4480560"/>
          </a:xfrm>
          <a:prstGeom prst="roundRect">
            <a:avLst>
              <a:gd name="adj" fmla="val 2449"/>
            </a:avLst>
          </a:prstGeom>
          <a:solidFill>
            <a:srgbClr val="F2F5FC"/>
          </a:solidFill>
          <a:ln/>
        </p:spPr>
        <p:txBody>
          <a:bodyPr/>
          <a:lstStyle/>
          <a:p>
            <a:endParaRPr lang="en-IT"/>
          </a:p>
        </p:txBody>
      </p:sp>
      <p:sp>
        <p:nvSpPr>
          <p:cNvPr id="7" name="Text 5"/>
          <p:cNvSpPr txBox="1"/>
          <p:nvPr/>
        </p:nvSpPr>
        <p:spPr>
          <a:xfrm>
            <a:off x="6446520" y="1600200"/>
            <a:ext cx="4572000" cy="36576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Future Work</a:t>
            </a:r>
            <a:endParaRPr lang="en-US" sz="1800" dirty="0"/>
          </a:p>
        </p:txBody>
      </p:sp>
      <p:sp>
        <p:nvSpPr>
          <p:cNvPr id="8" name="Text 6"/>
          <p:cNvSpPr txBox="1"/>
          <p:nvPr/>
        </p:nvSpPr>
        <p:spPr>
          <a:xfrm>
            <a:off x="6446520" y="2011680"/>
            <a:ext cx="4892040" cy="3657600"/>
          </a:xfrm>
          <a:prstGeom prst="rect">
            <a:avLst/>
          </a:prstGeom>
          <a:noFill/>
          <a:ln/>
        </p:spPr>
        <p:txBody>
          <a:bodyPr wrap="square" lIns="0" tIns="0" rIns="0" bIns="0" rtlCol="0" anchor="t"/>
          <a:lstStyle/>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Quantitative benchmark of execution time against the monolithic baseline, at scale</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Traffic-aware NSR ordering, to reduce tie-driven reconfigurations</a:t>
            </a:r>
            <a:endParaRPr lang="en-US" sz="1350" dirty="0"/>
          </a:p>
          <a:p>
            <a:pPr marL="228600" indent="-228600">
              <a:spcAft>
                <a:spcPts val="1400"/>
              </a:spcAft>
              <a:buSzPct val="100000"/>
              <a:buChar char="▪"/>
            </a:pPr>
            <a:r>
              <a:rPr lang="en-US" sz="1350" dirty="0">
                <a:solidFill>
                  <a:srgbClr val="232A4D"/>
                </a:solidFill>
                <a:latin typeface="Calibri" pitchFamily="34" charset="0"/>
                <a:ea typeface="Calibri" pitchFamily="34" charset="-122"/>
                <a:cs typeface="Calibri" pitchFamily="34" charset="-120"/>
              </a:rPr>
              <a:t>Support for NSR removal, alongside the additions handled in this thesis</a:t>
            </a:r>
            <a:endParaRPr lang="en-US" sz="1350" dirty="0"/>
          </a:p>
        </p:txBody>
      </p:sp>
      <p:sp>
        <p:nvSpPr>
          <p:cNvPr id="11" name="Text 7"/>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11</a:t>
            </a:r>
            <a:endParaRPr lang="en-US" sz="1100" dirty="0"/>
          </a:p>
        </p:txBody>
      </p:sp>
      <p:pic>
        <p:nvPicPr>
          <p:cNvPr id="9" name="Image 2" descr="imgs/logo.png">
            <a:extLst>
              <a:ext uri="{FF2B5EF4-FFF2-40B4-BE49-F238E27FC236}">
                <a16:creationId xmlns:a16="http://schemas.microsoft.com/office/drawing/2014/main" id="{5C72B63A-BFFD-4CAB-B0F3-B9BD11BEC963}"/>
              </a:ext>
            </a:extLst>
          </p:cNvPr>
          <p:cNvPicPr>
            <a:picLocks noChangeAspect="1"/>
          </p:cNvPicPr>
          <p:nvPr/>
        </p:nvPicPr>
        <p:blipFill>
          <a:blip r:embed="rId3"/>
          <a:stretch>
            <a:fillRect/>
          </a:stretch>
        </p:blipFill>
        <p:spPr>
          <a:xfrm>
            <a:off x="368808" y="6350655"/>
            <a:ext cx="769199" cy="3244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41A45"/>
          </a:solidFill>
          <a:ln/>
        </p:spPr>
        <p:txBody>
          <a:bodyPr/>
          <a:lstStyle/>
          <a:p>
            <a:endParaRPr lang="en-IT"/>
          </a:p>
        </p:txBody>
      </p:sp>
      <p:sp>
        <p:nvSpPr>
          <p:cNvPr id="3" name="Shape 1"/>
          <p:cNvSpPr/>
          <p:nvPr/>
        </p:nvSpPr>
        <p:spPr>
          <a:xfrm>
            <a:off x="-1645920" y="4389120"/>
            <a:ext cx="3474720" cy="3474720"/>
          </a:xfrm>
          <a:prstGeom prst="ellipse">
            <a:avLst/>
          </a:prstGeom>
          <a:solidFill>
            <a:srgbClr val="141A45"/>
          </a:solidFill>
          <a:ln/>
        </p:spPr>
        <p:txBody>
          <a:bodyPr/>
          <a:lstStyle/>
          <a:p>
            <a:endParaRPr lang="en-IT"/>
          </a:p>
        </p:txBody>
      </p:sp>
      <p:sp>
        <p:nvSpPr>
          <p:cNvPr id="4" name="Text 2"/>
          <p:cNvSpPr txBox="1"/>
          <p:nvPr/>
        </p:nvSpPr>
        <p:spPr>
          <a:xfrm>
            <a:off x="0" y="2651760"/>
            <a:ext cx="12188952" cy="1554480"/>
          </a:xfrm>
          <a:prstGeom prst="rect">
            <a:avLst/>
          </a:prstGeom>
          <a:noFill/>
          <a:ln/>
        </p:spPr>
        <p:txBody>
          <a:bodyPr wrap="square" lIns="0" tIns="0" rIns="0" bIns="0" rtlCol="0" anchor="ctr"/>
          <a:lstStyle/>
          <a:p>
            <a:pPr marL="0" indent="0" algn="ctr">
              <a:lnSpc>
                <a:spcPct val="110000"/>
              </a:lnSpc>
              <a:buNone/>
            </a:pPr>
            <a:r>
              <a:rPr lang="en-US" sz="3400" b="1" dirty="0">
                <a:solidFill>
                  <a:srgbClr val="FFFFFF"/>
                </a:solidFill>
                <a:latin typeface="Cambria" pitchFamily="34" charset="0"/>
                <a:ea typeface="Cambria" pitchFamily="34" charset="-122"/>
                <a:cs typeface="Cambria" pitchFamily="34" charset="-120"/>
              </a:rPr>
              <a:t>Thank you</a:t>
            </a:r>
            <a:endParaRPr lang="en-US" sz="3400" dirty="0"/>
          </a:p>
          <a:p>
            <a:pPr marL="0" indent="0" algn="ctr">
              <a:lnSpc>
                <a:spcPct val="110000"/>
              </a:lnSpc>
              <a:buNone/>
            </a:pPr>
            <a:r>
              <a:rPr lang="en-US" sz="3400" b="1" dirty="0">
                <a:solidFill>
                  <a:srgbClr val="FFFFFF"/>
                </a:solidFill>
                <a:latin typeface="Cambria" pitchFamily="34" charset="0"/>
                <a:ea typeface="Cambria" pitchFamily="34" charset="-122"/>
                <a:cs typeface="Cambria" pitchFamily="34" charset="-120"/>
              </a:rPr>
              <a:t>for your attention</a:t>
            </a:r>
            <a:endParaRPr lang="en-US" sz="3400" dirty="0"/>
          </a:p>
        </p:txBody>
      </p:sp>
      <p:pic>
        <p:nvPicPr>
          <p:cNvPr id="5" name="Image 0" descr="imgs/logo.png"/>
          <p:cNvPicPr>
            <a:picLocks noChangeAspect="1"/>
          </p:cNvPicPr>
          <p:nvPr/>
        </p:nvPicPr>
        <p:blipFill>
          <a:blip r:embed="rId3"/>
          <a:stretch>
            <a:fillRect/>
          </a:stretch>
        </p:blipFill>
        <p:spPr>
          <a:xfrm>
            <a:off x="5317236" y="5806440"/>
            <a:ext cx="1554480" cy="68348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1788</Words>
  <Application>Microsoft Macintosh PowerPoint</Application>
  <PresentationFormat>Widescreen</PresentationFormat>
  <Paragraphs>167</Paragraphs>
  <Slides>12</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Cambria</vt:lpstr>
      <vt:lpstr>Courier New</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Del Ministro  Filippo</cp:lastModifiedBy>
  <cp:revision>2</cp:revision>
  <dcterms:created xsi:type="dcterms:W3CDTF">2026-09-20T10:33:19Z</dcterms:created>
  <dcterms:modified xsi:type="dcterms:W3CDTF">2026-09-20T14:31:33Z</dcterms:modified>
</cp:coreProperties>
</file>